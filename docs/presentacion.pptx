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snapToObjects="1">
      <p:cViewPr varScale="1">
        <p:scale>
          <a:sx n="120" d="100"/>
          <a:sy n="120" d="100"/>
        </p:scale>
        <p:origin x="44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8F6"/>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ounded Rectangle 2"/>
          <p:cNvSpPr/>
          <p:nvPr/>
        </p:nvSpPr>
        <p:spPr>
          <a:xfrm>
            <a:off x="4224528" y="1298448"/>
            <a:ext cx="1139433" cy="274320"/>
          </a:xfrm>
          <a:prstGeom prst="roundRect">
            <a:avLst>
              <a:gd name="adj" fmla="val 50000"/>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lIns="146304" tIns="0" rIns="146304" bIns="0" rtlCol="0" anchor="ctr"/>
          <a:lstStyle/>
          <a:p>
            <a:pPr algn="ctr"/>
            <a:r>
              <a:rPr sz="1050" b="1" dirty="0">
                <a:solidFill>
                  <a:srgbClr val="FFFFFF"/>
                </a:solidFill>
                <a:latin typeface="Helvetica Neue"/>
              </a:rPr>
              <a:t>MOENTO 1</a:t>
            </a:r>
          </a:p>
        </p:txBody>
      </p:sp>
      <p:sp>
        <p:nvSpPr>
          <p:cNvPr id="4" name="Rounded Rectangle 3"/>
          <p:cNvSpPr/>
          <p:nvPr/>
        </p:nvSpPr>
        <p:spPr>
          <a:xfrm>
            <a:off x="5501121" y="1298448"/>
            <a:ext cx="1327617" cy="274320"/>
          </a:xfrm>
          <a:prstGeom prst="roundRect">
            <a:avLst>
              <a:gd name="adj" fmla="val 50000"/>
            </a:avLst>
          </a:prstGeom>
          <a:solidFill>
            <a:srgbClr val="ECEAFA"/>
          </a:solidFill>
          <a:ln>
            <a:noFill/>
          </a:ln>
          <a:effectLst/>
        </p:spPr>
        <p:style>
          <a:lnRef idx="1">
            <a:schemeClr val="accent1"/>
          </a:lnRef>
          <a:fillRef idx="3">
            <a:schemeClr val="accent1"/>
          </a:fillRef>
          <a:effectRef idx="2">
            <a:schemeClr val="accent1"/>
          </a:effectRef>
          <a:fontRef idx="minor">
            <a:schemeClr val="lt1"/>
          </a:fontRef>
        </p:style>
        <p:txBody>
          <a:bodyPr lIns="146304" tIns="0" rIns="146304" bIns="0" rtlCol="0" anchor="ctr"/>
          <a:lstStyle/>
          <a:p>
            <a:pPr algn="ctr"/>
            <a:r>
              <a:rPr sz="1050" b="1" dirty="0">
                <a:solidFill>
                  <a:srgbClr val="4338CA"/>
                </a:solidFill>
                <a:latin typeface="Helvetica Neue"/>
              </a:rPr>
              <a:t>SI6010-5979</a:t>
            </a:r>
          </a:p>
        </p:txBody>
      </p:sp>
      <p:sp>
        <p:nvSpPr>
          <p:cNvPr id="5" name="TextBox 4"/>
          <p:cNvSpPr txBox="1"/>
          <p:nvPr/>
        </p:nvSpPr>
        <p:spPr>
          <a:xfrm>
            <a:off x="731520" y="1847088"/>
            <a:ext cx="10728655" cy="914400"/>
          </a:xfrm>
          <a:prstGeom prst="rect">
            <a:avLst/>
          </a:prstGeom>
          <a:noFill/>
        </p:spPr>
        <p:txBody>
          <a:bodyPr wrap="square" lIns="0" tIns="0" rIns="0" bIns="0">
            <a:spAutoFit/>
          </a:bodyPr>
          <a:lstStyle/>
          <a:p>
            <a:pPr algn="ctr">
              <a:lnSpc>
                <a:spcPct val="115000"/>
              </a:lnSpc>
              <a:spcAft>
                <a:spcPts val="0"/>
              </a:spcAft>
            </a:pPr>
            <a:r>
              <a:rPr sz="5200" b="1">
                <a:solidFill>
                  <a:srgbClr val="21252D"/>
                </a:solidFill>
                <a:latin typeface="Helvetica Neue"/>
              </a:rPr>
              <a:t>CI/CD en Base de Datos</a:t>
            </a:r>
          </a:p>
        </p:txBody>
      </p:sp>
      <p:sp>
        <p:nvSpPr>
          <p:cNvPr id="6" name="TextBox 5"/>
          <p:cNvSpPr txBox="1"/>
          <p:nvPr/>
        </p:nvSpPr>
        <p:spPr>
          <a:xfrm>
            <a:off x="731520" y="2834640"/>
            <a:ext cx="10728655" cy="457200"/>
          </a:xfrm>
          <a:prstGeom prst="rect">
            <a:avLst/>
          </a:prstGeom>
          <a:noFill/>
        </p:spPr>
        <p:txBody>
          <a:bodyPr wrap="square" lIns="0" tIns="0" rIns="0" bIns="0">
            <a:spAutoFit/>
          </a:bodyPr>
          <a:lstStyle/>
          <a:p>
            <a:pPr algn="ctr">
              <a:lnSpc>
                <a:spcPct val="110000"/>
              </a:lnSpc>
              <a:spcAft>
                <a:spcPts val="0"/>
              </a:spcAft>
            </a:pPr>
            <a:r>
              <a:rPr sz="1700" b="0">
                <a:solidFill>
                  <a:srgbClr val="6E747E"/>
                </a:solidFill>
                <a:latin typeface="Helvetica Neue"/>
              </a:rPr>
              <a:t>Gestión de torneos deportivos  ·  Esquema como código  ·  Pipeline automatizado</a:t>
            </a:r>
          </a:p>
        </p:txBody>
      </p:sp>
      <p:sp>
        <p:nvSpPr>
          <p:cNvPr id="7" name="Rectangle 6"/>
          <p:cNvSpPr/>
          <p:nvPr/>
        </p:nvSpPr>
        <p:spPr>
          <a:xfrm>
            <a:off x="5550408" y="3520440"/>
            <a:ext cx="1097280" cy="32004"/>
          </a:xfrm>
          <a:prstGeom prst="rect">
            <a:avLst/>
          </a:prstGeom>
          <a:solidFill>
            <a:srgbClr val="E3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31520" y="3840480"/>
            <a:ext cx="10728655" cy="411480"/>
          </a:xfrm>
          <a:prstGeom prst="rect">
            <a:avLst/>
          </a:prstGeom>
          <a:noFill/>
        </p:spPr>
        <p:txBody>
          <a:bodyPr wrap="square" lIns="0" tIns="0" rIns="0" bIns="0">
            <a:spAutoFit/>
          </a:bodyPr>
          <a:lstStyle/>
          <a:p>
            <a:pPr algn="ctr">
              <a:lnSpc>
                <a:spcPct val="110000"/>
              </a:lnSpc>
              <a:spcAft>
                <a:spcPts val="0"/>
              </a:spcAft>
            </a:pPr>
            <a:r>
              <a:rPr sz="1700" b="1">
                <a:solidFill>
                  <a:srgbClr val="21252D"/>
                </a:solidFill>
                <a:latin typeface="Helvetica Neue"/>
              </a:rPr>
              <a:t>Antonio Carmona</a:t>
            </a:r>
            <a:r>
              <a:rPr sz="1700" b="0">
                <a:solidFill>
                  <a:srgbClr val="6E747E"/>
                </a:solidFill>
                <a:latin typeface="Helvetica Neue"/>
              </a:rPr>
              <a:t>      ·      </a:t>
            </a:r>
            <a:r>
              <a:rPr sz="1700" b="1">
                <a:solidFill>
                  <a:srgbClr val="21252D"/>
                </a:solidFill>
                <a:latin typeface="Helvetica Neue"/>
              </a:rPr>
              <a:t>Miguel Quijano</a:t>
            </a:r>
            <a:r>
              <a:rPr sz="1700" b="0">
                <a:solidFill>
                  <a:srgbClr val="6E747E"/>
                </a:solidFill>
                <a:latin typeface="Helvetica Neue"/>
              </a:rPr>
              <a:t>      ·      </a:t>
            </a:r>
            <a:r>
              <a:rPr sz="1700" b="1">
                <a:solidFill>
                  <a:srgbClr val="21252D"/>
                </a:solidFill>
                <a:latin typeface="Helvetica Neue"/>
              </a:rPr>
              <a:t>Andrés Prada</a:t>
            </a:r>
          </a:p>
        </p:txBody>
      </p:sp>
      <p:sp>
        <p:nvSpPr>
          <p:cNvPr id="9" name="Rounded Rectangle 8"/>
          <p:cNvSpPr/>
          <p:nvPr/>
        </p:nvSpPr>
        <p:spPr>
          <a:xfrm>
            <a:off x="3567578" y="4663440"/>
            <a:ext cx="1220083"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146304" tIns="0" rIns="146304" bIns="0" rtlCol="0" anchor="ctr"/>
          <a:lstStyle/>
          <a:p>
            <a:pPr algn="ctr"/>
            <a:r>
              <a:rPr sz="1150" b="1">
                <a:solidFill>
                  <a:srgbClr val="21252D"/>
                </a:solidFill>
                <a:latin typeface="Helvetica Neue"/>
              </a:rPr>
              <a:t>Neon.tech</a:t>
            </a:r>
          </a:p>
        </p:txBody>
      </p:sp>
      <p:sp>
        <p:nvSpPr>
          <p:cNvPr id="10" name="Rounded Rectangle 9"/>
          <p:cNvSpPr/>
          <p:nvPr/>
        </p:nvSpPr>
        <p:spPr>
          <a:xfrm>
            <a:off x="4970541" y="4663440"/>
            <a:ext cx="1735348"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146304" tIns="0" rIns="146304" bIns="0" rtlCol="0" anchor="ctr"/>
          <a:lstStyle/>
          <a:p>
            <a:pPr algn="ctr"/>
            <a:r>
              <a:rPr sz="1150" b="1">
                <a:solidFill>
                  <a:srgbClr val="21252D"/>
                </a:solidFill>
                <a:latin typeface="Helvetica Neue"/>
              </a:rPr>
              <a:t>Flyway 10.20.1</a:t>
            </a:r>
          </a:p>
        </p:txBody>
      </p:sp>
      <p:sp>
        <p:nvSpPr>
          <p:cNvPr id="11" name="Rounded Rectangle 10"/>
          <p:cNvSpPr/>
          <p:nvPr/>
        </p:nvSpPr>
        <p:spPr>
          <a:xfrm>
            <a:off x="6888769" y="4663440"/>
            <a:ext cx="1735348"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146304" tIns="0" rIns="146304" bIns="0" rtlCol="0" anchor="ctr"/>
          <a:lstStyle/>
          <a:p>
            <a:pPr algn="ctr"/>
            <a:r>
              <a:rPr sz="1150" b="1">
                <a:solidFill>
                  <a:srgbClr val="21252D"/>
                </a:solidFill>
                <a:latin typeface="Helvetica Neue"/>
              </a:rPr>
              <a:t>GitHub Actions</a:t>
            </a:r>
          </a:p>
        </p:txBody>
      </p:sp>
      <p:sp>
        <p:nvSpPr>
          <p:cNvPr id="12" name="TextBox 11"/>
          <p:cNvSpPr txBox="1"/>
          <p:nvPr/>
        </p:nvSpPr>
        <p:spPr>
          <a:xfrm>
            <a:off x="731520" y="5989320"/>
            <a:ext cx="10728655" cy="274320"/>
          </a:xfrm>
          <a:prstGeom prst="rect">
            <a:avLst/>
          </a:prstGeom>
          <a:noFill/>
        </p:spPr>
        <p:txBody>
          <a:bodyPr wrap="square" lIns="0" tIns="0" rIns="0" bIns="0">
            <a:spAutoFit/>
          </a:bodyPr>
          <a:lstStyle/>
          <a:p>
            <a:pPr algn="ctr">
              <a:lnSpc>
                <a:spcPct val="110000"/>
              </a:lnSpc>
              <a:spcAft>
                <a:spcPts val="0"/>
              </a:spcAft>
            </a:pPr>
            <a:r>
              <a:rPr sz="1100" b="0">
                <a:solidFill>
                  <a:srgbClr val="E3E2DC"/>
                </a:solidFill>
                <a:latin typeface="Helvetica Neue"/>
              </a:rPr>
              <a:t>Capítulo 1 — Fundamentos de DataOps  ·  github.com/acarmonag/cicd-bd  ·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8F6"/>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31520" y="475488"/>
            <a:ext cx="10728655" cy="228600"/>
          </a:xfrm>
          <a:prstGeom prst="rect">
            <a:avLst/>
          </a:prstGeom>
          <a:noFill/>
        </p:spPr>
        <p:txBody>
          <a:bodyPr wrap="square" lIns="0" tIns="0" rIns="0" bIns="0">
            <a:spAutoFit/>
          </a:bodyPr>
          <a:lstStyle/>
          <a:p>
            <a:pPr algn="l">
              <a:lnSpc>
                <a:spcPct val="110000"/>
              </a:lnSpc>
              <a:spcAft>
                <a:spcPts val="0"/>
              </a:spcAft>
            </a:pPr>
            <a:r>
              <a:rPr sz="1050" b="1">
                <a:solidFill>
                  <a:srgbClr val="4338CA"/>
                </a:solidFill>
                <a:latin typeface="Helvetica Neue"/>
              </a:rPr>
              <a:t>DOMINIO DE NEGOCIO</a:t>
            </a:r>
          </a:p>
        </p:txBody>
      </p:sp>
      <p:sp>
        <p:nvSpPr>
          <p:cNvPr id="4" name="TextBox 3"/>
          <p:cNvSpPr txBox="1"/>
          <p:nvPr/>
        </p:nvSpPr>
        <p:spPr>
          <a:xfrm>
            <a:off x="731520" y="749808"/>
            <a:ext cx="10728655" cy="548640"/>
          </a:xfrm>
          <a:prstGeom prst="rect">
            <a:avLst/>
          </a:prstGeom>
          <a:noFill/>
        </p:spPr>
        <p:txBody>
          <a:bodyPr wrap="square" lIns="0" tIns="0" rIns="0" bIns="0">
            <a:spAutoFit/>
          </a:bodyPr>
          <a:lstStyle/>
          <a:p>
            <a:pPr algn="l">
              <a:lnSpc>
                <a:spcPct val="110000"/>
              </a:lnSpc>
              <a:spcAft>
                <a:spcPts val="0"/>
              </a:spcAft>
            </a:pPr>
            <a:r>
              <a:rPr sz="3100" b="1">
                <a:solidFill>
                  <a:srgbClr val="21252D"/>
                </a:solidFill>
                <a:latin typeface="Helvetica Neue"/>
              </a:rPr>
              <a:t>Gestión de torneos deportivos</a:t>
            </a:r>
          </a:p>
        </p:txBody>
      </p:sp>
      <p:sp>
        <p:nvSpPr>
          <p:cNvPr id="5" name="TextBox 4"/>
          <p:cNvSpPr txBox="1"/>
          <p:nvPr/>
        </p:nvSpPr>
        <p:spPr>
          <a:xfrm>
            <a:off x="10362895" y="457200"/>
            <a:ext cx="1097280" cy="365760"/>
          </a:xfrm>
          <a:prstGeom prst="rect">
            <a:avLst/>
          </a:prstGeom>
          <a:noFill/>
        </p:spPr>
        <p:txBody>
          <a:bodyPr wrap="square" lIns="0" tIns="0" rIns="0" bIns="0">
            <a:spAutoFit/>
          </a:bodyPr>
          <a:lstStyle/>
          <a:p>
            <a:pPr algn="r">
              <a:lnSpc>
                <a:spcPct val="110000"/>
              </a:lnSpc>
              <a:spcAft>
                <a:spcPts val="0"/>
              </a:spcAft>
            </a:pPr>
            <a:r>
              <a:rPr sz="1300" b="1">
                <a:solidFill>
                  <a:srgbClr val="E3E2DC"/>
                </a:solidFill>
                <a:latin typeface="Helvetica Neue"/>
              </a:rPr>
              <a:t>02</a:t>
            </a:r>
          </a:p>
        </p:txBody>
      </p:sp>
      <p:sp>
        <p:nvSpPr>
          <p:cNvPr id="6" name="Rectangle 5"/>
          <p:cNvSpPr/>
          <p:nvPr/>
        </p:nvSpPr>
        <p:spPr>
          <a:xfrm>
            <a:off x="731520" y="1417320"/>
            <a:ext cx="10728655" cy="11430"/>
          </a:xfrm>
          <a:prstGeom prst="rect">
            <a:avLst/>
          </a:prstGeom>
          <a:solidFill>
            <a:srgbClr val="E3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31520" y="6355080"/>
            <a:ext cx="10728655" cy="228600"/>
          </a:xfrm>
          <a:prstGeom prst="rect">
            <a:avLst/>
          </a:prstGeom>
          <a:noFill/>
        </p:spPr>
        <p:txBody>
          <a:bodyPr wrap="square" lIns="0" tIns="0" rIns="0" bIns="0">
            <a:spAutoFit/>
          </a:bodyPr>
          <a:lstStyle/>
          <a:p>
            <a:pPr algn="l">
              <a:lnSpc>
                <a:spcPct val="110000"/>
              </a:lnSpc>
              <a:spcAft>
                <a:spcPts val="0"/>
              </a:spcAft>
            </a:pPr>
            <a:r>
              <a:rPr sz="950" b="0">
                <a:solidFill>
                  <a:srgbClr val="E3E2DC"/>
                </a:solidFill>
                <a:latin typeface="Helvetica Neue"/>
              </a:rPr>
              <a:t>CI/CD en Base de Datos  ·  SI6010-5979  ·  Torneos deportivos</a:t>
            </a:r>
          </a:p>
        </p:txBody>
      </p:sp>
      <p:sp>
        <p:nvSpPr>
          <p:cNvPr id="8" name="TextBox 7"/>
          <p:cNvSpPr txBox="1"/>
          <p:nvPr/>
        </p:nvSpPr>
        <p:spPr>
          <a:xfrm>
            <a:off x="731520" y="1691640"/>
            <a:ext cx="10698480" cy="822960"/>
          </a:xfrm>
          <a:prstGeom prst="rect">
            <a:avLst/>
          </a:prstGeom>
          <a:noFill/>
        </p:spPr>
        <p:txBody>
          <a:bodyPr wrap="square" lIns="0" tIns="0" rIns="0" bIns="0">
            <a:spAutoFit/>
          </a:bodyPr>
          <a:lstStyle/>
          <a:p>
            <a:pPr algn="l">
              <a:lnSpc>
                <a:spcPct val="140000"/>
              </a:lnSpc>
              <a:spcAft>
                <a:spcPts val="0"/>
              </a:spcAft>
            </a:pPr>
            <a:r>
              <a:rPr sz="1350" b="0">
                <a:solidFill>
                  <a:srgbClr val="21252D"/>
                </a:solidFill>
                <a:latin typeface="Helvetica Neue"/>
              </a:rPr>
              <a:t>Elegimos un dominio propio, distinto a Parch &amp; Posey: una plataforma que organiza competencias entre equipos de varias disciplinas. </a:t>
            </a:r>
            <a:r>
              <a:rPr sz="1350" b="0">
                <a:solidFill>
                  <a:srgbClr val="6E747E"/>
                </a:solidFill>
                <a:latin typeface="Helvetica Neue"/>
              </a:rPr>
              <a:t>Modela toda la cadena — el catálogo de deportes y recintos, los equipos y sus jugadores, los torneos, los partidos programados, el árbitro asignado y el marcador final.</a:t>
            </a:r>
          </a:p>
        </p:txBody>
      </p:sp>
      <p:sp>
        <p:nvSpPr>
          <p:cNvPr id="9" name="Rectangle 8"/>
          <p:cNvSpPr/>
          <p:nvPr/>
        </p:nvSpPr>
        <p:spPr>
          <a:xfrm>
            <a:off x="731520" y="2788920"/>
            <a:ext cx="3383280" cy="1508760"/>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731520" y="2788920"/>
            <a:ext cx="45720" cy="150876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05840" y="3026664"/>
            <a:ext cx="2880360" cy="274320"/>
          </a:xfrm>
          <a:prstGeom prst="rect">
            <a:avLst/>
          </a:prstGeom>
          <a:noFill/>
        </p:spPr>
        <p:txBody>
          <a:bodyPr wrap="square" lIns="0" tIns="0" rIns="0" bIns="0">
            <a:spAutoFit/>
          </a:bodyPr>
          <a:lstStyle/>
          <a:p>
            <a:pPr algn="l">
              <a:lnSpc>
                <a:spcPct val="110000"/>
              </a:lnSpc>
              <a:spcAft>
                <a:spcPts val="0"/>
              </a:spcAft>
            </a:pPr>
            <a:r>
              <a:rPr sz="1500" b="1">
                <a:solidFill>
                  <a:srgbClr val="21252D"/>
                </a:solidFill>
                <a:latin typeface="Helvetica Neue"/>
              </a:rPr>
              <a:t>8 tablas relacionadas</a:t>
            </a:r>
          </a:p>
        </p:txBody>
      </p:sp>
      <p:sp>
        <p:nvSpPr>
          <p:cNvPr id="12" name="TextBox 11"/>
          <p:cNvSpPr txBox="1"/>
          <p:nvPr/>
        </p:nvSpPr>
        <p:spPr>
          <a:xfrm>
            <a:off x="1005840" y="3410712"/>
            <a:ext cx="2880360" cy="704088"/>
          </a:xfrm>
          <a:prstGeom prst="rect">
            <a:avLst/>
          </a:prstGeom>
          <a:noFill/>
        </p:spPr>
        <p:txBody>
          <a:bodyPr wrap="square" lIns="0" tIns="0" rIns="0" bIns="0">
            <a:spAutoFit/>
          </a:bodyPr>
          <a:lstStyle/>
          <a:p>
            <a:pPr algn="l">
              <a:lnSpc>
                <a:spcPct val="132000"/>
              </a:lnSpc>
              <a:spcAft>
                <a:spcPts val="500"/>
              </a:spcAft>
            </a:pPr>
            <a:r>
              <a:rPr sz="1150" b="0">
                <a:solidFill>
                  <a:srgbClr val="6E747E"/>
                </a:solidFill>
                <a:latin typeface="Helvetica Neue"/>
              </a:rPr>
              <a:t>9 claves foráneas reales y dos niveles de jerarquía:</a:t>
            </a:r>
          </a:p>
          <a:p>
            <a:pPr algn="l">
              <a:lnSpc>
                <a:spcPct val="132000"/>
              </a:lnSpc>
              <a:spcAft>
                <a:spcPts val="500"/>
              </a:spcAft>
            </a:pPr>
            <a:r>
              <a:rPr sz="1150" b="0">
                <a:solidFill>
                  <a:srgbClr val="6E747E"/>
                </a:solidFill>
                <a:latin typeface="Helvetica Neue"/>
              </a:rPr>
              <a:t>sports → teams → players</a:t>
            </a:r>
          </a:p>
        </p:txBody>
      </p:sp>
      <p:sp>
        <p:nvSpPr>
          <p:cNvPr id="13" name="Rectangle 12"/>
          <p:cNvSpPr/>
          <p:nvPr/>
        </p:nvSpPr>
        <p:spPr>
          <a:xfrm>
            <a:off x="4389120" y="2788920"/>
            <a:ext cx="3383280" cy="1508760"/>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4389120" y="2788920"/>
            <a:ext cx="45720" cy="150876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663440" y="3026664"/>
            <a:ext cx="2880360" cy="274320"/>
          </a:xfrm>
          <a:prstGeom prst="rect">
            <a:avLst/>
          </a:prstGeom>
          <a:noFill/>
        </p:spPr>
        <p:txBody>
          <a:bodyPr wrap="square" lIns="0" tIns="0" rIns="0" bIns="0">
            <a:spAutoFit/>
          </a:bodyPr>
          <a:lstStyle/>
          <a:p>
            <a:pPr algn="l">
              <a:lnSpc>
                <a:spcPct val="110000"/>
              </a:lnSpc>
              <a:spcAft>
                <a:spcPts val="0"/>
              </a:spcAft>
            </a:pPr>
            <a:r>
              <a:rPr sz="1500" b="1">
                <a:solidFill>
                  <a:srgbClr val="21252D"/>
                </a:solidFill>
                <a:latin typeface="Helvetica Neue"/>
              </a:rPr>
              <a:t>Ciclo de competencia</a:t>
            </a:r>
          </a:p>
        </p:txBody>
      </p:sp>
      <p:sp>
        <p:nvSpPr>
          <p:cNvPr id="16" name="TextBox 15"/>
          <p:cNvSpPr txBox="1"/>
          <p:nvPr/>
        </p:nvSpPr>
        <p:spPr>
          <a:xfrm>
            <a:off x="4663440" y="3410712"/>
            <a:ext cx="2880360" cy="704088"/>
          </a:xfrm>
          <a:prstGeom prst="rect">
            <a:avLst/>
          </a:prstGeom>
          <a:noFill/>
        </p:spPr>
        <p:txBody>
          <a:bodyPr wrap="square" lIns="0" tIns="0" rIns="0" bIns="0">
            <a:spAutoFit/>
          </a:bodyPr>
          <a:lstStyle/>
          <a:p>
            <a:pPr algn="l">
              <a:lnSpc>
                <a:spcPct val="132000"/>
              </a:lnSpc>
              <a:spcAft>
                <a:spcPts val="500"/>
              </a:spcAft>
            </a:pPr>
            <a:r>
              <a:rPr sz="1150" b="0">
                <a:solidFill>
                  <a:srgbClr val="6E747E"/>
                </a:solidFill>
                <a:latin typeface="Helvetica Neue"/>
              </a:rPr>
              <a:t>tournaments → matches → match_scores.</a:t>
            </a:r>
          </a:p>
          <a:p>
            <a:pPr algn="l">
              <a:lnSpc>
                <a:spcPct val="132000"/>
              </a:lnSpc>
              <a:spcAft>
                <a:spcPts val="500"/>
              </a:spcAft>
            </a:pPr>
            <a:r>
              <a:rPr sz="1150" b="0">
                <a:solidFill>
                  <a:srgbClr val="6E747E"/>
                </a:solidFill>
                <a:latin typeface="Helvetica Neue"/>
              </a:rPr>
              <a:t>El estado del partido gobierna el flujo.</a:t>
            </a:r>
          </a:p>
        </p:txBody>
      </p:sp>
      <p:sp>
        <p:nvSpPr>
          <p:cNvPr id="17" name="Rectangle 16"/>
          <p:cNvSpPr/>
          <p:nvPr/>
        </p:nvSpPr>
        <p:spPr>
          <a:xfrm>
            <a:off x="8046720" y="2788920"/>
            <a:ext cx="3383280" cy="1508760"/>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8046720" y="2788920"/>
            <a:ext cx="45720" cy="150876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321040" y="3026664"/>
            <a:ext cx="2880360" cy="274320"/>
          </a:xfrm>
          <a:prstGeom prst="rect">
            <a:avLst/>
          </a:prstGeom>
          <a:noFill/>
        </p:spPr>
        <p:txBody>
          <a:bodyPr wrap="square" lIns="0" tIns="0" rIns="0" bIns="0">
            <a:spAutoFit/>
          </a:bodyPr>
          <a:lstStyle/>
          <a:p>
            <a:pPr algn="l">
              <a:lnSpc>
                <a:spcPct val="110000"/>
              </a:lnSpc>
              <a:spcAft>
                <a:spcPts val="0"/>
              </a:spcAft>
            </a:pPr>
            <a:r>
              <a:rPr sz="1500" b="1">
                <a:solidFill>
                  <a:srgbClr val="21252D"/>
                </a:solidFill>
                <a:latin typeface="Helvetica Neue"/>
              </a:rPr>
              <a:t>Cabe en el tier gratuito</a:t>
            </a:r>
          </a:p>
        </p:txBody>
      </p:sp>
      <p:sp>
        <p:nvSpPr>
          <p:cNvPr id="20" name="TextBox 19"/>
          <p:cNvSpPr txBox="1"/>
          <p:nvPr/>
        </p:nvSpPr>
        <p:spPr>
          <a:xfrm>
            <a:off x="8321040" y="3410712"/>
            <a:ext cx="2880360" cy="704088"/>
          </a:xfrm>
          <a:prstGeom prst="rect">
            <a:avLst/>
          </a:prstGeom>
          <a:noFill/>
        </p:spPr>
        <p:txBody>
          <a:bodyPr wrap="square" lIns="0" tIns="0" rIns="0" bIns="0">
            <a:spAutoFit/>
          </a:bodyPr>
          <a:lstStyle/>
          <a:p>
            <a:pPr algn="l">
              <a:lnSpc>
                <a:spcPct val="132000"/>
              </a:lnSpc>
              <a:spcAft>
                <a:spcPts val="500"/>
              </a:spcAft>
            </a:pPr>
            <a:r>
              <a:rPr sz="1150" b="0">
                <a:solidFill>
                  <a:srgbClr val="6E747E"/>
                </a:solidFill>
                <a:latin typeface="Helvetica Neue"/>
              </a:rPr>
              <a:t>Datos sintéticos, miles de filas.</a:t>
            </a:r>
          </a:p>
          <a:p>
            <a:pPr algn="l">
              <a:lnSpc>
                <a:spcPct val="132000"/>
              </a:lnSpc>
              <a:spcAft>
                <a:spcPts val="500"/>
              </a:spcAft>
            </a:pPr>
            <a:r>
              <a:rPr sz="1150" b="0">
                <a:solidFill>
                  <a:srgbClr val="6E747E"/>
                </a:solidFill>
                <a:latin typeface="Helvetica Neue"/>
              </a:rPr>
              <a:t>Muy por debajo de los 0.5 GB de Neon.</a:t>
            </a:r>
          </a:p>
        </p:txBody>
      </p:sp>
      <p:sp>
        <p:nvSpPr>
          <p:cNvPr id="21" name="Rectangle 20"/>
          <p:cNvSpPr/>
          <p:nvPr/>
        </p:nvSpPr>
        <p:spPr>
          <a:xfrm>
            <a:off x="731520" y="4663440"/>
            <a:ext cx="10698480" cy="960120"/>
          </a:xfrm>
          <a:prstGeom prst="rect">
            <a:avLst/>
          </a:prstGeom>
          <a:solidFill>
            <a:srgbClr val="EC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024128" y="4864608"/>
            <a:ext cx="10149840" cy="640080"/>
          </a:xfrm>
          <a:prstGeom prst="rect">
            <a:avLst/>
          </a:prstGeom>
          <a:noFill/>
        </p:spPr>
        <p:txBody>
          <a:bodyPr wrap="square" lIns="0" tIns="0" rIns="0" bIns="0">
            <a:spAutoFit/>
          </a:bodyPr>
          <a:lstStyle/>
          <a:p>
            <a:pPr algn="l">
              <a:lnSpc>
                <a:spcPct val="138000"/>
              </a:lnSpc>
              <a:spcAft>
                <a:spcPts val="0"/>
              </a:spcAft>
            </a:pPr>
            <a:r>
              <a:rPr sz="1150" b="1">
                <a:solidFill>
                  <a:srgbClr val="4338CA"/>
                </a:solidFill>
                <a:latin typeface="Helvetica Neue"/>
              </a:rPr>
              <a:t>¿Por qué este dominio?  </a:t>
            </a:r>
          </a:p>
          <a:p>
            <a:pPr algn="l">
              <a:lnSpc>
                <a:spcPct val="138000"/>
              </a:lnSpc>
              <a:spcAft>
                <a:spcPts val="0"/>
              </a:spcAft>
            </a:pPr>
            <a:r>
              <a:rPr sz="1150" b="0">
                <a:solidFill>
                  <a:srgbClr val="21252D"/>
                </a:solidFill>
                <a:latin typeface="Helvetica Neue"/>
              </a:rPr>
              <a:t>Tiene entidades con reglas de negocio verificables en el esquema — un equipo no puede jugar contra sí mismo, un torneo no puede terminar antes de empezar, un partido finalizado tiene exactamente un marcador. Eso convierte cada restricción en una migración con propósito.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8F6"/>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31520" y="475488"/>
            <a:ext cx="10728655" cy="228600"/>
          </a:xfrm>
          <a:prstGeom prst="rect">
            <a:avLst/>
          </a:prstGeom>
          <a:noFill/>
        </p:spPr>
        <p:txBody>
          <a:bodyPr wrap="square" lIns="0" tIns="0" rIns="0" bIns="0">
            <a:spAutoFit/>
          </a:bodyPr>
          <a:lstStyle/>
          <a:p>
            <a:pPr algn="l">
              <a:lnSpc>
                <a:spcPct val="110000"/>
              </a:lnSpc>
              <a:spcAft>
                <a:spcPts val="0"/>
              </a:spcAft>
            </a:pPr>
            <a:r>
              <a:rPr sz="1050" b="1">
                <a:solidFill>
                  <a:srgbClr val="4338CA"/>
                </a:solidFill>
                <a:latin typeface="Helvetica Neue"/>
              </a:rPr>
              <a:t>DOMINIO DE NEGOCIO</a:t>
            </a:r>
          </a:p>
        </p:txBody>
      </p:sp>
      <p:sp>
        <p:nvSpPr>
          <p:cNvPr id="4" name="TextBox 3"/>
          <p:cNvSpPr txBox="1"/>
          <p:nvPr/>
        </p:nvSpPr>
        <p:spPr>
          <a:xfrm>
            <a:off x="731520" y="749808"/>
            <a:ext cx="10728655" cy="548640"/>
          </a:xfrm>
          <a:prstGeom prst="rect">
            <a:avLst/>
          </a:prstGeom>
          <a:noFill/>
        </p:spPr>
        <p:txBody>
          <a:bodyPr wrap="square" lIns="0" tIns="0" rIns="0" bIns="0">
            <a:spAutoFit/>
          </a:bodyPr>
          <a:lstStyle/>
          <a:p>
            <a:pPr algn="l">
              <a:lnSpc>
                <a:spcPct val="110000"/>
              </a:lnSpc>
              <a:spcAft>
                <a:spcPts val="0"/>
              </a:spcAft>
            </a:pPr>
            <a:r>
              <a:rPr sz="3100" b="1">
                <a:solidFill>
                  <a:srgbClr val="21252D"/>
                </a:solidFill>
                <a:latin typeface="Helvetica Neue"/>
              </a:rPr>
              <a:t>Del catálogo al marcador</a:t>
            </a:r>
          </a:p>
        </p:txBody>
      </p:sp>
      <p:sp>
        <p:nvSpPr>
          <p:cNvPr id="5" name="TextBox 4"/>
          <p:cNvSpPr txBox="1"/>
          <p:nvPr/>
        </p:nvSpPr>
        <p:spPr>
          <a:xfrm>
            <a:off x="10362895" y="457200"/>
            <a:ext cx="1097280" cy="365760"/>
          </a:xfrm>
          <a:prstGeom prst="rect">
            <a:avLst/>
          </a:prstGeom>
          <a:noFill/>
        </p:spPr>
        <p:txBody>
          <a:bodyPr wrap="square" lIns="0" tIns="0" rIns="0" bIns="0">
            <a:spAutoFit/>
          </a:bodyPr>
          <a:lstStyle/>
          <a:p>
            <a:pPr algn="r">
              <a:lnSpc>
                <a:spcPct val="110000"/>
              </a:lnSpc>
              <a:spcAft>
                <a:spcPts val="0"/>
              </a:spcAft>
            </a:pPr>
            <a:r>
              <a:rPr sz="1300" b="1">
                <a:solidFill>
                  <a:srgbClr val="E3E2DC"/>
                </a:solidFill>
                <a:latin typeface="Helvetica Neue"/>
              </a:rPr>
              <a:t>03</a:t>
            </a:r>
          </a:p>
        </p:txBody>
      </p:sp>
      <p:sp>
        <p:nvSpPr>
          <p:cNvPr id="6" name="Rectangle 5"/>
          <p:cNvSpPr/>
          <p:nvPr/>
        </p:nvSpPr>
        <p:spPr>
          <a:xfrm>
            <a:off x="731520" y="1417320"/>
            <a:ext cx="10728655" cy="11430"/>
          </a:xfrm>
          <a:prstGeom prst="rect">
            <a:avLst/>
          </a:prstGeom>
          <a:solidFill>
            <a:srgbClr val="E3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31520" y="6355080"/>
            <a:ext cx="10728655" cy="228600"/>
          </a:xfrm>
          <a:prstGeom prst="rect">
            <a:avLst/>
          </a:prstGeom>
          <a:noFill/>
        </p:spPr>
        <p:txBody>
          <a:bodyPr wrap="square" lIns="0" tIns="0" rIns="0" bIns="0">
            <a:spAutoFit/>
          </a:bodyPr>
          <a:lstStyle/>
          <a:p>
            <a:pPr algn="l">
              <a:lnSpc>
                <a:spcPct val="110000"/>
              </a:lnSpc>
              <a:spcAft>
                <a:spcPts val="0"/>
              </a:spcAft>
            </a:pPr>
            <a:r>
              <a:rPr sz="950" b="0">
                <a:solidFill>
                  <a:srgbClr val="E3E2DC"/>
                </a:solidFill>
                <a:latin typeface="Helvetica Neue"/>
              </a:rPr>
              <a:t>CI/CD en Base de Datos  ·  SI6010-5979  ·  Torneos deportivos</a:t>
            </a:r>
          </a:p>
        </p:txBody>
      </p:sp>
      <p:sp>
        <p:nvSpPr>
          <p:cNvPr id="8" name="Rectangle 7"/>
          <p:cNvSpPr/>
          <p:nvPr/>
        </p:nvSpPr>
        <p:spPr>
          <a:xfrm>
            <a:off x="731520" y="1691640"/>
            <a:ext cx="5760720" cy="4114800"/>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24128" y="1874519"/>
            <a:ext cx="5175504" cy="228600"/>
          </a:xfrm>
          <a:prstGeom prst="rect">
            <a:avLst/>
          </a:prstGeom>
          <a:noFill/>
        </p:spPr>
        <p:txBody>
          <a:bodyPr wrap="square" lIns="0" tIns="0" rIns="0" bIns="0">
            <a:spAutoFit/>
          </a:bodyPr>
          <a:lstStyle/>
          <a:p>
            <a:pPr algn="l">
              <a:lnSpc>
                <a:spcPct val="110000"/>
              </a:lnSpc>
              <a:spcAft>
                <a:spcPts val="0"/>
              </a:spcAft>
            </a:pPr>
            <a:r>
              <a:rPr sz="900" b="1">
                <a:solidFill>
                  <a:srgbClr val="4338CA"/>
                </a:solidFill>
                <a:latin typeface="Helvetica Neue"/>
              </a:rPr>
              <a:t>EL CICLO DE VIDA DE UN TORNEO</a:t>
            </a:r>
          </a:p>
        </p:txBody>
      </p:sp>
      <p:sp>
        <p:nvSpPr>
          <p:cNvPr id="10" name="Oval 9"/>
          <p:cNvSpPr/>
          <p:nvPr/>
        </p:nvSpPr>
        <p:spPr>
          <a:xfrm>
            <a:off x="1024128" y="2212848"/>
            <a:ext cx="274320" cy="274320"/>
          </a:xfrm>
          <a:prstGeom prst="ellipse">
            <a:avLst/>
          </a:prstGeom>
          <a:solidFill>
            <a:srgbClr val="ECEA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50" b="1">
                <a:solidFill>
                  <a:srgbClr val="4338CA"/>
                </a:solidFill>
                <a:latin typeface="Helvetica Neue"/>
              </a:rPr>
              <a:t>1</a:t>
            </a:r>
          </a:p>
        </p:txBody>
      </p:sp>
      <p:sp>
        <p:nvSpPr>
          <p:cNvPr id="11" name="TextBox 10"/>
          <p:cNvSpPr txBox="1"/>
          <p:nvPr/>
        </p:nvSpPr>
        <p:spPr>
          <a:xfrm>
            <a:off x="1444752" y="2221992"/>
            <a:ext cx="4709160" cy="219456"/>
          </a:xfrm>
          <a:prstGeom prst="rect">
            <a:avLst/>
          </a:prstGeom>
          <a:noFill/>
        </p:spPr>
        <p:txBody>
          <a:bodyPr wrap="square" lIns="0" tIns="0" rIns="0" bIns="0">
            <a:spAutoFit/>
          </a:bodyPr>
          <a:lstStyle/>
          <a:p>
            <a:pPr algn="l">
              <a:lnSpc>
                <a:spcPct val="110000"/>
              </a:lnSpc>
              <a:spcAft>
                <a:spcPts val="0"/>
              </a:spcAft>
            </a:pPr>
            <a:r>
              <a:rPr sz="1250" b="1">
                <a:solidFill>
                  <a:srgbClr val="21252D"/>
                </a:solidFill>
                <a:latin typeface="Helvetica Neue"/>
              </a:rPr>
              <a:t>Se registra el catálogo</a:t>
            </a:r>
          </a:p>
        </p:txBody>
      </p:sp>
      <p:sp>
        <p:nvSpPr>
          <p:cNvPr id="12" name="TextBox 11"/>
          <p:cNvSpPr txBox="1"/>
          <p:nvPr/>
        </p:nvSpPr>
        <p:spPr>
          <a:xfrm>
            <a:off x="1444752" y="2468880"/>
            <a:ext cx="4709160" cy="219456"/>
          </a:xfrm>
          <a:prstGeom prst="rect">
            <a:avLst/>
          </a:prstGeom>
          <a:noFill/>
        </p:spPr>
        <p:txBody>
          <a:bodyPr wrap="square" lIns="0" tIns="0" rIns="0" bIns="0">
            <a:spAutoFit/>
          </a:bodyPr>
          <a:lstStyle/>
          <a:p>
            <a:pPr algn="l">
              <a:lnSpc>
                <a:spcPct val="125000"/>
              </a:lnSpc>
              <a:spcAft>
                <a:spcPts val="0"/>
              </a:spcAft>
            </a:pPr>
            <a:r>
              <a:rPr sz="1050" b="0">
                <a:solidFill>
                  <a:srgbClr val="6E747E"/>
                </a:solidFill>
                <a:latin typeface="Helvetica Neue"/>
              </a:rPr>
              <a:t>sports, venues y referees existen antes que cualquier competencia.</a:t>
            </a:r>
          </a:p>
        </p:txBody>
      </p:sp>
      <p:sp>
        <p:nvSpPr>
          <p:cNvPr id="13" name="Rectangle 12"/>
          <p:cNvSpPr/>
          <p:nvPr/>
        </p:nvSpPr>
        <p:spPr>
          <a:xfrm>
            <a:off x="1156716" y="2523744"/>
            <a:ext cx="11430" cy="329184"/>
          </a:xfrm>
          <a:prstGeom prst="rect">
            <a:avLst/>
          </a:prstGeom>
          <a:solidFill>
            <a:srgbClr val="E3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1024128" y="2907792"/>
            <a:ext cx="274320" cy="274320"/>
          </a:xfrm>
          <a:prstGeom prst="ellipse">
            <a:avLst/>
          </a:prstGeom>
          <a:solidFill>
            <a:srgbClr val="ECEA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50" b="1">
                <a:solidFill>
                  <a:srgbClr val="4338CA"/>
                </a:solidFill>
                <a:latin typeface="Helvetica Neue"/>
              </a:rPr>
              <a:t>2</a:t>
            </a:r>
          </a:p>
        </p:txBody>
      </p:sp>
      <p:sp>
        <p:nvSpPr>
          <p:cNvPr id="15" name="TextBox 14"/>
          <p:cNvSpPr txBox="1"/>
          <p:nvPr/>
        </p:nvSpPr>
        <p:spPr>
          <a:xfrm>
            <a:off x="1444752" y="2916936"/>
            <a:ext cx="4709160" cy="219456"/>
          </a:xfrm>
          <a:prstGeom prst="rect">
            <a:avLst/>
          </a:prstGeom>
          <a:noFill/>
        </p:spPr>
        <p:txBody>
          <a:bodyPr wrap="square" lIns="0" tIns="0" rIns="0" bIns="0">
            <a:spAutoFit/>
          </a:bodyPr>
          <a:lstStyle/>
          <a:p>
            <a:pPr algn="l">
              <a:lnSpc>
                <a:spcPct val="110000"/>
              </a:lnSpc>
              <a:spcAft>
                <a:spcPts val="0"/>
              </a:spcAft>
            </a:pPr>
            <a:r>
              <a:rPr sz="1250" b="1">
                <a:solidFill>
                  <a:srgbClr val="21252D"/>
                </a:solidFill>
                <a:latin typeface="Helvetica Neue"/>
              </a:rPr>
              <a:t>Los equipos inscriben jugadores</a:t>
            </a:r>
          </a:p>
        </p:txBody>
      </p:sp>
      <p:sp>
        <p:nvSpPr>
          <p:cNvPr id="16" name="TextBox 15"/>
          <p:cNvSpPr txBox="1"/>
          <p:nvPr/>
        </p:nvSpPr>
        <p:spPr>
          <a:xfrm>
            <a:off x="1444752" y="3163824"/>
            <a:ext cx="4709160" cy="219456"/>
          </a:xfrm>
          <a:prstGeom prst="rect">
            <a:avLst/>
          </a:prstGeom>
          <a:noFill/>
        </p:spPr>
        <p:txBody>
          <a:bodyPr wrap="square" lIns="0" tIns="0" rIns="0" bIns="0">
            <a:spAutoFit/>
          </a:bodyPr>
          <a:lstStyle/>
          <a:p>
            <a:pPr algn="l">
              <a:lnSpc>
                <a:spcPct val="125000"/>
              </a:lnSpc>
              <a:spcAft>
                <a:spcPts val="0"/>
              </a:spcAft>
            </a:pPr>
            <a:r>
              <a:rPr sz="1050" b="0">
                <a:solidFill>
                  <a:srgbClr val="6E747E"/>
                </a:solidFill>
                <a:latin typeface="Helvetica Neue"/>
              </a:rPr>
              <a:t>teams pertenece a un deporte; players a un equipo, con dorsal del 1 al 99.</a:t>
            </a:r>
          </a:p>
        </p:txBody>
      </p:sp>
      <p:sp>
        <p:nvSpPr>
          <p:cNvPr id="17" name="Rectangle 16"/>
          <p:cNvSpPr/>
          <p:nvPr/>
        </p:nvSpPr>
        <p:spPr>
          <a:xfrm>
            <a:off x="1156716" y="3218688"/>
            <a:ext cx="11430" cy="329184"/>
          </a:xfrm>
          <a:prstGeom prst="rect">
            <a:avLst/>
          </a:prstGeom>
          <a:solidFill>
            <a:srgbClr val="E3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1024128" y="3602736"/>
            <a:ext cx="274320" cy="274320"/>
          </a:xfrm>
          <a:prstGeom prst="ellipse">
            <a:avLst/>
          </a:prstGeom>
          <a:solidFill>
            <a:srgbClr val="ECEA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50" b="1">
                <a:solidFill>
                  <a:srgbClr val="4338CA"/>
                </a:solidFill>
                <a:latin typeface="Helvetica Neue"/>
              </a:rPr>
              <a:t>3</a:t>
            </a:r>
          </a:p>
        </p:txBody>
      </p:sp>
      <p:sp>
        <p:nvSpPr>
          <p:cNvPr id="19" name="TextBox 18"/>
          <p:cNvSpPr txBox="1"/>
          <p:nvPr/>
        </p:nvSpPr>
        <p:spPr>
          <a:xfrm>
            <a:off x="1444752" y="3611880"/>
            <a:ext cx="4709160" cy="219456"/>
          </a:xfrm>
          <a:prstGeom prst="rect">
            <a:avLst/>
          </a:prstGeom>
          <a:noFill/>
        </p:spPr>
        <p:txBody>
          <a:bodyPr wrap="square" lIns="0" tIns="0" rIns="0" bIns="0">
            <a:spAutoFit/>
          </a:bodyPr>
          <a:lstStyle/>
          <a:p>
            <a:pPr algn="l">
              <a:lnSpc>
                <a:spcPct val="110000"/>
              </a:lnSpc>
              <a:spcAft>
                <a:spcPts val="0"/>
              </a:spcAft>
            </a:pPr>
            <a:r>
              <a:rPr sz="1250" b="1">
                <a:solidFill>
                  <a:srgbClr val="21252D"/>
                </a:solidFill>
                <a:latin typeface="Helvetica Neue"/>
              </a:rPr>
              <a:t>Se abre el torneo</a:t>
            </a:r>
          </a:p>
        </p:txBody>
      </p:sp>
      <p:sp>
        <p:nvSpPr>
          <p:cNvPr id="20" name="TextBox 19"/>
          <p:cNvSpPr txBox="1"/>
          <p:nvPr/>
        </p:nvSpPr>
        <p:spPr>
          <a:xfrm>
            <a:off x="1444752" y="3858768"/>
            <a:ext cx="4709160" cy="219456"/>
          </a:xfrm>
          <a:prstGeom prst="rect">
            <a:avLst/>
          </a:prstGeom>
          <a:noFill/>
        </p:spPr>
        <p:txBody>
          <a:bodyPr wrap="square" lIns="0" tIns="0" rIns="0" bIns="0">
            <a:spAutoFit/>
          </a:bodyPr>
          <a:lstStyle/>
          <a:p>
            <a:pPr algn="l">
              <a:lnSpc>
                <a:spcPct val="125000"/>
              </a:lnSpc>
              <a:spcAft>
                <a:spcPts val="0"/>
              </a:spcAft>
            </a:pPr>
            <a:r>
              <a:rPr sz="1050" b="0">
                <a:solidFill>
                  <a:srgbClr val="6E747E"/>
                </a:solidFill>
                <a:latin typeface="Helvetica Neue"/>
              </a:rPr>
              <a:t>tournaments fija temporada y formato: league, cup o group_knockout.</a:t>
            </a:r>
          </a:p>
        </p:txBody>
      </p:sp>
      <p:sp>
        <p:nvSpPr>
          <p:cNvPr id="21" name="Rectangle 20"/>
          <p:cNvSpPr/>
          <p:nvPr/>
        </p:nvSpPr>
        <p:spPr>
          <a:xfrm>
            <a:off x="1156716" y="3913632"/>
            <a:ext cx="11430" cy="329184"/>
          </a:xfrm>
          <a:prstGeom prst="rect">
            <a:avLst/>
          </a:prstGeom>
          <a:solidFill>
            <a:srgbClr val="E3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1024128" y="4297680"/>
            <a:ext cx="274320" cy="274320"/>
          </a:xfrm>
          <a:prstGeom prst="ellipse">
            <a:avLst/>
          </a:prstGeom>
          <a:solidFill>
            <a:srgbClr val="ECEA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50" b="1">
                <a:solidFill>
                  <a:srgbClr val="4338CA"/>
                </a:solidFill>
                <a:latin typeface="Helvetica Neue"/>
              </a:rPr>
              <a:t>4</a:t>
            </a:r>
          </a:p>
        </p:txBody>
      </p:sp>
      <p:sp>
        <p:nvSpPr>
          <p:cNvPr id="23" name="TextBox 22"/>
          <p:cNvSpPr txBox="1"/>
          <p:nvPr/>
        </p:nvSpPr>
        <p:spPr>
          <a:xfrm>
            <a:off x="1444752" y="4306824"/>
            <a:ext cx="4709160" cy="219456"/>
          </a:xfrm>
          <a:prstGeom prst="rect">
            <a:avLst/>
          </a:prstGeom>
          <a:noFill/>
        </p:spPr>
        <p:txBody>
          <a:bodyPr wrap="square" lIns="0" tIns="0" rIns="0" bIns="0">
            <a:spAutoFit/>
          </a:bodyPr>
          <a:lstStyle/>
          <a:p>
            <a:pPr algn="l">
              <a:lnSpc>
                <a:spcPct val="110000"/>
              </a:lnSpc>
              <a:spcAft>
                <a:spcPts val="0"/>
              </a:spcAft>
            </a:pPr>
            <a:r>
              <a:rPr sz="1250" b="1">
                <a:solidFill>
                  <a:srgbClr val="21252D"/>
                </a:solidFill>
                <a:latin typeface="Helvetica Neue"/>
              </a:rPr>
              <a:t>Se programa el calendario</a:t>
            </a:r>
          </a:p>
        </p:txBody>
      </p:sp>
      <p:sp>
        <p:nvSpPr>
          <p:cNvPr id="24" name="TextBox 23"/>
          <p:cNvSpPr txBox="1"/>
          <p:nvPr/>
        </p:nvSpPr>
        <p:spPr>
          <a:xfrm>
            <a:off x="1444752" y="4553712"/>
            <a:ext cx="4709160" cy="219456"/>
          </a:xfrm>
          <a:prstGeom prst="rect">
            <a:avLst/>
          </a:prstGeom>
          <a:noFill/>
        </p:spPr>
        <p:txBody>
          <a:bodyPr wrap="square" lIns="0" tIns="0" rIns="0" bIns="0">
            <a:spAutoFit/>
          </a:bodyPr>
          <a:lstStyle/>
          <a:p>
            <a:pPr algn="l">
              <a:lnSpc>
                <a:spcPct val="125000"/>
              </a:lnSpc>
              <a:spcAft>
                <a:spcPts val="0"/>
              </a:spcAft>
            </a:pPr>
            <a:r>
              <a:rPr sz="1050" b="0">
                <a:solidFill>
                  <a:srgbClr val="6E747E"/>
                </a:solidFill>
                <a:latin typeface="Helvetica Neue"/>
              </a:rPr>
              <a:t>matches asigna rival, recinto y árbitro; el estado arranca en scheduled.</a:t>
            </a:r>
          </a:p>
        </p:txBody>
      </p:sp>
      <p:sp>
        <p:nvSpPr>
          <p:cNvPr id="25" name="Rectangle 24"/>
          <p:cNvSpPr/>
          <p:nvPr/>
        </p:nvSpPr>
        <p:spPr>
          <a:xfrm>
            <a:off x="1156716" y="4608576"/>
            <a:ext cx="11430" cy="329184"/>
          </a:xfrm>
          <a:prstGeom prst="rect">
            <a:avLst/>
          </a:prstGeom>
          <a:solidFill>
            <a:srgbClr val="E3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1024128" y="4992624"/>
            <a:ext cx="274320" cy="274320"/>
          </a:xfrm>
          <a:prstGeom prst="ellipse">
            <a:avLst/>
          </a:prstGeom>
          <a:solidFill>
            <a:srgbClr val="ECEA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50" b="1">
                <a:solidFill>
                  <a:srgbClr val="4338CA"/>
                </a:solidFill>
                <a:latin typeface="Helvetica Neue"/>
              </a:rPr>
              <a:t>5</a:t>
            </a:r>
          </a:p>
        </p:txBody>
      </p:sp>
      <p:sp>
        <p:nvSpPr>
          <p:cNvPr id="27" name="TextBox 26"/>
          <p:cNvSpPr txBox="1"/>
          <p:nvPr/>
        </p:nvSpPr>
        <p:spPr>
          <a:xfrm>
            <a:off x="1444752" y="5001768"/>
            <a:ext cx="4709160" cy="219456"/>
          </a:xfrm>
          <a:prstGeom prst="rect">
            <a:avLst/>
          </a:prstGeom>
          <a:noFill/>
        </p:spPr>
        <p:txBody>
          <a:bodyPr wrap="square" lIns="0" tIns="0" rIns="0" bIns="0">
            <a:spAutoFit/>
          </a:bodyPr>
          <a:lstStyle/>
          <a:p>
            <a:pPr algn="l">
              <a:lnSpc>
                <a:spcPct val="110000"/>
              </a:lnSpc>
              <a:spcAft>
                <a:spcPts val="0"/>
              </a:spcAft>
            </a:pPr>
            <a:r>
              <a:rPr sz="1250" b="1">
                <a:solidFill>
                  <a:srgbClr val="21252D"/>
                </a:solidFill>
                <a:latin typeface="Helvetica Neue"/>
              </a:rPr>
              <a:t>Se carga el resultado</a:t>
            </a:r>
          </a:p>
        </p:txBody>
      </p:sp>
      <p:sp>
        <p:nvSpPr>
          <p:cNvPr id="28" name="TextBox 27"/>
          <p:cNvSpPr txBox="1"/>
          <p:nvPr/>
        </p:nvSpPr>
        <p:spPr>
          <a:xfrm>
            <a:off x="1444752" y="5248656"/>
            <a:ext cx="4709160" cy="219456"/>
          </a:xfrm>
          <a:prstGeom prst="rect">
            <a:avLst/>
          </a:prstGeom>
          <a:noFill/>
        </p:spPr>
        <p:txBody>
          <a:bodyPr wrap="square" lIns="0" tIns="0" rIns="0" bIns="0">
            <a:spAutoFit/>
          </a:bodyPr>
          <a:lstStyle/>
          <a:p>
            <a:pPr algn="l">
              <a:lnSpc>
                <a:spcPct val="125000"/>
              </a:lnSpc>
              <a:spcAft>
                <a:spcPts val="0"/>
              </a:spcAft>
            </a:pPr>
            <a:r>
              <a:rPr sz="1050" b="0">
                <a:solidFill>
                  <a:srgbClr val="6E747E"/>
                </a:solidFill>
                <a:latin typeface="Helvetica Neue"/>
              </a:rPr>
              <a:t>match_scores aparece al finalizar y la vista recalcula la clasificación.</a:t>
            </a:r>
          </a:p>
        </p:txBody>
      </p:sp>
      <p:sp>
        <p:nvSpPr>
          <p:cNvPr id="29" name="Rectangle 28"/>
          <p:cNvSpPr/>
          <p:nvPr/>
        </p:nvSpPr>
        <p:spPr>
          <a:xfrm>
            <a:off x="6729984" y="1691640"/>
            <a:ext cx="4700016" cy="4114800"/>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ectangle 29"/>
          <p:cNvSpPr/>
          <p:nvPr/>
        </p:nvSpPr>
        <p:spPr>
          <a:xfrm>
            <a:off x="6729984" y="1691640"/>
            <a:ext cx="4700016" cy="4572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7004304" y="1874519"/>
            <a:ext cx="4151376" cy="228600"/>
          </a:xfrm>
          <a:prstGeom prst="rect">
            <a:avLst/>
          </a:prstGeom>
          <a:noFill/>
        </p:spPr>
        <p:txBody>
          <a:bodyPr wrap="square" lIns="0" tIns="0" rIns="0" bIns="0">
            <a:spAutoFit/>
          </a:bodyPr>
          <a:lstStyle/>
          <a:p>
            <a:pPr algn="l">
              <a:lnSpc>
                <a:spcPct val="110000"/>
              </a:lnSpc>
              <a:spcAft>
                <a:spcPts val="0"/>
              </a:spcAft>
            </a:pPr>
            <a:r>
              <a:rPr sz="900" b="1">
                <a:solidFill>
                  <a:srgbClr val="4338CA"/>
                </a:solidFill>
                <a:latin typeface="Helvetica Neue"/>
              </a:rPr>
              <a:t>REGLAS DE NEGOCIO QUE VIVE EL ESQUEMA</a:t>
            </a:r>
          </a:p>
        </p:txBody>
      </p:sp>
      <p:sp>
        <p:nvSpPr>
          <p:cNvPr id="32" name="TextBox 31"/>
          <p:cNvSpPr txBox="1"/>
          <p:nvPr/>
        </p:nvSpPr>
        <p:spPr>
          <a:xfrm>
            <a:off x="7004304" y="2212848"/>
            <a:ext cx="4151376" cy="219456"/>
          </a:xfrm>
          <a:prstGeom prst="rect">
            <a:avLst/>
          </a:prstGeom>
          <a:noFill/>
        </p:spPr>
        <p:txBody>
          <a:bodyPr wrap="square" lIns="0" tIns="0" rIns="0" bIns="0">
            <a:spAutoFit/>
          </a:bodyPr>
          <a:lstStyle/>
          <a:p>
            <a:pPr algn="l">
              <a:lnSpc>
                <a:spcPct val="120000"/>
              </a:lnSpc>
              <a:spcAft>
                <a:spcPts val="0"/>
              </a:spcAft>
            </a:pPr>
            <a:r>
              <a:rPr sz="1150" b="1">
                <a:solidFill>
                  <a:srgbClr val="21252D"/>
                </a:solidFill>
                <a:latin typeface="Helvetica Neue"/>
              </a:rPr>
              <a:t>Un equipo no puede jugar contra sí mismo</a:t>
            </a:r>
          </a:p>
        </p:txBody>
      </p:sp>
      <p:sp>
        <p:nvSpPr>
          <p:cNvPr id="33" name="TextBox 32"/>
          <p:cNvSpPr txBox="1"/>
          <p:nvPr/>
        </p:nvSpPr>
        <p:spPr>
          <a:xfrm>
            <a:off x="7004304" y="2450592"/>
            <a:ext cx="4151376" cy="201168"/>
          </a:xfrm>
          <a:prstGeom prst="rect">
            <a:avLst/>
          </a:prstGeom>
          <a:noFill/>
        </p:spPr>
        <p:txBody>
          <a:bodyPr wrap="square" lIns="0" tIns="0" rIns="0" bIns="0">
            <a:spAutoFit/>
          </a:bodyPr>
          <a:lstStyle/>
          <a:p>
            <a:pPr algn="l">
              <a:lnSpc>
                <a:spcPct val="110000"/>
              </a:lnSpc>
              <a:spcAft>
                <a:spcPts val="0"/>
              </a:spcAft>
            </a:pPr>
            <a:r>
              <a:rPr sz="900" b="0">
                <a:solidFill>
                  <a:srgbClr val="4338CA"/>
                </a:solidFill>
                <a:latin typeface="Menlo"/>
              </a:rPr>
              <a:t>CHECK home_team_id &lt;&gt; away_team_id</a:t>
            </a:r>
          </a:p>
        </p:txBody>
      </p:sp>
      <p:sp>
        <p:nvSpPr>
          <p:cNvPr id="34" name="Rectangle 33"/>
          <p:cNvSpPr/>
          <p:nvPr/>
        </p:nvSpPr>
        <p:spPr>
          <a:xfrm>
            <a:off x="7004304" y="2743200"/>
            <a:ext cx="4151376" cy="11430"/>
          </a:xfrm>
          <a:prstGeom prst="rect">
            <a:avLst/>
          </a:prstGeom>
          <a:solidFill>
            <a:srgbClr val="E3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7004304" y="2907792"/>
            <a:ext cx="4151376" cy="219456"/>
          </a:xfrm>
          <a:prstGeom prst="rect">
            <a:avLst/>
          </a:prstGeom>
          <a:noFill/>
        </p:spPr>
        <p:txBody>
          <a:bodyPr wrap="square" lIns="0" tIns="0" rIns="0" bIns="0">
            <a:spAutoFit/>
          </a:bodyPr>
          <a:lstStyle/>
          <a:p>
            <a:pPr algn="l">
              <a:lnSpc>
                <a:spcPct val="120000"/>
              </a:lnSpc>
              <a:spcAft>
                <a:spcPts val="0"/>
              </a:spcAft>
            </a:pPr>
            <a:r>
              <a:rPr sz="1150" b="1">
                <a:solidFill>
                  <a:srgbClr val="21252D"/>
                </a:solidFill>
                <a:latin typeface="Helvetica Neue"/>
              </a:rPr>
              <a:t>Un torneo no termina antes de empezar</a:t>
            </a:r>
          </a:p>
        </p:txBody>
      </p:sp>
      <p:sp>
        <p:nvSpPr>
          <p:cNvPr id="36" name="TextBox 35"/>
          <p:cNvSpPr txBox="1"/>
          <p:nvPr/>
        </p:nvSpPr>
        <p:spPr>
          <a:xfrm>
            <a:off x="7004304" y="3145536"/>
            <a:ext cx="4151376" cy="201168"/>
          </a:xfrm>
          <a:prstGeom prst="rect">
            <a:avLst/>
          </a:prstGeom>
          <a:noFill/>
        </p:spPr>
        <p:txBody>
          <a:bodyPr wrap="square" lIns="0" tIns="0" rIns="0" bIns="0">
            <a:spAutoFit/>
          </a:bodyPr>
          <a:lstStyle/>
          <a:p>
            <a:pPr algn="l">
              <a:lnSpc>
                <a:spcPct val="110000"/>
              </a:lnSpc>
              <a:spcAft>
                <a:spcPts val="0"/>
              </a:spcAft>
            </a:pPr>
            <a:r>
              <a:rPr sz="900" b="0">
                <a:solidFill>
                  <a:srgbClr val="4338CA"/>
                </a:solidFill>
                <a:latin typeface="Menlo"/>
              </a:rPr>
              <a:t>CHECK end_date &gt; start_date</a:t>
            </a:r>
          </a:p>
        </p:txBody>
      </p:sp>
      <p:sp>
        <p:nvSpPr>
          <p:cNvPr id="37" name="Rectangle 36"/>
          <p:cNvSpPr/>
          <p:nvPr/>
        </p:nvSpPr>
        <p:spPr>
          <a:xfrm>
            <a:off x="7004304" y="3438144"/>
            <a:ext cx="4151376" cy="11430"/>
          </a:xfrm>
          <a:prstGeom prst="rect">
            <a:avLst/>
          </a:prstGeom>
          <a:solidFill>
            <a:srgbClr val="E3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7004304" y="3602736"/>
            <a:ext cx="4151376" cy="219456"/>
          </a:xfrm>
          <a:prstGeom prst="rect">
            <a:avLst/>
          </a:prstGeom>
          <a:noFill/>
        </p:spPr>
        <p:txBody>
          <a:bodyPr wrap="square" lIns="0" tIns="0" rIns="0" bIns="0">
            <a:spAutoFit/>
          </a:bodyPr>
          <a:lstStyle/>
          <a:p>
            <a:pPr algn="l">
              <a:lnSpc>
                <a:spcPct val="120000"/>
              </a:lnSpc>
              <a:spcAft>
                <a:spcPts val="0"/>
              </a:spcAft>
            </a:pPr>
            <a:r>
              <a:rPr sz="1150" b="1">
                <a:solidFill>
                  <a:srgbClr val="21252D"/>
                </a:solidFill>
                <a:latin typeface="Helvetica Neue"/>
              </a:rPr>
              <a:t>Un partido tiene como máximo un marcador</a:t>
            </a:r>
          </a:p>
        </p:txBody>
      </p:sp>
      <p:sp>
        <p:nvSpPr>
          <p:cNvPr id="39" name="TextBox 38"/>
          <p:cNvSpPr txBox="1"/>
          <p:nvPr/>
        </p:nvSpPr>
        <p:spPr>
          <a:xfrm>
            <a:off x="7004304" y="3840480"/>
            <a:ext cx="4151376" cy="201168"/>
          </a:xfrm>
          <a:prstGeom prst="rect">
            <a:avLst/>
          </a:prstGeom>
          <a:noFill/>
        </p:spPr>
        <p:txBody>
          <a:bodyPr wrap="square" lIns="0" tIns="0" rIns="0" bIns="0">
            <a:spAutoFit/>
          </a:bodyPr>
          <a:lstStyle/>
          <a:p>
            <a:pPr algn="l">
              <a:lnSpc>
                <a:spcPct val="110000"/>
              </a:lnSpc>
              <a:spcAft>
                <a:spcPts val="0"/>
              </a:spcAft>
            </a:pPr>
            <a:r>
              <a:rPr sz="900" b="0">
                <a:solidFill>
                  <a:srgbClr val="4338CA"/>
                </a:solidFill>
                <a:latin typeface="Menlo"/>
              </a:rPr>
              <a:t>UNIQUE (match_id)</a:t>
            </a:r>
          </a:p>
        </p:txBody>
      </p:sp>
      <p:sp>
        <p:nvSpPr>
          <p:cNvPr id="40" name="Rectangle 39"/>
          <p:cNvSpPr/>
          <p:nvPr/>
        </p:nvSpPr>
        <p:spPr>
          <a:xfrm>
            <a:off x="7004304" y="4133088"/>
            <a:ext cx="4151376" cy="11430"/>
          </a:xfrm>
          <a:prstGeom prst="rect">
            <a:avLst/>
          </a:prstGeom>
          <a:solidFill>
            <a:srgbClr val="E3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7004304" y="4297680"/>
            <a:ext cx="4151376" cy="219456"/>
          </a:xfrm>
          <a:prstGeom prst="rect">
            <a:avLst/>
          </a:prstGeom>
          <a:noFill/>
        </p:spPr>
        <p:txBody>
          <a:bodyPr wrap="square" lIns="0" tIns="0" rIns="0" bIns="0">
            <a:spAutoFit/>
          </a:bodyPr>
          <a:lstStyle/>
          <a:p>
            <a:pPr algn="l">
              <a:lnSpc>
                <a:spcPct val="120000"/>
              </a:lnSpc>
              <a:spcAft>
                <a:spcPts val="0"/>
              </a:spcAft>
            </a:pPr>
            <a:r>
              <a:rPr sz="1150" b="1">
                <a:solidFill>
                  <a:srgbClr val="21252D"/>
                </a:solidFill>
                <a:latin typeface="Helvetica Neue"/>
              </a:rPr>
              <a:t>El dorsal de un jugador va del 1 al 99</a:t>
            </a:r>
          </a:p>
        </p:txBody>
      </p:sp>
      <p:sp>
        <p:nvSpPr>
          <p:cNvPr id="42" name="TextBox 41"/>
          <p:cNvSpPr txBox="1"/>
          <p:nvPr/>
        </p:nvSpPr>
        <p:spPr>
          <a:xfrm>
            <a:off x="7004304" y="4535424"/>
            <a:ext cx="4151376" cy="201168"/>
          </a:xfrm>
          <a:prstGeom prst="rect">
            <a:avLst/>
          </a:prstGeom>
          <a:noFill/>
        </p:spPr>
        <p:txBody>
          <a:bodyPr wrap="square" lIns="0" tIns="0" rIns="0" bIns="0">
            <a:spAutoFit/>
          </a:bodyPr>
          <a:lstStyle/>
          <a:p>
            <a:pPr algn="l">
              <a:lnSpc>
                <a:spcPct val="110000"/>
              </a:lnSpc>
              <a:spcAft>
                <a:spcPts val="0"/>
              </a:spcAft>
            </a:pPr>
            <a:r>
              <a:rPr sz="900" b="0">
                <a:solidFill>
                  <a:srgbClr val="4338CA"/>
                </a:solidFill>
                <a:latin typeface="Menlo"/>
              </a:rPr>
              <a:t>CHECK jersey_number BETWEEN 1 AND 99</a:t>
            </a:r>
          </a:p>
        </p:txBody>
      </p:sp>
      <p:sp>
        <p:nvSpPr>
          <p:cNvPr id="43" name="Rectangle 42"/>
          <p:cNvSpPr/>
          <p:nvPr/>
        </p:nvSpPr>
        <p:spPr>
          <a:xfrm>
            <a:off x="7004304" y="4828032"/>
            <a:ext cx="4151376" cy="11430"/>
          </a:xfrm>
          <a:prstGeom prst="rect">
            <a:avLst/>
          </a:prstGeom>
          <a:solidFill>
            <a:srgbClr val="E3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7004304" y="4992624"/>
            <a:ext cx="4151376" cy="219456"/>
          </a:xfrm>
          <a:prstGeom prst="rect">
            <a:avLst/>
          </a:prstGeom>
          <a:noFill/>
        </p:spPr>
        <p:txBody>
          <a:bodyPr wrap="square" lIns="0" tIns="0" rIns="0" bIns="0">
            <a:spAutoFit/>
          </a:bodyPr>
          <a:lstStyle/>
          <a:p>
            <a:pPr algn="l">
              <a:lnSpc>
                <a:spcPct val="120000"/>
              </a:lnSpc>
              <a:spcAft>
                <a:spcPts val="0"/>
              </a:spcAft>
            </a:pPr>
            <a:r>
              <a:rPr sz="1150" b="1">
                <a:solidFill>
                  <a:srgbClr val="21252D"/>
                </a:solidFill>
                <a:latin typeface="Helvetica Neue"/>
              </a:rPr>
              <a:t>Un partido solo vive en cuatro estados</a:t>
            </a:r>
          </a:p>
        </p:txBody>
      </p:sp>
      <p:sp>
        <p:nvSpPr>
          <p:cNvPr id="45" name="TextBox 44"/>
          <p:cNvSpPr txBox="1"/>
          <p:nvPr/>
        </p:nvSpPr>
        <p:spPr>
          <a:xfrm>
            <a:off x="7004304" y="5230368"/>
            <a:ext cx="4151376" cy="201168"/>
          </a:xfrm>
          <a:prstGeom prst="rect">
            <a:avLst/>
          </a:prstGeom>
          <a:noFill/>
        </p:spPr>
        <p:txBody>
          <a:bodyPr wrap="square" lIns="0" tIns="0" rIns="0" bIns="0">
            <a:spAutoFit/>
          </a:bodyPr>
          <a:lstStyle/>
          <a:p>
            <a:pPr algn="l">
              <a:lnSpc>
                <a:spcPct val="110000"/>
              </a:lnSpc>
              <a:spcAft>
                <a:spcPts val="0"/>
              </a:spcAft>
            </a:pPr>
            <a:r>
              <a:rPr sz="900" b="0">
                <a:solidFill>
                  <a:srgbClr val="4338CA"/>
                </a:solidFill>
                <a:latin typeface="Menlo"/>
              </a:rPr>
              <a:t>CHECK status IN ('scheduled', …)</a:t>
            </a:r>
          </a:p>
        </p:txBody>
      </p:sp>
      <p:sp>
        <p:nvSpPr>
          <p:cNvPr id="46" name="TextBox 45"/>
          <p:cNvSpPr txBox="1"/>
          <p:nvPr/>
        </p:nvSpPr>
        <p:spPr>
          <a:xfrm>
            <a:off x="731520" y="5961888"/>
            <a:ext cx="10698480" cy="274320"/>
          </a:xfrm>
          <a:prstGeom prst="rect">
            <a:avLst/>
          </a:prstGeom>
          <a:noFill/>
        </p:spPr>
        <p:txBody>
          <a:bodyPr wrap="square" lIns="0" tIns="0" rIns="0" bIns="0">
            <a:spAutoFit/>
          </a:bodyPr>
          <a:lstStyle/>
          <a:p>
            <a:pPr algn="l">
              <a:lnSpc>
                <a:spcPct val="110000"/>
              </a:lnSpc>
              <a:spcAft>
                <a:spcPts val="0"/>
              </a:spcAft>
            </a:pPr>
            <a:r>
              <a:rPr sz="1100" b="1">
                <a:solidFill>
                  <a:srgbClr val="4338CA"/>
                </a:solidFill>
                <a:latin typeface="Helvetica Neue"/>
              </a:rPr>
              <a:t>La regla de negocio no se confía a la aplicación:  </a:t>
            </a:r>
            <a:r>
              <a:rPr sz="1100" b="0">
                <a:solidFill>
                  <a:srgbClr val="6E747E"/>
                </a:solidFill>
                <a:latin typeface="Helvetica Neue"/>
              </a:rPr>
              <a:t>cada una es una restricción del esquema, y cada restricción llegó en una migración versionada.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8F6"/>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31520" y="475488"/>
            <a:ext cx="10728655" cy="228600"/>
          </a:xfrm>
          <a:prstGeom prst="rect">
            <a:avLst/>
          </a:prstGeom>
          <a:noFill/>
        </p:spPr>
        <p:txBody>
          <a:bodyPr wrap="square" lIns="0" tIns="0" rIns="0" bIns="0">
            <a:spAutoFit/>
          </a:bodyPr>
          <a:lstStyle/>
          <a:p>
            <a:pPr algn="l">
              <a:lnSpc>
                <a:spcPct val="110000"/>
              </a:lnSpc>
              <a:spcAft>
                <a:spcPts val="0"/>
              </a:spcAft>
            </a:pPr>
            <a:r>
              <a:rPr sz="1050" b="1">
                <a:solidFill>
                  <a:srgbClr val="4338CA"/>
                </a:solidFill>
                <a:latin typeface="Helvetica Neue"/>
              </a:rPr>
              <a:t>MODELO DE DATOS</a:t>
            </a:r>
          </a:p>
        </p:txBody>
      </p:sp>
      <p:sp>
        <p:nvSpPr>
          <p:cNvPr id="4" name="TextBox 3"/>
          <p:cNvSpPr txBox="1"/>
          <p:nvPr/>
        </p:nvSpPr>
        <p:spPr>
          <a:xfrm>
            <a:off x="731520" y="749808"/>
            <a:ext cx="10728655" cy="548640"/>
          </a:xfrm>
          <a:prstGeom prst="rect">
            <a:avLst/>
          </a:prstGeom>
          <a:noFill/>
        </p:spPr>
        <p:txBody>
          <a:bodyPr wrap="square" lIns="0" tIns="0" rIns="0" bIns="0">
            <a:spAutoFit/>
          </a:bodyPr>
          <a:lstStyle/>
          <a:p>
            <a:pPr algn="l">
              <a:lnSpc>
                <a:spcPct val="110000"/>
              </a:lnSpc>
              <a:spcAft>
                <a:spcPts val="0"/>
              </a:spcAft>
            </a:pPr>
            <a:r>
              <a:rPr sz="3100" b="1">
                <a:solidFill>
                  <a:srgbClr val="21252D"/>
                </a:solidFill>
                <a:latin typeface="Helvetica Neue"/>
              </a:rPr>
              <a:t>Diagrama entidad-relación</a:t>
            </a:r>
          </a:p>
        </p:txBody>
      </p:sp>
      <p:sp>
        <p:nvSpPr>
          <p:cNvPr id="5" name="TextBox 4"/>
          <p:cNvSpPr txBox="1"/>
          <p:nvPr/>
        </p:nvSpPr>
        <p:spPr>
          <a:xfrm>
            <a:off x="10362895" y="457200"/>
            <a:ext cx="1097280" cy="365760"/>
          </a:xfrm>
          <a:prstGeom prst="rect">
            <a:avLst/>
          </a:prstGeom>
          <a:noFill/>
        </p:spPr>
        <p:txBody>
          <a:bodyPr wrap="square" lIns="0" tIns="0" rIns="0" bIns="0">
            <a:spAutoFit/>
          </a:bodyPr>
          <a:lstStyle/>
          <a:p>
            <a:pPr algn="r">
              <a:lnSpc>
                <a:spcPct val="110000"/>
              </a:lnSpc>
              <a:spcAft>
                <a:spcPts val="0"/>
              </a:spcAft>
            </a:pPr>
            <a:r>
              <a:rPr sz="1300" b="1">
                <a:solidFill>
                  <a:srgbClr val="E3E2DC"/>
                </a:solidFill>
                <a:latin typeface="Helvetica Neue"/>
              </a:rPr>
              <a:t>04</a:t>
            </a:r>
          </a:p>
        </p:txBody>
      </p:sp>
      <p:sp>
        <p:nvSpPr>
          <p:cNvPr id="6" name="Rectangle 5"/>
          <p:cNvSpPr/>
          <p:nvPr/>
        </p:nvSpPr>
        <p:spPr>
          <a:xfrm>
            <a:off x="731520" y="1417320"/>
            <a:ext cx="10728655" cy="11430"/>
          </a:xfrm>
          <a:prstGeom prst="rect">
            <a:avLst/>
          </a:prstGeom>
          <a:solidFill>
            <a:srgbClr val="E3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31520" y="6355080"/>
            <a:ext cx="10728655" cy="228600"/>
          </a:xfrm>
          <a:prstGeom prst="rect">
            <a:avLst/>
          </a:prstGeom>
          <a:noFill/>
        </p:spPr>
        <p:txBody>
          <a:bodyPr wrap="square" lIns="0" tIns="0" rIns="0" bIns="0">
            <a:spAutoFit/>
          </a:bodyPr>
          <a:lstStyle/>
          <a:p>
            <a:pPr algn="l">
              <a:lnSpc>
                <a:spcPct val="110000"/>
              </a:lnSpc>
              <a:spcAft>
                <a:spcPts val="0"/>
              </a:spcAft>
            </a:pPr>
            <a:r>
              <a:rPr sz="950" b="0">
                <a:solidFill>
                  <a:srgbClr val="E3E2DC"/>
                </a:solidFill>
                <a:latin typeface="Helvetica Neue"/>
              </a:rPr>
              <a:t>CI/CD en Base de Datos  ·  SI6010-5979  ·  Torneos deportivos</a:t>
            </a:r>
          </a:p>
        </p:txBody>
      </p:sp>
      <p:cxnSp>
        <p:nvCxnSpPr>
          <p:cNvPr id="8" name="Connector 7"/>
          <p:cNvCxnSpPr/>
          <p:nvPr/>
        </p:nvCxnSpPr>
        <p:spPr>
          <a:xfrm>
            <a:off x="2926080" y="2167128"/>
            <a:ext cx="649224" cy="0"/>
          </a:xfrm>
          <a:prstGeom prst="line">
            <a:avLst/>
          </a:prstGeom>
          <a:ln w="15875">
            <a:solidFill>
              <a:srgbClr val="E3E2DC"/>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926080" y="2167128"/>
            <a:ext cx="649224" cy="841248"/>
          </a:xfrm>
          <a:prstGeom prst="line">
            <a:avLst/>
          </a:prstGeom>
          <a:ln w="15875">
            <a:solidFill>
              <a:srgbClr val="E3E2DC"/>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769864" y="2167128"/>
            <a:ext cx="649224" cy="0"/>
          </a:xfrm>
          <a:prstGeom prst="line">
            <a:avLst/>
          </a:prstGeom>
          <a:ln w="15875">
            <a:solidFill>
              <a:srgbClr val="E3E2DC"/>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769864" y="2167128"/>
            <a:ext cx="649224" cy="1682496"/>
          </a:xfrm>
          <a:prstGeom prst="line">
            <a:avLst/>
          </a:prstGeom>
          <a:ln w="15875">
            <a:solidFill>
              <a:srgbClr val="E3E2D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769864" y="3008376"/>
            <a:ext cx="649224" cy="841248"/>
          </a:xfrm>
          <a:prstGeom prst="line">
            <a:avLst/>
          </a:prstGeom>
          <a:ln w="15875">
            <a:solidFill>
              <a:srgbClr val="E3E2D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926080" y="3849624"/>
            <a:ext cx="3493008" cy="0"/>
          </a:xfrm>
          <a:prstGeom prst="line">
            <a:avLst/>
          </a:prstGeom>
          <a:ln w="15875">
            <a:solidFill>
              <a:srgbClr val="E3E2DC"/>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926080" y="3849624"/>
            <a:ext cx="3493008" cy="841248"/>
          </a:xfrm>
          <a:prstGeom prst="line">
            <a:avLst/>
          </a:prstGeom>
          <a:ln w="15875">
            <a:solidFill>
              <a:srgbClr val="157F4C"/>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613648" y="3849624"/>
            <a:ext cx="649224" cy="0"/>
          </a:xfrm>
          <a:prstGeom prst="line">
            <a:avLst/>
          </a:prstGeom>
          <a:ln w="15875">
            <a:solidFill>
              <a:srgbClr val="E3E2DC"/>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31520" y="1828800"/>
            <a:ext cx="2194560" cy="676656"/>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731520" y="1828800"/>
            <a:ext cx="41148" cy="676656"/>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14400" y="1947672"/>
            <a:ext cx="1920240" cy="201168"/>
          </a:xfrm>
          <a:prstGeom prst="rect">
            <a:avLst/>
          </a:prstGeom>
          <a:noFill/>
        </p:spPr>
        <p:txBody>
          <a:bodyPr wrap="square" lIns="0" tIns="0" rIns="0" bIns="0">
            <a:spAutoFit/>
          </a:bodyPr>
          <a:lstStyle/>
          <a:p>
            <a:pPr algn="l">
              <a:lnSpc>
                <a:spcPct val="110000"/>
              </a:lnSpc>
              <a:spcAft>
                <a:spcPts val="0"/>
              </a:spcAft>
            </a:pPr>
            <a:r>
              <a:rPr sz="1150" b="1">
                <a:solidFill>
                  <a:srgbClr val="21252D"/>
                </a:solidFill>
                <a:latin typeface="Menlo"/>
              </a:rPr>
              <a:t>sports</a:t>
            </a:r>
          </a:p>
        </p:txBody>
      </p:sp>
      <p:sp>
        <p:nvSpPr>
          <p:cNvPr id="19" name="TextBox 18"/>
          <p:cNvSpPr txBox="1"/>
          <p:nvPr/>
        </p:nvSpPr>
        <p:spPr>
          <a:xfrm>
            <a:off x="914400" y="2194560"/>
            <a:ext cx="1920240" cy="201168"/>
          </a:xfrm>
          <a:prstGeom prst="rect">
            <a:avLst/>
          </a:prstGeom>
          <a:noFill/>
        </p:spPr>
        <p:txBody>
          <a:bodyPr wrap="square" lIns="0" tIns="0" rIns="0" bIns="0">
            <a:spAutoFit/>
          </a:bodyPr>
          <a:lstStyle/>
          <a:p>
            <a:pPr algn="l">
              <a:lnSpc>
                <a:spcPct val="110000"/>
              </a:lnSpc>
              <a:spcAft>
                <a:spcPts val="0"/>
              </a:spcAft>
            </a:pPr>
            <a:r>
              <a:rPr sz="780" b="0">
                <a:solidFill>
                  <a:srgbClr val="6E747E"/>
                </a:solidFill>
                <a:latin typeface="Helvetica Neue"/>
              </a:rPr>
              <a:t>name · type</a:t>
            </a:r>
          </a:p>
        </p:txBody>
      </p:sp>
      <p:sp>
        <p:nvSpPr>
          <p:cNvPr id="20" name="Rectangle 19"/>
          <p:cNvSpPr/>
          <p:nvPr/>
        </p:nvSpPr>
        <p:spPr>
          <a:xfrm>
            <a:off x="731520" y="3511296"/>
            <a:ext cx="2194560" cy="676656"/>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731520" y="3511296"/>
            <a:ext cx="41148" cy="676656"/>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914400" y="3630168"/>
            <a:ext cx="1920240" cy="201168"/>
          </a:xfrm>
          <a:prstGeom prst="rect">
            <a:avLst/>
          </a:prstGeom>
          <a:noFill/>
        </p:spPr>
        <p:txBody>
          <a:bodyPr wrap="square" lIns="0" tIns="0" rIns="0" bIns="0">
            <a:spAutoFit/>
          </a:bodyPr>
          <a:lstStyle/>
          <a:p>
            <a:pPr algn="l">
              <a:lnSpc>
                <a:spcPct val="110000"/>
              </a:lnSpc>
              <a:spcAft>
                <a:spcPts val="0"/>
              </a:spcAft>
            </a:pPr>
            <a:r>
              <a:rPr sz="1150" b="1">
                <a:solidFill>
                  <a:srgbClr val="21252D"/>
                </a:solidFill>
                <a:latin typeface="Menlo"/>
              </a:rPr>
              <a:t>venues</a:t>
            </a:r>
          </a:p>
        </p:txBody>
      </p:sp>
      <p:sp>
        <p:nvSpPr>
          <p:cNvPr id="23" name="TextBox 22"/>
          <p:cNvSpPr txBox="1"/>
          <p:nvPr/>
        </p:nvSpPr>
        <p:spPr>
          <a:xfrm>
            <a:off x="914400" y="3877056"/>
            <a:ext cx="1920240" cy="201168"/>
          </a:xfrm>
          <a:prstGeom prst="rect">
            <a:avLst/>
          </a:prstGeom>
          <a:noFill/>
        </p:spPr>
        <p:txBody>
          <a:bodyPr wrap="square" lIns="0" tIns="0" rIns="0" bIns="0">
            <a:spAutoFit/>
          </a:bodyPr>
          <a:lstStyle/>
          <a:p>
            <a:pPr algn="l">
              <a:lnSpc>
                <a:spcPct val="110000"/>
              </a:lnSpc>
              <a:spcAft>
                <a:spcPts val="0"/>
              </a:spcAft>
            </a:pPr>
            <a:r>
              <a:rPr sz="780" b="0">
                <a:solidFill>
                  <a:srgbClr val="6E747E"/>
                </a:solidFill>
                <a:latin typeface="Helvetica Neue"/>
              </a:rPr>
              <a:t>name · city · capacity</a:t>
            </a:r>
          </a:p>
        </p:txBody>
      </p:sp>
      <p:sp>
        <p:nvSpPr>
          <p:cNvPr id="24" name="Rectangle 23"/>
          <p:cNvSpPr/>
          <p:nvPr/>
        </p:nvSpPr>
        <p:spPr>
          <a:xfrm>
            <a:off x="731520" y="4352544"/>
            <a:ext cx="2194560" cy="676656"/>
          </a:xfrm>
          <a:prstGeom prst="rect">
            <a:avLst/>
          </a:prstGeom>
          <a:solidFill>
            <a:srgbClr val="FFFFFF"/>
          </a:solidFill>
          <a:ln w="12700">
            <a:solidFill>
              <a:srgbClr val="157F4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731520" y="4352544"/>
            <a:ext cx="41148" cy="676656"/>
          </a:xfrm>
          <a:prstGeom prst="rect">
            <a:avLst/>
          </a:prstGeom>
          <a:solidFill>
            <a:srgbClr val="157F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914400" y="4471416"/>
            <a:ext cx="1920240" cy="201168"/>
          </a:xfrm>
          <a:prstGeom prst="rect">
            <a:avLst/>
          </a:prstGeom>
          <a:noFill/>
        </p:spPr>
        <p:txBody>
          <a:bodyPr wrap="square" lIns="0" tIns="0" rIns="0" bIns="0">
            <a:spAutoFit/>
          </a:bodyPr>
          <a:lstStyle/>
          <a:p>
            <a:pPr algn="l">
              <a:lnSpc>
                <a:spcPct val="110000"/>
              </a:lnSpc>
              <a:spcAft>
                <a:spcPts val="0"/>
              </a:spcAft>
            </a:pPr>
            <a:r>
              <a:rPr sz="1150" b="1">
                <a:solidFill>
                  <a:srgbClr val="21252D"/>
                </a:solidFill>
                <a:latin typeface="Menlo"/>
              </a:rPr>
              <a:t>referees</a:t>
            </a:r>
          </a:p>
        </p:txBody>
      </p:sp>
      <p:sp>
        <p:nvSpPr>
          <p:cNvPr id="27" name="TextBox 26"/>
          <p:cNvSpPr txBox="1"/>
          <p:nvPr/>
        </p:nvSpPr>
        <p:spPr>
          <a:xfrm>
            <a:off x="914400" y="4718304"/>
            <a:ext cx="1920240" cy="201168"/>
          </a:xfrm>
          <a:prstGeom prst="rect">
            <a:avLst/>
          </a:prstGeom>
          <a:noFill/>
        </p:spPr>
        <p:txBody>
          <a:bodyPr wrap="square" lIns="0" tIns="0" rIns="0" bIns="0">
            <a:spAutoFit/>
          </a:bodyPr>
          <a:lstStyle/>
          <a:p>
            <a:pPr algn="l">
              <a:lnSpc>
                <a:spcPct val="110000"/>
              </a:lnSpc>
              <a:spcAft>
                <a:spcPts val="0"/>
              </a:spcAft>
            </a:pPr>
            <a:r>
              <a:rPr sz="780" b="0">
                <a:solidFill>
                  <a:srgbClr val="6E747E"/>
                </a:solidFill>
                <a:latin typeface="Helvetica Neue"/>
              </a:rPr>
              <a:t>nombre · certified_at</a:t>
            </a:r>
          </a:p>
        </p:txBody>
      </p:sp>
      <p:sp>
        <p:nvSpPr>
          <p:cNvPr id="28" name="Rectangle 27"/>
          <p:cNvSpPr/>
          <p:nvPr/>
        </p:nvSpPr>
        <p:spPr>
          <a:xfrm>
            <a:off x="3575304" y="1828800"/>
            <a:ext cx="2194560" cy="676656"/>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ectangle 28"/>
          <p:cNvSpPr/>
          <p:nvPr/>
        </p:nvSpPr>
        <p:spPr>
          <a:xfrm>
            <a:off x="3575304" y="1828800"/>
            <a:ext cx="41148" cy="676656"/>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3758184" y="1947672"/>
            <a:ext cx="1920240" cy="201168"/>
          </a:xfrm>
          <a:prstGeom prst="rect">
            <a:avLst/>
          </a:prstGeom>
          <a:noFill/>
        </p:spPr>
        <p:txBody>
          <a:bodyPr wrap="square" lIns="0" tIns="0" rIns="0" bIns="0">
            <a:spAutoFit/>
          </a:bodyPr>
          <a:lstStyle/>
          <a:p>
            <a:pPr algn="l">
              <a:lnSpc>
                <a:spcPct val="110000"/>
              </a:lnSpc>
              <a:spcAft>
                <a:spcPts val="0"/>
              </a:spcAft>
            </a:pPr>
            <a:r>
              <a:rPr sz="1150" b="1">
                <a:solidFill>
                  <a:srgbClr val="21252D"/>
                </a:solidFill>
                <a:latin typeface="Menlo"/>
              </a:rPr>
              <a:t>teams</a:t>
            </a:r>
          </a:p>
        </p:txBody>
      </p:sp>
      <p:sp>
        <p:nvSpPr>
          <p:cNvPr id="31" name="TextBox 30"/>
          <p:cNvSpPr txBox="1"/>
          <p:nvPr/>
        </p:nvSpPr>
        <p:spPr>
          <a:xfrm>
            <a:off x="3758184" y="2194560"/>
            <a:ext cx="1920240" cy="201168"/>
          </a:xfrm>
          <a:prstGeom prst="rect">
            <a:avLst/>
          </a:prstGeom>
          <a:noFill/>
        </p:spPr>
        <p:txBody>
          <a:bodyPr wrap="square" lIns="0" tIns="0" rIns="0" bIns="0">
            <a:spAutoFit/>
          </a:bodyPr>
          <a:lstStyle/>
          <a:p>
            <a:pPr algn="l">
              <a:lnSpc>
                <a:spcPct val="110000"/>
              </a:lnSpc>
              <a:spcAft>
                <a:spcPts val="0"/>
              </a:spcAft>
            </a:pPr>
            <a:r>
              <a:rPr sz="780" b="0">
                <a:solidFill>
                  <a:srgbClr val="6E747E"/>
                </a:solidFill>
                <a:latin typeface="Helvetica Neue"/>
              </a:rPr>
              <a:t>name · sport_id · founded_year</a:t>
            </a:r>
          </a:p>
        </p:txBody>
      </p:sp>
      <p:sp>
        <p:nvSpPr>
          <p:cNvPr id="32" name="Rectangle 31"/>
          <p:cNvSpPr/>
          <p:nvPr/>
        </p:nvSpPr>
        <p:spPr>
          <a:xfrm>
            <a:off x="3575304" y="2670048"/>
            <a:ext cx="2194560" cy="676656"/>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ectangle 32"/>
          <p:cNvSpPr/>
          <p:nvPr/>
        </p:nvSpPr>
        <p:spPr>
          <a:xfrm>
            <a:off x="3575304" y="2670048"/>
            <a:ext cx="41148" cy="676656"/>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3758184" y="2788920"/>
            <a:ext cx="1920240" cy="201168"/>
          </a:xfrm>
          <a:prstGeom prst="rect">
            <a:avLst/>
          </a:prstGeom>
          <a:noFill/>
        </p:spPr>
        <p:txBody>
          <a:bodyPr wrap="square" lIns="0" tIns="0" rIns="0" bIns="0">
            <a:spAutoFit/>
          </a:bodyPr>
          <a:lstStyle/>
          <a:p>
            <a:pPr algn="l">
              <a:lnSpc>
                <a:spcPct val="110000"/>
              </a:lnSpc>
              <a:spcAft>
                <a:spcPts val="0"/>
              </a:spcAft>
            </a:pPr>
            <a:r>
              <a:rPr sz="1150" b="1">
                <a:solidFill>
                  <a:srgbClr val="21252D"/>
                </a:solidFill>
                <a:latin typeface="Menlo"/>
              </a:rPr>
              <a:t>tournaments</a:t>
            </a:r>
          </a:p>
        </p:txBody>
      </p:sp>
      <p:sp>
        <p:nvSpPr>
          <p:cNvPr id="35" name="TextBox 34"/>
          <p:cNvSpPr txBox="1"/>
          <p:nvPr/>
        </p:nvSpPr>
        <p:spPr>
          <a:xfrm>
            <a:off x="3758184" y="3035808"/>
            <a:ext cx="1920240" cy="201168"/>
          </a:xfrm>
          <a:prstGeom prst="rect">
            <a:avLst/>
          </a:prstGeom>
          <a:noFill/>
        </p:spPr>
        <p:txBody>
          <a:bodyPr wrap="square" lIns="0" tIns="0" rIns="0" bIns="0">
            <a:spAutoFit/>
          </a:bodyPr>
          <a:lstStyle/>
          <a:p>
            <a:pPr algn="l">
              <a:lnSpc>
                <a:spcPct val="110000"/>
              </a:lnSpc>
              <a:spcAft>
                <a:spcPts val="0"/>
              </a:spcAft>
            </a:pPr>
            <a:r>
              <a:rPr sz="780" b="0">
                <a:solidFill>
                  <a:srgbClr val="6E747E"/>
                </a:solidFill>
                <a:latin typeface="Helvetica Neue"/>
              </a:rPr>
              <a:t>sport_id · season · format</a:t>
            </a:r>
          </a:p>
        </p:txBody>
      </p:sp>
      <p:sp>
        <p:nvSpPr>
          <p:cNvPr id="36" name="Rectangle 35"/>
          <p:cNvSpPr/>
          <p:nvPr/>
        </p:nvSpPr>
        <p:spPr>
          <a:xfrm>
            <a:off x="6419088" y="1828800"/>
            <a:ext cx="2194560" cy="676656"/>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Rectangle 36"/>
          <p:cNvSpPr/>
          <p:nvPr/>
        </p:nvSpPr>
        <p:spPr>
          <a:xfrm>
            <a:off x="6419088" y="1828800"/>
            <a:ext cx="41148" cy="676656"/>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6601968" y="1947672"/>
            <a:ext cx="1920240" cy="201168"/>
          </a:xfrm>
          <a:prstGeom prst="rect">
            <a:avLst/>
          </a:prstGeom>
          <a:noFill/>
        </p:spPr>
        <p:txBody>
          <a:bodyPr wrap="square" lIns="0" tIns="0" rIns="0" bIns="0">
            <a:spAutoFit/>
          </a:bodyPr>
          <a:lstStyle/>
          <a:p>
            <a:pPr algn="l">
              <a:lnSpc>
                <a:spcPct val="110000"/>
              </a:lnSpc>
              <a:spcAft>
                <a:spcPts val="0"/>
              </a:spcAft>
            </a:pPr>
            <a:r>
              <a:rPr sz="1150" b="1">
                <a:solidFill>
                  <a:srgbClr val="21252D"/>
                </a:solidFill>
                <a:latin typeface="Menlo"/>
              </a:rPr>
              <a:t>players</a:t>
            </a:r>
          </a:p>
        </p:txBody>
      </p:sp>
      <p:sp>
        <p:nvSpPr>
          <p:cNvPr id="39" name="TextBox 38"/>
          <p:cNvSpPr txBox="1"/>
          <p:nvPr/>
        </p:nvSpPr>
        <p:spPr>
          <a:xfrm>
            <a:off x="6601968" y="2194560"/>
            <a:ext cx="1920240" cy="201168"/>
          </a:xfrm>
          <a:prstGeom prst="rect">
            <a:avLst/>
          </a:prstGeom>
          <a:noFill/>
        </p:spPr>
        <p:txBody>
          <a:bodyPr wrap="square" lIns="0" tIns="0" rIns="0" bIns="0">
            <a:spAutoFit/>
          </a:bodyPr>
          <a:lstStyle/>
          <a:p>
            <a:pPr algn="l">
              <a:lnSpc>
                <a:spcPct val="110000"/>
              </a:lnSpc>
              <a:spcAft>
                <a:spcPts val="0"/>
              </a:spcAft>
            </a:pPr>
            <a:r>
              <a:rPr sz="780" b="0">
                <a:solidFill>
                  <a:srgbClr val="6E747E"/>
                </a:solidFill>
                <a:latin typeface="Helvetica Neue"/>
              </a:rPr>
              <a:t>team_id · position · jersey_number</a:t>
            </a:r>
          </a:p>
        </p:txBody>
      </p:sp>
      <p:sp>
        <p:nvSpPr>
          <p:cNvPr id="40" name="Rectangle 39"/>
          <p:cNvSpPr/>
          <p:nvPr/>
        </p:nvSpPr>
        <p:spPr>
          <a:xfrm>
            <a:off x="6419088" y="3511296"/>
            <a:ext cx="2194560" cy="676656"/>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Rectangle 40"/>
          <p:cNvSpPr/>
          <p:nvPr/>
        </p:nvSpPr>
        <p:spPr>
          <a:xfrm>
            <a:off x="6419088" y="3511296"/>
            <a:ext cx="41148" cy="676656"/>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6601968" y="3630168"/>
            <a:ext cx="1920240" cy="201168"/>
          </a:xfrm>
          <a:prstGeom prst="rect">
            <a:avLst/>
          </a:prstGeom>
          <a:noFill/>
        </p:spPr>
        <p:txBody>
          <a:bodyPr wrap="square" lIns="0" tIns="0" rIns="0" bIns="0">
            <a:spAutoFit/>
          </a:bodyPr>
          <a:lstStyle/>
          <a:p>
            <a:pPr algn="l">
              <a:lnSpc>
                <a:spcPct val="110000"/>
              </a:lnSpc>
              <a:spcAft>
                <a:spcPts val="0"/>
              </a:spcAft>
            </a:pPr>
            <a:r>
              <a:rPr sz="1150" b="1">
                <a:solidFill>
                  <a:srgbClr val="21252D"/>
                </a:solidFill>
                <a:latin typeface="Menlo"/>
              </a:rPr>
              <a:t>matches</a:t>
            </a:r>
          </a:p>
        </p:txBody>
      </p:sp>
      <p:sp>
        <p:nvSpPr>
          <p:cNvPr id="43" name="TextBox 42"/>
          <p:cNvSpPr txBox="1"/>
          <p:nvPr/>
        </p:nvSpPr>
        <p:spPr>
          <a:xfrm>
            <a:off x="6601968" y="3877056"/>
            <a:ext cx="1920240" cy="201168"/>
          </a:xfrm>
          <a:prstGeom prst="rect">
            <a:avLst/>
          </a:prstGeom>
          <a:noFill/>
        </p:spPr>
        <p:txBody>
          <a:bodyPr wrap="square" lIns="0" tIns="0" rIns="0" bIns="0">
            <a:spAutoFit/>
          </a:bodyPr>
          <a:lstStyle/>
          <a:p>
            <a:pPr algn="l">
              <a:lnSpc>
                <a:spcPct val="110000"/>
              </a:lnSpc>
              <a:spcAft>
                <a:spcPts val="0"/>
              </a:spcAft>
            </a:pPr>
            <a:r>
              <a:rPr sz="780" b="0">
                <a:solidFill>
                  <a:srgbClr val="6E747E"/>
                </a:solidFill>
                <a:latin typeface="Helvetica Neue"/>
              </a:rPr>
              <a:t>tournament · teams · venue · referee</a:t>
            </a:r>
          </a:p>
        </p:txBody>
      </p:sp>
      <p:sp>
        <p:nvSpPr>
          <p:cNvPr id="44" name="Rectangle 43"/>
          <p:cNvSpPr/>
          <p:nvPr/>
        </p:nvSpPr>
        <p:spPr>
          <a:xfrm>
            <a:off x="9262872" y="3511296"/>
            <a:ext cx="2194560" cy="676656"/>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Rectangle 44"/>
          <p:cNvSpPr/>
          <p:nvPr/>
        </p:nvSpPr>
        <p:spPr>
          <a:xfrm>
            <a:off x="9262872" y="3511296"/>
            <a:ext cx="41148" cy="676656"/>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9445752" y="3630168"/>
            <a:ext cx="1920240" cy="201168"/>
          </a:xfrm>
          <a:prstGeom prst="rect">
            <a:avLst/>
          </a:prstGeom>
          <a:noFill/>
        </p:spPr>
        <p:txBody>
          <a:bodyPr wrap="square" lIns="0" tIns="0" rIns="0" bIns="0">
            <a:spAutoFit/>
          </a:bodyPr>
          <a:lstStyle/>
          <a:p>
            <a:pPr algn="l">
              <a:lnSpc>
                <a:spcPct val="110000"/>
              </a:lnSpc>
              <a:spcAft>
                <a:spcPts val="0"/>
              </a:spcAft>
            </a:pPr>
            <a:r>
              <a:rPr sz="1150" b="1">
                <a:solidFill>
                  <a:srgbClr val="21252D"/>
                </a:solidFill>
                <a:latin typeface="Menlo"/>
              </a:rPr>
              <a:t>match_scores</a:t>
            </a:r>
          </a:p>
        </p:txBody>
      </p:sp>
      <p:sp>
        <p:nvSpPr>
          <p:cNvPr id="47" name="TextBox 46"/>
          <p:cNvSpPr txBox="1"/>
          <p:nvPr/>
        </p:nvSpPr>
        <p:spPr>
          <a:xfrm>
            <a:off x="9445752" y="3877056"/>
            <a:ext cx="1920240" cy="201168"/>
          </a:xfrm>
          <a:prstGeom prst="rect">
            <a:avLst/>
          </a:prstGeom>
          <a:noFill/>
        </p:spPr>
        <p:txBody>
          <a:bodyPr wrap="square" lIns="0" tIns="0" rIns="0" bIns="0">
            <a:spAutoFit/>
          </a:bodyPr>
          <a:lstStyle/>
          <a:p>
            <a:pPr algn="l">
              <a:lnSpc>
                <a:spcPct val="110000"/>
              </a:lnSpc>
              <a:spcAft>
                <a:spcPts val="0"/>
              </a:spcAft>
            </a:pPr>
            <a:r>
              <a:rPr sz="780" b="0">
                <a:solidFill>
                  <a:srgbClr val="6E747E"/>
                </a:solidFill>
                <a:latin typeface="Helvetica Neue"/>
              </a:rPr>
              <a:t>match_id · home · away</a:t>
            </a:r>
          </a:p>
        </p:txBody>
      </p:sp>
      <p:sp>
        <p:nvSpPr>
          <p:cNvPr id="48" name="TextBox 47"/>
          <p:cNvSpPr txBox="1"/>
          <p:nvPr/>
        </p:nvSpPr>
        <p:spPr>
          <a:xfrm>
            <a:off x="731520" y="1572768"/>
            <a:ext cx="2194560" cy="182880"/>
          </a:xfrm>
          <a:prstGeom prst="rect">
            <a:avLst/>
          </a:prstGeom>
          <a:noFill/>
        </p:spPr>
        <p:txBody>
          <a:bodyPr wrap="square" lIns="0" tIns="0" rIns="0" bIns="0">
            <a:spAutoFit/>
          </a:bodyPr>
          <a:lstStyle/>
          <a:p>
            <a:pPr algn="l">
              <a:lnSpc>
                <a:spcPct val="110000"/>
              </a:lnSpc>
              <a:spcAft>
                <a:spcPts val="0"/>
              </a:spcAft>
            </a:pPr>
            <a:r>
              <a:rPr sz="850" b="1">
                <a:solidFill>
                  <a:srgbClr val="E3E2DC"/>
                </a:solidFill>
                <a:latin typeface="Helvetica Neue"/>
              </a:rPr>
              <a:t>CATÁLOGO</a:t>
            </a:r>
          </a:p>
        </p:txBody>
      </p:sp>
      <p:sp>
        <p:nvSpPr>
          <p:cNvPr id="49" name="TextBox 48"/>
          <p:cNvSpPr txBox="1"/>
          <p:nvPr/>
        </p:nvSpPr>
        <p:spPr>
          <a:xfrm>
            <a:off x="3575304" y="1572768"/>
            <a:ext cx="2194560" cy="182880"/>
          </a:xfrm>
          <a:prstGeom prst="rect">
            <a:avLst/>
          </a:prstGeom>
          <a:noFill/>
        </p:spPr>
        <p:txBody>
          <a:bodyPr wrap="square" lIns="0" tIns="0" rIns="0" bIns="0">
            <a:spAutoFit/>
          </a:bodyPr>
          <a:lstStyle/>
          <a:p>
            <a:pPr algn="l">
              <a:lnSpc>
                <a:spcPct val="110000"/>
              </a:lnSpc>
              <a:spcAft>
                <a:spcPts val="0"/>
              </a:spcAft>
            </a:pPr>
            <a:r>
              <a:rPr sz="850" b="1">
                <a:solidFill>
                  <a:srgbClr val="E3E2DC"/>
                </a:solidFill>
                <a:latin typeface="Helvetica Neue"/>
              </a:rPr>
              <a:t>ESTRUCTURA</a:t>
            </a:r>
          </a:p>
        </p:txBody>
      </p:sp>
      <p:sp>
        <p:nvSpPr>
          <p:cNvPr id="50" name="TextBox 49"/>
          <p:cNvSpPr txBox="1"/>
          <p:nvPr/>
        </p:nvSpPr>
        <p:spPr>
          <a:xfrm>
            <a:off x="6419088" y="1572768"/>
            <a:ext cx="2194560" cy="182880"/>
          </a:xfrm>
          <a:prstGeom prst="rect">
            <a:avLst/>
          </a:prstGeom>
          <a:noFill/>
        </p:spPr>
        <p:txBody>
          <a:bodyPr wrap="square" lIns="0" tIns="0" rIns="0" bIns="0">
            <a:spAutoFit/>
          </a:bodyPr>
          <a:lstStyle/>
          <a:p>
            <a:pPr algn="l">
              <a:lnSpc>
                <a:spcPct val="110000"/>
              </a:lnSpc>
              <a:spcAft>
                <a:spcPts val="0"/>
              </a:spcAft>
            </a:pPr>
            <a:r>
              <a:rPr sz="850" b="1">
                <a:solidFill>
                  <a:srgbClr val="E3E2DC"/>
                </a:solidFill>
                <a:latin typeface="Helvetica Neue"/>
              </a:rPr>
              <a:t>COMPETENCIA</a:t>
            </a:r>
          </a:p>
        </p:txBody>
      </p:sp>
      <p:sp>
        <p:nvSpPr>
          <p:cNvPr id="51" name="TextBox 50"/>
          <p:cNvSpPr txBox="1"/>
          <p:nvPr/>
        </p:nvSpPr>
        <p:spPr>
          <a:xfrm>
            <a:off x="9262872" y="1572768"/>
            <a:ext cx="2194560" cy="182880"/>
          </a:xfrm>
          <a:prstGeom prst="rect">
            <a:avLst/>
          </a:prstGeom>
          <a:noFill/>
        </p:spPr>
        <p:txBody>
          <a:bodyPr wrap="square" lIns="0" tIns="0" rIns="0" bIns="0">
            <a:spAutoFit/>
          </a:bodyPr>
          <a:lstStyle/>
          <a:p>
            <a:pPr algn="l">
              <a:lnSpc>
                <a:spcPct val="110000"/>
              </a:lnSpc>
              <a:spcAft>
                <a:spcPts val="0"/>
              </a:spcAft>
            </a:pPr>
            <a:r>
              <a:rPr sz="850" b="1">
                <a:solidFill>
                  <a:srgbClr val="E3E2DC"/>
                </a:solidFill>
                <a:latin typeface="Helvetica Neue"/>
              </a:rPr>
              <a:t>RESULTADO</a:t>
            </a:r>
          </a:p>
        </p:txBody>
      </p:sp>
      <p:sp>
        <p:nvSpPr>
          <p:cNvPr id="52" name="Rectangle 51"/>
          <p:cNvSpPr/>
          <p:nvPr/>
        </p:nvSpPr>
        <p:spPr>
          <a:xfrm>
            <a:off x="731520" y="5303520"/>
            <a:ext cx="10698480" cy="713232"/>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1005840" y="5504688"/>
            <a:ext cx="10149840" cy="365760"/>
          </a:xfrm>
          <a:prstGeom prst="rect">
            <a:avLst/>
          </a:prstGeom>
          <a:noFill/>
        </p:spPr>
        <p:txBody>
          <a:bodyPr wrap="square" lIns="0" tIns="0" rIns="0" bIns="0">
            <a:spAutoFit/>
          </a:bodyPr>
          <a:lstStyle/>
          <a:p>
            <a:pPr algn="l">
              <a:lnSpc>
                <a:spcPct val="130000"/>
              </a:lnSpc>
              <a:spcAft>
                <a:spcPts val="0"/>
              </a:spcAft>
            </a:pPr>
            <a:r>
              <a:rPr sz="1150" b="1">
                <a:solidFill>
                  <a:srgbClr val="21252D"/>
                </a:solidFill>
                <a:latin typeface="Helvetica Neue"/>
              </a:rPr>
              <a:t>8 tablas  ·  9 claves foráneas  ·  </a:t>
            </a:r>
            <a:r>
              <a:rPr sz="1150" b="0">
                <a:solidFill>
                  <a:srgbClr val="6E747E"/>
                </a:solidFill>
                <a:latin typeface="Helvetica Neue"/>
              </a:rPr>
              <a:t>referees y matches.referee_id se añadieron en V20260806090000 — el ER de docs/dominio_negocio.md refleja exactamente lo que hay aplicado en Neon.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8F6"/>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31520" y="475488"/>
            <a:ext cx="10728655" cy="228600"/>
          </a:xfrm>
          <a:prstGeom prst="rect">
            <a:avLst/>
          </a:prstGeom>
          <a:noFill/>
        </p:spPr>
        <p:txBody>
          <a:bodyPr wrap="square" lIns="0" tIns="0" rIns="0" bIns="0">
            <a:spAutoFit/>
          </a:bodyPr>
          <a:lstStyle/>
          <a:p>
            <a:pPr algn="l">
              <a:lnSpc>
                <a:spcPct val="110000"/>
              </a:lnSpc>
              <a:spcAft>
                <a:spcPts val="0"/>
              </a:spcAft>
            </a:pPr>
            <a:r>
              <a:rPr sz="1050" b="1">
                <a:solidFill>
                  <a:srgbClr val="4338CA"/>
                </a:solidFill>
                <a:latin typeface="Helvetica Neue"/>
              </a:rPr>
              <a:t>HERRAMIENTAS</a:t>
            </a:r>
          </a:p>
        </p:txBody>
      </p:sp>
      <p:sp>
        <p:nvSpPr>
          <p:cNvPr id="4" name="TextBox 3"/>
          <p:cNvSpPr txBox="1"/>
          <p:nvPr/>
        </p:nvSpPr>
        <p:spPr>
          <a:xfrm>
            <a:off x="731520" y="749808"/>
            <a:ext cx="10728655" cy="548640"/>
          </a:xfrm>
          <a:prstGeom prst="rect">
            <a:avLst/>
          </a:prstGeom>
          <a:noFill/>
        </p:spPr>
        <p:txBody>
          <a:bodyPr wrap="square" lIns="0" tIns="0" rIns="0" bIns="0">
            <a:spAutoFit/>
          </a:bodyPr>
          <a:lstStyle/>
          <a:p>
            <a:pPr algn="l">
              <a:lnSpc>
                <a:spcPct val="110000"/>
              </a:lnSpc>
              <a:spcAft>
                <a:spcPts val="0"/>
              </a:spcAft>
            </a:pPr>
            <a:r>
              <a:rPr sz="3100" b="1">
                <a:solidFill>
                  <a:srgbClr val="21252D"/>
                </a:solidFill>
                <a:latin typeface="Helvetica Neue"/>
              </a:rPr>
              <a:t>Stack tecnológico</a:t>
            </a:r>
          </a:p>
        </p:txBody>
      </p:sp>
      <p:sp>
        <p:nvSpPr>
          <p:cNvPr id="5" name="TextBox 4"/>
          <p:cNvSpPr txBox="1"/>
          <p:nvPr/>
        </p:nvSpPr>
        <p:spPr>
          <a:xfrm>
            <a:off x="10362895" y="457200"/>
            <a:ext cx="1097280" cy="365760"/>
          </a:xfrm>
          <a:prstGeom prst="rect">
            <a:avLst/>
          </a:prstGeom>
          <a:noFill/>
        </p:spPr>
        <p:txBody>
          <a:bodyPr wrap="square" lIns="0" tIns="0" rIns="0" bIns="0">
            <a:spAutoFit/>
          </a:bodyPr>
          <a:lstStyle/>
          <a:p>
            <a:pPr algn="r">
              <a:lnSpc>
                <a:spcPct val="110000"/>
              </a:lnSpc>
              <a:spcAft>
                <a:spcPts val="0"/>
              </a:spcAft>
            </a:pPr>
            <a:r>
              <a:rPr sz="1300" b="1">
                <a:solidFill>
                  <a:srgbClr val="E3E2DC"/>
                </a:solidFill>
                <a:latin typeface="Helvetica Neue"/>
              </a:rPr>
              <a:t>05</a:t>
            </a:r>
          </a:p>
        </p:txBody>
      </p:sp>
      <p:sp>
        <p:nvSpPr>
          <p:cNvPr id="6" name="Rectangle 5"/>
          <p:cNvSpPr/>
          <p:nvPr/>
        </p:nvSpPr>
        <p:spPr>
          <a:xfrm>
            <a:off x="731520" y="1417320"/>
            <a:ext cx="10728655" cy="11430"/>
          </a:xfrm>
          <a:prstGeom prst="rect">
            <a:avLst/>
          </a:prstGeom>
          <a:solidFill>
            <a:srgbClr val="E3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31520" y="6355080"/>
            <a:ext cx="10728655" cy="228600"/>
          </a:xfrm>
          <a:prstGeom prst="rect">
            <a:avLst/>
          </a:prstGeom>
          <a:noFill/>
        </p:spPr>
        <p:txBody>
          <a:bodyPr wrap="square" lIns="0" tIns="0" rIns="0" bIns="0">
            <a:spAutoFit/>
          </a:bodyPr>
          <a:lstStyle/>
          <a:p>
            <a:pPr algn="l">
              <a:lnSpc>
                <a:spcPct val="110000"/>
              </a:lnSpc>
              <a:spcAft>
                <a:spcPts val="0"/>
              </a:spcAft>
            </a:pPr>
            <a:r>
              <a:rPr sz="950" b="0">
                <a:solidFill>
                  <a:srgbClr val="E3E2DC"/>
                </a:solidFill>
                <a:latin typeface="Helvetica Neue"/>
              </a:rPr>
              <a:t>CI/CD en Base de Datos  ·  SI6010-5979  ·  Torneos deportivos</a:t>
            </a:r>
          </a:p>
        </p:txBody>
      </p:sp>
      <p:sp>
        <p:nvSpPr>
          <p:cNvPr id="8" name="Rectangle 7"/>
          <p:cNvSpPr/>
          <p:nvPr/>
        </p:nvSpPr>
        <p:spPr>
          <a:xfrm>
            <a:off x="731520" y="1874519"/>
            <a:ext cx="3383280" cy="3017520"/>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731520" y="1874519"/>
            <a:ext cx="3383280" cy="4572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24128" y="2212848"/>
            <a:ext cx="2834640" cy="320040"/>
          </a:xfrm>
          <a:prstGeom prst="rect">
            <a:avLst/>
          </a:prstGeom>
          <a:noFill/>
        </p:spPr>
        <p:txBody>
          <a:bodyPr wrap="square" lIns="0" tIns="0" rIns="0" bIns="0">
            <a:spAutoFit/>
          </a:bodyPr>
          <a:lstStyle/>
          <a:p>
            <a:pPr algn="l">
              <a:lnSpc>
                <a:spcPct val="110000"/>
              </a:lnSpc>
              <a:spcAft>
                <a:spcPts val="0"/>
              </a:spcAft>
            </a:pPr>
            <a:r>
              <a:rPr sz="1800" b="1">
                <a:solidFill>
                  <a:srgbClr val="21252D"/>
                </a:solidFill>
                <a:latin typeface="Helvetica Neue"/>
              </a:rPr>
              <a:t>Neon.tech</a:t>
            </a:r>
          </a:p>
        </p:txBody>
      </p:sp>
      <p:sp>
        <p:nvSpPr>
          <p:cNvPr id="11" name="TextBox 10"/>
          <p:cNvSpPr txBox="1"/>
          <p:nvPr/>
        </p:nvSpPr>
        <p:spPr>
          <a:xfrm>
            <a:off x="1024128" y="2633472"/>
            <a:ext cx="2834640" cy="457200"/>
          </a:xfrm>
          <a:prstGeom prst="rect">
            <a:avLst/>
          </a:prstGeom>
          <a:noFill/>
        </p:spPr>
        <p:txBody>
          <a:bodyPr wrap="square" lIns="0" tIns="0" rIns="0" bIns="0">
            <a:spAutoFit/>
          </a:bodyPr>
          <a:lstStyle/>
          <a:p>
            <a:pPr algn="l">
              <a:lnSpc>
                <a:spcPct val="130000"/>
              </a:lnSpc>
              <a:spcAft>
                <a:spcPts val="0"/>
              </a:spcAft>
            </a:pPr>
            <a:r>
              <a:rPr sz="1200" b="1">
                <a:solidFill>
                  <a:srgbClr val="4338CA"/>
                </a:solidFill>
                <a:latin typeface="Helvetica Neue"/>
              </a:rPr>
              <a:t>PostgreSQL serverless con branching nativo.</a:t>
            </a:r>
          </a:p>
        </p:txBody>
      </p:sp>
      <p:sp>
        <p:nvSpPr>
          <p:cNvPr id="12" name="TextBox 11"/>
          <p:cNvSpPr txBox="1"/>
          <p:nvPr/>
        </p:nvSpPr>
        <p:spPr>
          <a:xfrm>
            <a:off x="1024128" y="3246120"/>
            <a:ext cx="2834640" cy="1371600"/>
          </a:xfrm>
          <a:prstGeom prst="rect">
            <a:avLst/>
          </a:prstGeom>
          <a:noFill/>
        </p:spPr>
        <p:txBody>
          <a:bodyPr wrap="square" lIns="0" tIns="0" rIns="0" bIns="0">
            <a:spAutoFit/>
          </a:bodyPr>
          <a:lstStyle/>
          <a:p>
            <a:pPr algn="l">
              <a:lnSpc>
                <a:spcPct val="140000"/>
              </a:lnSpc>
              <a:spcAft>
                <a:spcPts val="0"/>
              </a:spcAft>
            </a:pPr>
            <a:r>
              <a:rPr sz="1150" b="0">
                <a:solidFill>
                  <a:srgbClr val="6E747E"/>
                </a:solidFill>
                <a:latin typeface="Helvetica Neue"/>
              </a:rPr>
              <a:t>Un branch por entorno — aislamiento real sin costo de infraestructura. El branch dev se reconstruye sin tocar producción.</a:t>
            </a:r>
          </a:p>
        </p:txBody>
      </p:sp>
      <p:sp>
        <p:nvSpPr>
          <p:cNvPr id="13" name="Rectangle 12"/>
          <p:cNvSpPr/>
          <p:nvPr/>
        </p:nvSpPr>
        <p:spPr>
          <a:xfrm>
            <a:off x="4389120" y="1874519"/>
            <a:ext cx="3383280" cy="3017520"/>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4389120" y="1874519"/>
            <a:ext cx="3383280" cy="4572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681728" y="2212848"/>
            <a:ext cx="2834640" cy="320040"/>
          </a:xfrm>
          <a:prstGeom prst="rect">
            <a:avLst/>
          </a:prstGeom>
          <a:noFill/>
        </p:spPr>
        <p:txBody>
          <a:bodyPr wrap="square" lIns="0" tIns="0" rIns="0" bIns="0">
            <a:spAutoFit/>
          </a:bodyPr>
          <a:lstStyle/>
          <a:p>
            <a:pPr algn="l">
              <a:lnSpc>
                <a:spcPct val="110000"/>
              </a:lnSpc>
              <a:spcAft>
                <a:spcPts val="0"/>
              </a:spcAft>
            </a:pPr>
            <a:r>
              <a:rPr sz="1800" b="1">
                <a:solidFill>
                  <a:srgbClr val="21252D"/>
                </a:solidFill>
                <a:latin typeface="Helvetica Neue"/>
              </a:rPr>
              <a:t>Flyway 10.20.1</a:t>
            </a:r>
          </a:p>
        </p:txBody>
      </p:sp>
      <p:sp>
        <p:nvSpPr>
          <p:cNvPr id="16" name="TextBox 15"/>
          <p:cNvSpPr txBox="1"/>
          <p:nvPr/>
        </p:nvSpPr>
        <p:spPr>
          <a:xfrm>
            <a:off x="4681728" y="2633472"/>
            <a:ext cx="2834640" cy="457200"/>
          </a:xfrm>
          <a:prstGeom prst="rect">
            <a:avLst/>
          </a:prstGeom>
          <a:noFill/>
        </p:spPr>
        <p:txBody>
          <a:bodyPr wrap="square" lIns="0" tIns="0" rIns="0" bIns="0">
            <a:spAutoFit/>
          </a:bodyPr>
          <a:lstStyle/>
          <a:p>
            <a:pPr algn="l">
              <a:lnSpc>
                <a:spcPct val="130000"/>
              </a:lnSpc>
              <a:spcAft>
                <a:spcPts val="0"/>
              </a:spcAft>
            </a:pPr>
            <a:r>
              <a:rPr sz="1200" b="1">
                <a:solidFill>
                  <a:srgbClr val="4338CA"/>
                </a:solidFill>
                <a:latin typeface="Helvetica Neue"/>
              </a:rPr>
              <a:t>Herramienta de migración de esquemas.</a:t>
            </a:r>
          </a:p>
        </p:txBody>
      </p:sp>
      <p:sp>
        <p:nvSpPr>
          <p:cNvPr id="17" name="TextBox 16"/>
          <p:cNvSpPr txBox="1"/>
          <p:nvPr/>
        </p:nvSpPr>
        <p:spPr>
          <a:xfrm>
            <a:off x="4681728" y="3246120"/>
            <a:ext cx="2834640" cy="1371600"/>
          </a:xfrm>
          <a:prstGeom prst="rect">
            <a:avLst/>
          </a:prstGeom>
          <a:noFill/>
        </p:spPr>
        <p:txBody>
          <a:bodyPr wrap="square" lIns="0" tIns="0" rIns="0" bIns="0">
            <a:spAutoFit/>
          </a:bodyPr>
          <a:lstStyle/>
          <a:p>
            <a:pPr algn="l">
              <a:lnSpc>
                <a:spcPct val="140000"/>
              </a:lnSpc>
              <a:spcAft>
                <a:spcPts val="0"/>
              </a:spcAft>
            </a:pPr>
            <a:r>
              <a:rPr sz="1150" b="0">
                <a:solidFill>
                  <a:srgbClr val="6E747E"/>
                </a:solidFill>
                <a:latin typeface="Helvetica Neue"/>
              </a:rPr>
              <a:t>Versiona, valida checksums y aplica el SQL en orden determinista. Versión fijada en el workflow, no 'latest'.</a:t>
            </a:r>
          </a:p>
        </p:txBody>
      </p:sp>
      <p:sp>
        <p:nvSpPr>
          <p:cNvPr id="18" name="Rectangle 17"/>
          <p:cNvSpPr/>
          <p:nvPr/>
        </p:nvSpPr>
        <p:spPr>
          <a:xfrm>
            <a:off x="8046720" y="1874519"/>
            <a:ext cx="3383280" cy="3017520"/>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8046720" y="1874519"/>
            <a:ext cx="3383280" cy="4572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339328" y="2212848"/>
            <a:ext cx="2834640" cy="320040"/>
          </a:xfrm>
          <a:prstGeom prst="rect">
            <a:avLst/>
          </a:prstGeom>
          <a:noFill/>
        </p:spPr>
        <p:txBody>
          <a:bodyPr wrap="square" lIns="0" tIns="0" rIns="0" bIns="0">
            <a:spAutoFit/>
          </a:bodyPr>
          <a:lstStyle/>
          <a:p>
            <a:pPr algn="l">
              <a:lnSpc>
                <a:spcPct val="110000"/>
              </a:lnSpc>
              <a:spcAft>
                <a:spcPts val="0"/>
              </a:spcAft>
            </a:pPr>
            <a:r>
              <a:rPr sz="1800" b="1">
                <a:solidFill>
                  <a:srgbClr val="21252D"/>
                </a:solidFill>
                <a:latin typeface="Helvetica Neue"/>
              </a:rPr>
              <a:t>GitHub Actions</a:t>
            </a:r>
          </a:p>
        </p:txBody>
      </p:sp>
      <p:sp>
        <p:nvSpPr>
          <p:cNvPr id="21" name="TextBox 20"/>
          <p:cNvSpPr txBox="1"/>
          <p:nvPr/>
        </p:nvSpPr>
        <p:spPr>
          <a:xfrm>
            <a:off x="8339328" y="2633472"/>
            <a:ext cx="2834640" cy="457200"/>
          </a:xfrm>
          <a:prstGeom prst="rect">
            <a:avLst/>
          </a:prstGeom>
          <a:noFill/>
        </p:spPr>
        <p:txBody>
          <a:bodyPr wrap="square" lIns="0" tIns="0" rIns="0" bIns="0">
            <a:spAutoFit/>
          </a:bodyPr>
          <a:lstStyle/>
          <a:p>
            <a:pPr algn="l">
              <a:lnSpc>
                <a:spcPct val="130000"/>
              </a:lnSpc>
              <a:spcAft>
                <a:spcPts val="0"/>
              </a:spcAft>
            </a:pPr>
            <a:r>
              <a:rPr sz="1200" b="1">
                <a:solidFill>
                  <a:srgbClr val="4338CA"/>
                </a:solidFill>
                <a:latin typeface="Helvetica Neue"/>
              </a:rPr>
              <a:t>Pipeline de CI/CD.</a:t>
            </a:r>
          </a:p>
        </p:txBody>
      </p:sp>
      <p:sp>
        <p:nvSpPr>
          <p:cNvPr id="22" name="TextBox 21"/>
          <p:cNvSpPr txBox="1"/>
          <p:nvPr/>
        </p:nvSpPr>
        <p:spPr>
          <a:xfrm>
            <a:off x="8339328" y="3246120"/>
            <a:ext cx="2834640" cy="1371600"/>
          </a:xfrm>
          <a:prstGeom prst="rect">
            <a:avLst/>
          </a:prstGeom>
          <a:noFill/>
        </p:spPr>
        <p:txBody>
          <a:bodyPr wrap="square" lIns="0" tIns="0" rIns="0" bIns="0">
            <a:spAutoFit/>
          </a:bodyPr>
          <a:lstStyle/>
          <a:p>
            <a:pPr algn="l">
              <a:lnSpc>
                <a:spcPct val="140000"/>
              </a:lnSpc>
              <a:spcAft>
                <a:spcPts val="0"/>
              </a:spcAft>
            </a:pPr>
            <a:r>
              <a:rPr sz="1150" b="0">
                <a:solidFill>
                  <a:srgbClr val="6E747E"/>
                </a:solidFill>
                <a:latin typeface="Helvetica Neue"/>
              </a:rPr>
              <a:t>Se dispara en pull request y en merge a main — cero intervención manual sobre la base de datos.</a:t>
            </a:r>
          </a:p>
        </p:txBody>
      </p:sp>
      <p:sp>
        <p:nvSpPr>
          <p:cNvPr id="23" name="Rectangle 22"/>
          <p:cNvSpPr/>
          <p:nvPr/>
        </p:nvSpPr>
        <p:spPr>
          <a:xfrm>
            <a:off x="731520" y="5212080"/>
            <a:ext cx="10698480" cy="777240"/>
          </a:xfrm>
          <a:prstGeom prst="rect">
            <a:avLst/>
          </a:prstGeom>
          <a:solidFill>
            <a:srgbClr val="EC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1024128" y="5413248"/>
            <a:ext cx="10149840" cy="411480"/>
          </a:xfrm>
          <a:prstGeom prst="rect">
            <a:avLst/>
          </a:prstGeom>
          <a:noFill/>
        </p:spPr>
        <p:txBody>
          <a:bodyPr wrap="square" lIns="0" tIns="0" rIns="0" bIns="0">
            <a:spAutoFit/>
          </a:bodyPr>
          <a:lstStyle/>
          <a:p>
            <a:pPr algn="l">
              <a:lnSpc>
                <a:spcPct val="110000"/>
              </a:lnSpc>
              <a:spcAft>
                <a:spcPts val="0"/>
              </a:spcAft>
            </a:pPr>
            <a:r>
              <a:rPr sz="1250" b="1">
                <a:solidFill>
                  <a:srgbClr val="4338CA"/>
                </a:solidFill>
                <a:latin typeface="Helvetica Neue"/>
              </a:rPr>
              <a:t>Nada corre en la máquina de nadie. </a:t>
            </a:r>
            <a:r>
              <a:rPr sz="1250" b="0">
                <a:solidFill>
                  <a:srgbClr val="21252D"/>
                </a:solidFill>
                <a:latin typeface="Helvetica Neue"/>
              </a:rPr>
              <a:t>El único lugar donde se ejecutan migraciones contra Neon es un runner de GitHub Actions.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8F6"/>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31520" y="475488"/>
            <a:ext cx="10728655" cy="228600"/>
          </a:xfrm>
          <a:prstGeom prst="rect">
            <a:avLst/>
          </a:prstGeom>
          <a:noFill/>
        </p:spPr>
        <p:txBody>
          <a:bodyPr wrap="square" lIns="0" tIns="0" rIns="0" bIns="0">
            <a:spAutoFit/>
          </a:bodyPr>
          <a:lstStyle/>
          <a:p>
            <a:pPr algn="l">
              <a:lnSpc>
                <a:spcPct val="110000"/>
              </a:lnSpc>
              <a:spcAft>
                <a:spcPts val="0"/>
              </a:spcAft>
            </a:pPr>
            <a:r>
              <a:rPr sz="1050" b="1">
                <a:solidFill>
                  <a:srgbClr val="4338CA"/>
                </a:solidFill>
                <a:latin typeface="Helvetica Neue"/>
              </a:rPr>
              <a:t>DISEÑO</a:t>
            </a:r>
          </a:p>
        </p:txBody>
      </p:sp>
      <p:sp>
        <p:nvSpPr>
          <p:cNvPr id="4" name="TextBox 3"/>
          <p:cNvSpPr txBox="1"/>
          <p:nvPr/>
        </p:nvSpPr>
        <p:spPr>
          <a:xfrm>
            <a:off x="731520" y="749808"/>
            <a:ext cx="10728655" cy="548640"/>
          </a:xfrm>
          <a:prstGeom prst="rect">
            <a:avLst/>
          </a:prstGeom>
          <a:noFill/>
        </p:spPr>
        <p:txBody>
          <a:bodyPr wrap="square" lIns="0" tIns="0" rIns="0" bIns="0">
            <a:spAutoFit/>
          </a:bodyPr>
          <a:lstStyle/>
          <a:p>
            <a:pPr algn="l">
              <a:lnSpc>
                <a:spcPct val="110000"/>
              </a:lnSpc>
              <a:spcAft>
                <a:spcPts val="0"/>
              </a:spcAft>
            </a:pPr>
            <a:r>
              <a:rPr sz="3100" b="1">
                <a:solidFill>
                  <a:srgbClr val="21252D"/>
                </a:solidFill>
                <a:latin typeface="Helvetica Neue"/>
              </a:rPr>
              <a:t>Arquitectura de entornos</a:t>
            </a:r>
          </a:p>
        </p:txBody>
      </p:sp>
      <p:sp>
        <p:nvSpPr>
          <p:cNvPr id="5" name="TextBox 4"/>
          <p:cNvSpPr txBox="1"/>
          <p:nvPr/>
        </p:nvSpPr>
        <p:spPr>
          <a:xfrm>
            <a:off x="10362895" y="457200"/>
            <a:ext cx="1097280" cy="365760"/>
          </a:xfrm>
          <a:prstGeom prst="rect">
            <a:avLst/>
          </a:prstGeom>
          <a:noFill/>
        </p:spPr>
        <p:txBody>
          <a:bodyPr wrap="square" lIns="0" tIns="0" rIns="0" bIns="0">
            <a:spAutoFit/>
          </a:bodyPr>
          <a:lstStyle/>
          <a:p>
            <a:pPr algn="r">
              <a:lnSpc>
                <a:spcPct val="110000"/>
              </a:lnSpc>
              <a:spcAft>
                <a:spcPts val="0"/>
              </a:spcAft>
            </a:pPr>
            <a:r>
              <a:rPr sz="1300" b="1">
                <a:solidFill>
                  <a:srgbClr val="E3E2DC"/>
                </a:solidFill>
                <a:latin typeface="Helvetica Neue"/>
              </a:rPr>
              <a:t>06</a:t>
            </a:r>
          </a:p>
        </p:txBody>
      </p:sp>
      <p:sp>
        <p:nvSpPr>
          <p:cNvPr id="6" name="Rectangle 5"/>
          <p:cNvSpPr/>
          <p:nvPr/>
        </p:nvSpPr>
        <p:spPr>
          <a:xfrm>
            <a:off x="731520" y="1417320"/>
            <a:ext cx="10728655" cy="11430"/>
          </a:xfrm>
          <a:prstGeom prst="rect">
            <a:avLst/>
          </a:prstGeom>
          <a:solidFill>
            <a:srgbClr val="E3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31520" y="6355080"/>
            <a:ext cx="10728655" cy="228600"/>
          </a:xfrm>
          <a:prstGeom prst="rect">
            <a:avLst/>
          </a:prstGeom>
          <a:noFill/>
        </p:spPr>
        <p:txBody>
          <a:bodyPr wrap="square" lIns="0" tIns="0" rIns="0" bIns="0">
            <a:spAutoFit/>
          </a:bodyPr>
          <a:lstStyle/>
          <a:p>
            <a:pPr algn="l">
              <a:lnSpc>
                <a:spcPct val="110000"/>
              </a:lnSpc>
              <a:spcAft>
                <a:spcPts val="0"/>
              </a:spcAft>
            </a:pPr>
            <a:r>
              <a:rPr sz="950" b="0">
                <a:solidFill>
                  <a:srgbClr val="E3E2DC"/>
                </a:solidFill>
                <a:latin typeface="Helvetica Neue"/>
              </a:rPr>
              <a:t>CI/CD en Base de Datos  ·  SI6010-5979  ·  Torneos deportivos</a:t>
            </a:r>
          </a:p>
        </p:txBody>
      </p:sp>
      <p:sp>
        <p:nvSpPr>
          <p:cNvPr id="8" name="Rectangle 7"/>
          <p:cNvSpPr/>
          <p:nvPr/>
        </p:nvSpPr>
        <p:spPr>
          <a:xfrm>
            <a:off x="731520" y="1874519"/>
            <a:ext cx="5760720" cy="1298448"/>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731520" y="1874519"/>
            <a:ext cx="45720" cy="1298448"/>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24128" y="2075687"/>
            <a:ext cx="2743200" cy="274320"/>
          </a:xfrm>
          <a:prstGeom prst="rect">
            <a:avLst/>
          </a:prstGeom>
          <a:noFill/>
        </p:spPr>
        <p:txBody>
          <a:bodyPr wrap="square" lIns="0" tIns="0" rIns="0" bIns="0">
            <a:spAutoFit/>
          </a:bodyPr>
          <a:lstStyle/>
          <a:p>
            <a:pPr algn="l">
              <a:lnSpc>
                <a:spcPct val="110000"/>
              </a:lnSpc>
              <a:spcAft>
                <a:spcPts val="0"/>
              </a:spcAft>
            </a:pPr>
            <a:r>
              <a:rPr sz="1600" b="1">
                <a:solidFill>
                  <a:srgbClr val="21252D"/>
                </a:solidFill>
                <a:latin typeface="Helvetica Neue"/>
              </a:rPr>
              <a:t>Entorno DEV</a:t>
            </a:r>
          </a:p>
        </p:txBody>
      </p:sp>
      <p:sp>
        <p:nvSpPr>
          <p:cNvPr id="11" name="Rounded Rectangle 10"/>
          <p:cNvSpPr/>
          <p:nvPr/>
        </p:nvSpPr>
        <p:spPr>
          <a:xfrm>
            <a:off x="3840480" y="2057399"/>
            <a:ext cx="1726387" cy="274320"/>
          </a:xfrm>
          <a:prstGeom prst="roundRect">
            <a:avLst>
              <a:gd name="adj" fmla="val 50000"/>
            </a:avLst>
          </a:prstGeom>
          <a:solidFill>
            <a:srgbClr val="ECEAFA"/>
          </a:solidFill>
          <a:ln>
            <a:noFill/>
          </a:ln>
          <a:effectLst/>
        </p:spPr>
        <p:style>
          <a:lnRef idx="1">
            <a:schemeClr val="accent1"/>
          </a:lnRef>
          <a:fillRef idx="3">
            <a:schemeClr val="accent1"/>
          </a:fillRef>
          <a:effectRef idx="2">
            <a:schemeClr val="accent1"/>
          </a:effectRef>
          <a:fontRef idx="minor">
            <a:schemeClr val="lt1"/>
          </a:fontRef>
        </p:style>
        <p:txBody>
          <a:bodyPr lIns="146304" tIns="0" rIns="146304" bIns="0" rtlCol="0" anchor="ctr"/>
          <a:lstStyle/>
          <a:p>
            <a:pPr algn="ctr"/>
            <a:r>
              <a:rPr sz="1000" b="1">
                <a:solidFill>
                  <a:srgbClr val="4338CA"/>
                </a:solidFill>
                <a:latin typeface="Helvetica Neue"/>
              </a:rPr>
              <a:t>branch Neon: dev</a:t>
            </a:r>
          </a:p>
        </p:txBody>
      </p:sp>
      <p:sp>
        <p:nvSpPr>
          <p:cNvPr id="12" name="TextBox 11"/>
          <p:cNvSpPr txBox="1"/>
          <p:nvPr/>
        </p:nvSpPr>
        <p:spPr>
          <a:xfrm>
            <a:off x="1024128" y="2404871"/>
            <a:ext cx="5212080" cy="201168"/>
          </a:xfrm>
          <a:prstGeom prst="rect">
            <a:avLst/>
          </a:prstGeom>
          <a:noFill/>
        </p:spPr>
        <p:txBody>
          <a:bodyPr wrap="square" lIns="0" tIns="0" rIns="0" bIns="0">
            <a:spAutoFit/>
          </a:bodyPr>
          <a:lstStyle/>
          <a:p>
            <a:pPr algn="l">
              <a:lnSpc>
                <a:spcPct val="110000"/>
              </a:lnSpc>
              <a:spcAft>
                <a:spcPts val="0"/>
              </a:spcAft>
            </a:pPr>
            <a:r>
              <a:rPr sz="1050" b="1">
                <a:solidFill>
                  <a:srgbClr val="4338CA"/>
                </a:solidFill>
                <a:latin typeface="Helvetica Neue"/>
              </a:rPr>
              <a:t>Pull Request → main</a:t>
            </a:r>
          </a:p>
        </p:txBody>
      </p:sp>
      <p:sp>
        <p:nvSpPr>
          <p:cNvPr id="13" name="TextBox 12"/>
          <p:cNvSpPr txBox="1"/>
          <p:nvPr/>
        </p:nvSpPr>
        <p:spPr>
          <a:xfrm>
            <a:off x="1024128" y="2660903"/>
            <a:ext cx="5212080" cy="411480"/>
          </a:xfrm>
          <a:prstGeom prst="rect">
            <a:avLst/>
          </a:prstGeom>
          <a:noFill/>
        </p:spPr>
        <p:txBody>
          <a:bodyPr wrap="square" lIns="0" tIns="0" rIns="0" bIns="0">
            <a:spAutoFit/>
          </a:bodyPr>
          <a:lstStyle/>
          <a:p>
            <a:pPr algn="l">
              <a:lnSpc>
                <a:spcPct val="132000"/>
              </a:lnSpc>
              <a:spcAft>
                <a:spcPts val="0"/>
              </a:spcAft>
            </a:pPr>
            <a:r>
              <a:rPr sz="1100" b="0">
                <a:solidFill>
                  <a:srgbClr val="6E747E"/>
                </a:solidFill>
                <a:latin typeface="Helvetica Neue"/>
              </a:rPr>
              <a:t>Cada PR que toca migrations/ valida y migra contra el branch dev de Neon. Si falla, el PR queda en rojo y no se hace merge.</a:t>
            </a:r>
          </a:p>
        </p:txBody>
      </p:sp>
      <p:sp>
        <p:nvSpPr>
          <p:cNvPr id="14" name="Rectangle 13"/>
          <p:cNvSpPr/>
          <p:nvPr/>
        </p:nvSpPr>
        <p:spPr>
          <a:xfrm>
            <a:off x="731520" y="3355847"/>
            <a:ext cx="5760720" cy="1298448"/>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31520" y="3355847"/>
            <a:ext cx="45720" cy="1298448"/>
          </a:xfrm>
          <a:prstGeom prst="rect">
            <a:avLst/>
          </a:prstGeom>
          <a:solidFill>
            <a:srgbClr val="157F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024128" y="3557015"/>
            <a:ext cx="2743200" cy="274320"/>
          </a:xfrm>
          <a:prstGeom prst="rect">
            <a:avLst/>
          </a:prstGeom>
          <a:noFill/>
        </p:spPr>
        <p:txBody>
          <a:bodyPr wrap="square" lIns="0" tIns="0" rIns="0" bIns="0">
            <a:spAutoFit/>
          </a:bodyPr>
          <a:lstStyle/>
          <a:p>
            <a:pPr algn="l">
              <a:lnSpc>
                <a:spcPct val="110000"/>
              </a:lnSpc>
              <a:spcAft>
                <a:spcPts val="0"/>
              </a:spcAft>
            </a:pPr>
            <a:r>
              <a:rPr sz="1600" b="1">
                <a:solidFill>
                  <a:srgbClr val="21252D"/>
                </a:solidFill>
                <a:latin typeface="Helvetica Neue"/>
              </a:rPr>
              <a:t>Entorno PROD</a:t>
            </a:r>
          </a:p>
        </p:txBody>
      </p:sp>
      <p:sp>
        <p:nvSpPr>
          <p:cNvPr id="17" name="Rounded Rectangle 16"/>
          <p:cNvSpPr/>
          <p:nvPr/>
        </p:nvSpPr>
        <p:spPr>
          <a:xfrm>
            <a:off x="3840480" y="3538727"/>
            <a:ext cx="1815998" cy="274320"/>
          </a:xfrm>
          <a:prstGeom prst="roundRect">
            <a:avLst>
              <a:gd name="adj" fmla="val 5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146304" tIns="0" rIns="146304" bIns="0" rtlCol="0" anchor="ctr"/>
          <a:lstStyle/>
          <a:p>
            <a:pPr algn="ctr"/>
            <a:r>
              <a:rPr sz="1000" b="1">
                <a:solidFill>
                  <a:srgbClr val="157F4C"/>
                </a:solidFill>
                <a:latin typeface="Helvetica Neue"/>
              </a:rPr>
              <a:t>branch Neon: main</a:t>
            </a:r>
          </a:p>
        </p:txBody>
      </p:sp>
      <p:sp>
        <p:nvSpPr>
          <p:cNvPr id="18" name="TextBox 17"/>
          <p:cNvSpPr txBox="1"/>
          <p:nvPr/>
        </p:nvSpPr>
        <p:spPr>
          <a:xfrm>
            <a:off x="1024128" y="3886199"/>
            <a:ext cx="5212080" cy="201168"/>
          </a:xfrm>
          <a:prstGeom prst="rect">
            <a:avLst/>
          </a:prstGeom>
          <a:noFill/>
        </p:spPr>
        <p:txBody>
          <a:bodyPr wrap="square" lIns="0" tIns="0" rIns="0" bIns="0">
            <a:spAutoFit/>
          </a:bodyPr>
          <a:lstStyle/>
          <a:p>
            <a:pPr algn="l">
              <a:lnSpc>
                <a:spcPct val="110000"/>
              </a:lnSpc>
              <a:spcAft>
                <a:spcPts val="0"/>
              </a:spcAft>
            </a:pPr>
            <a:r>
              <a:rPr sz="1050" b="1">
                <a:solidFill>
                  <a:srgbClr val="157F4C"/>
                </a:solidFill>
                <a:latin typeface="Helvetica Neue"/>
              </a:rPr>
              <a:t>Merge / push a main</a:t>
            </a:r>
          </a:p>
        </p:txBody>
      </p:sp>
      <p:sp>
        <p:nvSpPr>
          <p:cNvPr id="19" name="TextBox 18"/>
          <p:cNvSpPr txBox="1"/>
          <p:nvPr/>
        </p:nvSpPr>
        <p:spPr>
          <a:xfrm>
            <a:off x="1024128" y="4142231"/>
            <a:ext cx="5212080" cy="411480"/>
          </a:xfrm>
          <a:prstGeom prst="rect">
            <a:avLst/>
          </a:prstGeom>
          <a:noFill/>
        </p:spPr>
        <p:txBody>
          <a:bodyPr wrap="square" lIns="0" tIns="0" rIns="0" bIns="0">
            <a:spAutoFit/>
          </a:bodyPr>
          <a:lstStyle/>
          <a:p>
            <a:pPr algn="l">
              <a:lnSpc>
                <a:spcPct val="132000"/>
              </a:lnSpc>
              <a:spcAft>
                <a:spcPts val="0"/>
              </a:spcAft>
            </a:pPr>
            <a:r>
              <a:rPr sz="1100" b="0">
                <a:solidFill>
                  <a:srgbClr val="6E747E"/>
                </a:solidFill>
                <a:latin typeface="Helvetica Neue"/>
              </a:rPr>
              <a:t>Solo recibe cambios ya aplicados con éxito en dev. El branch main de Neon es el estado que se evalúa.</a:t>
            </a:r>
          </a:p>
        </p:txBody>
      </p:sp>
      <p:sp>
        <p:nvSpPr>
          <p:cNvPr id="20" name="Rectangle 19"/>
          <p:cNvSpPr/>
          <p:nvPr/>
        </p:nvSpPr>
        <p:spPr>
          <a:xfrm>
            <a:off x="6903720" y="1874519"/>
            <a:ext cx="4526280" cy="2734056"/>
          </a:xfrm>
          <a:prstGeom prst="rect">
            <a:avLst/>
          </a:prstGeom>
          <a:solidFill>
            <a:srgbClr val="1B1F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123176" y="2039111"/>
            <a:ext cx="4160520" cy="2459736"/>
          </a:xfrm>
          <a:prstGeom prst="rect">
            <a:avLst/>
          </a:prstGeom>
          <a:noFill/>
        </p:spPr>
        <p:txBody>
          <a:bodyPr wrap="square" lIns="0" tIns="0" rIns="0" bIns="0">
            <a:spAutoFit/>
          </a:bodyPr>
          <a:lstStyle/>
          <a:p>
            <a:pPr algn="l">
              <a:lnSpc>
                <a:spcPct val="142000"/>
              </a:lnSpc>
              <a:spcAft>
                <a:spcPts val="0"/>
              </a:spcAft>
            </a:pPr>
            <a:r>
              <a:rPr sz="1050" b="0">
                <a:solidFill>
                  <a:srgbClr val="E6E8EC"/>
                </a:solidFill>
                <a:latin typeface="Menlo"/>
              </a:rPr>
              <a:t>Repositorio GitHub</a:t>
            </a:r>
          </a:p>
          <a:p>
            <a:pPr algn="l">
              <a:lnSpc>
                <a:spcPct val="142000"/>
              </a:lnSpc>
              <a:spcAft>
                <a:spcPts val="0"/>
              </a:spcAft>
            </a:pPr>
            <a:r>
              <a:rPr sz="1050" b="0">
                <a:solidFill>
                  <a:srgbClr val="E6E8EC"/>
                </a:solidFill>
                <a:latin typeface="Menlo"/>
              </a:rPr>
              <a:t>│</a:t>
            </a:r>
          </a:p>
          <a:p>
            <a:pPr algn="l">
              <a:lnSpc>
                <a:spcPct val="142000"/>
              </a:lnSpc>
              <a:spcAft>
                <a:spcPts val="0"/>
              </a:spcAft>
            </a:pPr>
            <a:r>
              <a:rPr sz="1050" b="0">
                <a:solidFill>
                  <a:srgbClr val="E6E8EC"/>
                </a:solidFill>
                <a:latin typeface="Menlo"/>
              </a:rPr>
              <a:t>├── PR abierto  ──────────────► DEV</a:t>
            </a:r>
          </a:p>
          <a:p>
            <a:pPr algn="l">
              <a:lnSpc>
                <a:spcPct val="142000"/>
              </a:lnSpc>
              <a:spcAft>
                <a:spcPts val="0"/>
              </a:spcAft>
            </a:pPr>
            <a:r>
              <a:rPr sz="1050" b="0">
                <a:solidFill>
                  <a:srgbClr val="E6E8EC"/>
                </a:solidFill>
                <a:latin typeface="Menlo"/>
              </a:rPr>
              <a:t>│      ├── flyway validate</a:t>
            </a:r>
          </a:p>
          <a:p>
            <a:pPr algn="l">
              <a:lnSpc>
                <a:spcPct val="142000"/>
              </a:lnSpc>
              <a:spcAft>
                <a:spcPts val="0"/>
              </a:spcAft>
            </a:pPr>
            <a:r>
              <a:rPr sz="1050" b="0">
                <a:solidFill>
                  <a:srgbClr val="E6E8EC"/>
                </a:solidFill>
                <a:latin typeface="Menlo"/>
              </a:rPr>
              <a:t>│      ├── flyway info</a:t>
            </a:r>
          </a:p>
          <a:p>
            <a:pPr algn="l">
              <a:lnSpc>
                <a:spcPct val="142000"/>
              </a:lnSpc>
              <a:spcAft>
                <a:spcPts val="0"/>
              </a:spcAft>
            </a:pPr>
            <a:r>
              <a:rPr sz="1050" b="0">
                <a:solidFill>
                  <a:srgbClr val="E6E8EC"/>
                </a:solidFill>
                <a:latin typeface="Menlo"/>
              </a:rPr>
              <a:t>│      └── flyway migrate</a:t>
            </a:r>
          </a:p>
          <a:p>
            <a:pPr algn="l">
              <a:lnSpc>
                <a:spcPct val="142000"/>
              </a:lnSpc>
              <a:spcAft>
                <a:spcPts val="0"/>
              </a:spcAft>
            </a:pPr>
            <a:r>
              <a:rPr sz="1050" b="0">
                <a:solidFill>
                  <a:srgbClr val="E6E8EC"/>
                </a:solidFill>
                <a:latin typeface="Menlo"/>
              </a:rPr>
              <a:t>│</a:t>
            </a:r>
          </a:p>
          <a:p>
            <a:pPr algn="l">
              <a:lnSpc>
                <a:spcPct val="142000"/>
              </a:lnSpc>
              <a:spcAft>
                <a:spcPts val="0"/>
              </a:spcAft>
            </a:pPr>
            <a:r>
              <a:rPr sz="1050" b="0">
                <a:solidFill>
                  <a:srgbClr val="E6E8EC"/>
                </a:solidFill>
                <a:latin typeface="Menlo"/>
              </a:rPr>
              <a:t>└── merge a main ─────────────► PROD</a:t>
            </a:r>
          </a:p>
          <a:p>
            <a:pPr algn="l">
              <a:lnSpc>
                <a:spcPct val="142000"/>
              </a:lnSpc>
              <a:spcAft>
                <a:spcPts val="0"/>
              </a:spcAft>
            </a:pPr>
            <a:r>
              <a:rPr sz="1050" b="0">
                <a:solidFill>
                  <a:srgbClr val="E6E8EC"/>
                </a:solidFill>
                <a:latin typeface="Menlo"/>
              </a:rPr>
              <a:t>       ├── flyway validate</a:t>
            </a:r>
          </a:p>
          <a:p>
            <a:pPr algn="l">
              <a:lnSpc>
                <a:spcPct val="142000"/>
              </a:lnSpc>
              <a:spcAft>
                <a:spcPts val="0"/>
              </a:spcAft>
            </a:pPr>
            <a:r>
              <a:rPr sz="1050" b="0">
                <a:solidFill>
                  <a:srgbClr val="E6E8EC"/>
                </a:solidFill>
                <a:latin typeface="Menlo"/>
              </a:rPr>
              <a:t>       ├── flyway info</a:t>
            </a:r>
          </a:p>
          <a:p>
            <a:pPr algn="l">
              <a:lnSpc>
                <a:spcPct val="142000"/>
              </a:lnSpc>
              <a:spcAft>
                <a:spcPts val="0"/>
              </a:spcAft>
            </a:pPr>
            <a:r>
              <a:rPr sz="1050" b="0">
                <a:solidFill>
                  <a:srgbClr val="E6E8EC"/>
                </a:solidFill>
                <a:latin typeface="Menlo"/>
              </a:rPr>
              <a:t>       └── flyway migrate</a:t>
            </a:r>
          </a:p>
        </p:txBody>
      </p:sp>
      <p:sp>
        <p:nvSpPr>
          <p:cNvPr id="22" name="Rectangle 21"/>
          <p:cNvSpPr/>
          <p:nvPr/>
        </p:nvSpPr>
        <p:spPr>
          <a:xfrm>
            <a:off x="731520" y="4937760"/>
            <a:ext cx="10698480" cy="1051560"/>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024128" y="5138928"/>
            <a:ext cx="10149840" cy="548640"/>
          </a:xfrm>
          <a:prstGeom prst="rect">
            <a:avLst/>
          </a:prstGeom>
          <a:noFill/>
        </p:spPr>
        <p:txBody>
          <a:bodyPr wrap="square" lIns="0" tIns="0" rIns="0" bIns="0">
            <a:spAutoFit/>
          </a:bodyPr>
          <a:lstStyle/>
          <a:p>
            <a:pPr algn="l">
              <a:lnSpc>
                <a:spcPct val="135000"/>
              </a:lnSpc>
              <a:spcAft>
                <a:spcPts val="0"/>
              </a:spcAft>
            </a:pPr>
            <a:r>
              <a:rPr sz="1150" b="1">
                <a:solidFill>
                  <a:srgbClr val="4338CA"/>
                </a:solidFill>
                <a:latin typeface="Menlo"/>
              </a:rPr>
              <a:t>workflow_dispatch  </a:t>
            </a:r>
          </a:p>
          <a:p>
            <a:pPr algn="l">
              <a:lnSpc>
                <a:spcPct val="135000"/>
              </a:lnSpc>
              <a:spcAft>
                <a:spcPts val="0"/>
              </a:spcAft>
            </a:pPr>
            <a:r>
              <a:rPr sz="1150" b="0">
                <a:solidFill>
                  <a:srgbClr val="6E747E"/>
                </a:solidFill>
                <a:latin typeface="Helvetica Neue"/>
              </a:rPr>
              <a:t>Además de los dos disparadores automáticos, el workflow acepta ejecución manual con elección de entorno — útil para reaplicar la vista repetible sin abrir un PR.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8F6"/>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31520" y="475488"/>
            <a:ext cx="10728655" cy="228600"/>
          </a:xfrm>
          <a:prstGeom prst="rect">
            <a:avLst/>
          </a:prstGeom>
          <a:noFill/>
        </p:spPr>
        <p:txBody>
          <a:bodyPr wrap="square" lIns="0" tIns="0" rIns="0" bIns="0">
            <a:spAutoFit/>
          </a:bodyPr>
          <a:lstStyle/>
          <a:p>
            <a:pPr algn="l">
              <a:lnSpc>
                <a:spcPct val="110000"/>
              </a:lnSpc>
              <a:spcAft>
                <a:spcPts val="0"/>
              </a:spcAft>
            </a:pPr>
            <a:r>
              <a:rPr sz="1050" b="1">
                <a:solidFill>
                  <a:srgbClr val="4338CA"/>
                </a:solidFill>
                <a:latin typeface="Helvetica Neue"/>
              </a:rPr>
              <a:t>ESQUEMA COMO CÓDIGO</a:t>
            </a:r>
          </a:p>
        </p:txBody>
      </p:sp>
      <p:sp>
        <p:nvSpPr>
          <p:cNvPr id="4" name="TextBox 3"/>
          <p:cNvSpPr txBox="1"/>
          <p:nvPr/>
        </p:nvSpPr>
        <p:spPr>
          <a:xfrm>
            <a:off x="731520" y="749808"/>
            <a:ext cx="10728655" cy="548640"/>
          </a:xfrm>
          <a:prstGeom prst="rect">
            <a:avLst/>
          </a:prstGeom>
          <a:noFill/>
        </p:spPr>
        <p:txBody>
          <a:bodyPr wrap="square" lIns="0" tIns="0" rIns="0" bIns="0">
            <a:spAutoFit/>
          </a:bodyPr>
          <a:lstStyle/>
          <a:p>
            <a:pPr algn="l">
              <a:lnSpc>
                <a:spcPct val="110000"/>
              </a:lnSpc>
              <a:spcAft>
                <a:spcPts val="0"/>
              </a:spcAft>
            </a:pPr>
            <a:r>
              <a:rPr sz="3100" b="1">
                <a:solidFill>
                  <a:srgbClr val="21252D"/>
                </a:solidFill>
                <a:latin typeface="Helvetica Neue"/>
              </a:rPr>
              <a:t>Nuestras siete migraciones</a:t>
            </a:r>
          </a:p>
        </p:txBody>
      </p:sp>
      <p:sp>
        <p:nvSpPr>
          <p:cNvPr id="5" name="TextBox 4"/>
          <p:cNvSpPr txBox="1"/>
          <p:nvPr/>
        </p:nvSpPr>
        <p:spPr>
          <a:xfrm>
            <a:off x="10362895" y="457200"/>
            <a:ext cx="1097280" cy="365760"/>
          </a:xfrm>
          <a:prstGeom prst="rect">
            <a:avLst/>
          </a:prstGeom>
          <a:noFill/>
        </p:spPr>
        <p:txBody>
          <a:bodyPr wrap="square" lIns="0" tIns="0" rIns="0" bIns="0">
            <a:spAutoFit/>
          </a:bodyPr>
          <a:lstStyle/>
          <a:p>
            <a:pPr algn="r">
              <a:lnSpc>
                <a:spcPct val="110000"/>
              </a:lnSpc>
              <a:spcAft>
                <a:spcPts val="0"/>
              </a:spcAft>
            </a:pPr>
            <a:r>
              <a:rPr sz="1300" b="1">
                <a:solidFill>
                  <a:srgbClr val="E3E2DC"/>
                </a:solidFill>
                <a:latin typeface="Helvetica Neue"/>
              </a:rPr>
              <a:t>07</a:t>
            </a:r>
          </a:p>
        </p:txBody>
      </p:sp>
      <p:sp>
        <p:nvSpPr>
          <p:cNvPr id="6" name="Rectangle 5"/>
          <p:cNvSpPr/>
          <p:nvPr/>
        </p:nvSpPr>
        <p:spPr>
          <a:xfrm>
            <a:off x="731520" y="1417320"/>
            <a:ext cx="10728655" cy="11430"/>
          </a:xfrm>
          <a:prstGeom prst="rect">
            <a:avLst/>
          </a:prstGeom>
          <a:solidFill>
            <a:srgbClr val="E3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31520" y="6355080"/>
            <a:ext cx="10728655" cy="228600"/>
          </a:xfrm>
          <a:prstGeom prst="rect">
            <a:avLst/>
          </a:prstGeom>
          <a:noFill/>
        </p:spPr>
        <p:txBody>
          <a:bodyPr wrap="square" lIns="0" tIns="0" rIns="0" bIns="0">
            <a:spAutoFit/>
          </a:bodyPr>
          <a:lstStyle/>
          <a:p>
            <a:pPr algn="l">
              <a:lnSpc>
                <a:spcPct val="110000"/>
              </a:lnSpc>
              <a:spcAft>
                <a:spcPts val="0"/>
              </a:spcAft>
            </a:pPr>
            <a:r>
              <a:rPr sz="950" b="0">
                <a:solidFill>
                  <a:srgbClr val="E3E2DC"/>
                </a:solidFill>
                <a:latin typeface="Helvetica Neue"/>
              </a:rPr>
              <a:t>CI/CD en Base de Datos  ·  SI6010-5979  ·  Torneos deportivos</a:t>
            </a:r>
          </a:p>
        </p:txBody>
      </p:sp>
      <p:sp>
        <p:nvSpPr>
          <p:cNvPr id="8" name="TextBox 7"/>
          <p:cNvSpPr txBox="1"/>
          <p:nvPr/>
        </p:nvSpPr>
        <p:spPr>
          <a:xfrm>
            <a:off x="868680" y="1737360"/>
            <a:ext cx="1828800" cy="182880"/>
          </a:xfrm>
          <a:prstGeom prst="rect">
            <a:avLst/>
          </a:prstGeom>
          <a:noFill/>
        </p:spPr>
        <p:txBody>
          <a:bodyPr wrap="square" lIns="0" tIns="0" rIns="0" bIns="0">
            <a:spAutoFit/>
          </a:bodyPr>
          <a:lstStyle/>
          <a:p>
            <a:pPr algn="l">
              <a:lnSpc>
                <a:spcPct val="110000"/>
              </a:lnSpc>
              <a:spcAft>
                <a:spcPts val="0"/>
              </a:spcAft>
            </a:pPr>
            <a:r>
              <a:rPr sz="850" b="1">
                <a:solidFill>
                  <a:srgbClr val="E3E2DC"/>
                </a:solidFill>
                <a:latin typeface="Helvetica Neue"/>
              </a:rPr>
              <a:t>VERSIÓN</a:t>
            </a:r>
          </a:p>
        </p:txBody>
      </p:sp>
      <p:sp>
        <p:nvSpPr>
          <p:cNvPr id="9" name="TextBox 8"/>
          <p:cNvSpPr txBox="1"/>
          <p:nvPr/>
        </p:nvSpPr>
        <p:spPr>
          <a:xfrm>
            <a:off x="2880360" y="1737360"/>
            <a:ext cx="2194560" cy="182880"/>
          </a:xfrm>
          <a:prstGeom prst="rect">
            <a:avLst/>
          </a:prstGeom>
          <a:noFill/>
        </p:spPr>
        <p:txBody>
          <a:bodyPr wrap="square" lIns="0" tIns="0" rIns="0" bIns="0">
            <a:spAutoFit/>
          </a:bodyPr>
          <a:lstStyle/>
          <a:p>
            <a:pPr algn="l">
              <a:lnSpc>
                <a:spcPct val="110000"/>
              </a:lnSpc>
              <a:spcAft>
                <a:spcPts val="0"/>
              </a:spcAft>
            </a:pPr>
            <a:r>
              <a:rPr sz="850" b="1">
                <a:solidFill>
                  <a:srgbClr val="E3E2DC"/>
                </a:solidFill>
                <a:latin typeface="Helvetica Neue"/>
              </a:rPr>
              <a:t>DESCRIPCIÓN</a:t>
            </a:r>
          </a:p>
        </p:txBody>
      </p:sp>
      <p:sp>
        <p:nvSpPr>
          <p:cNvPr id="10" name="TextBox 9"/>
          <p:cNvSpPr txBox="1"/>
          <p:nvPr/>
        </p:nvSpPr>
        <p:spPr>
          <a:xfrm>
            <a:off x="5349240" y="1737360"/>
            <a:ext cx="5029200" cy="182880"/>
          </a:xfrm>
          <a:prstGeom prst="rect">
            <a:avLst/>
          </a:prstGeom>
          <a:noFill/>
        </p:spPr>
        <p:txBody>
          <a:bodyPr wrap="square" lIns="0" tIns="0" rIns="0" bIns="0">
            <a:spAutoFit/>
          </a:bodyPr>
          <a:lstStyle/>
          <a:p>
            <a:pPr algn="l">
              <a:lnSpc>
                <a:spcPct val="110000"/>
              </a:lnSpc>
              <a:spcAft>
                <a:spcPts val="0"/>
              </a:spcAft>
            </a:pPr>
            <a:r>
              <a:rPr sz="850" b="1">
                <a:solidFill>
                  <a:srgbClr val="E3E2DC"/>
                </a:solidFill>
                <a:latin typeface="Helvetica Neue"/>
              </a:rPr>
              <a:t>QUÉ HACE</a:t>
            </a:r>
          </a:p>
        </p:txBody>
      </p:sp>
      <p:sp>
        <p:nvSpPr>
          <p:cNvPr id="11" name="TextBox 10"/>
          <p:cNvSpPr txBox="1"/>
          <p:nvPr/>
        </p:nvSpPr>
        <p:spPr>
          <a:xfrm>
            <a:off x="10424160" y="1737360"/>
            <a:ext cx="914400" cy="182880"/>
          </a:xfrm>
          <a:prstGeom prst="rect">
            <a:avLst/>
          </a:prstGeom>
          <a:noFill/>
        </p:spPr>
        <p:txBody>
          <a:bodyPr wrap="square" lIns="0" tIns="0" rIns="0" bIns="0">
            <a:spAutoFit/>
          </a:bodyPr>
          <a:lstStyle/>
          <a:p>
            <a:pPr algn="l">
              <a:lnSpc>
                <a:spcPct val="110000"/>
              </a:lnSpc>
              <a:spcAft>
                <a:spcPts val="0"/>
              </a:spcAft>
            </a:pPr>
            <a:r>
              <a:rPr sz="850" b="1">
                <a:solidFill>
                  <a:srgbClr val="E3E2DC"/>
                </a:solidFill>
                <a:latin typeface="Helvetica Neue"/>
              </a:rPr>
              <a:t>AUTOR</a:t>
            </a:r>
          </a:p>
        </p:txBody>
      </p:sp>
      <p:sp>
        <p:nvSpPr>
          <p:cNvPr id="12" name="Rectangle 11"/>
          <p:cNvSpPr/>
          <p:nvPr/>
        </p:nvSpPr>
        <p:spPr>
          <a:xfrm>
            <a:off x="731520" y="1993392"/>
            <a:ext cx="1069848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68680" y="2112264"/>
            <a:ext cx="2011680" cy="201168"/>
          </a:xfrm>
          <a:prstGeom prst="rect">
            <a:avLst/>
          </a:prstGeom>
          <a:noFill/>
        </p:spPr>
        <p:txBody>
          <a:bodyPr wrap="square" lIns="0" tIns="0" rIns="0" bIns="0">
            <a:spAutoFit/>
          </a:bodyPr>
          <a:lstStyle/>
          <a:p>
            <a:pPr algn="l">
              <a:lnSpc>
                <a:spcPct val="110000"/>
              </a:lnSpc>
              <a:spcAft>
                <a:spcPts val="0"/>
              </a:spcAft>
            </a:pPr>
            <a:r>
              <a:rPr sz="1000" b="1">
                <a:solidFill>
                  <a:srgbClr val="4338CA"/>
                </a:solidFill>
                <a:latin typeface="Menlo"/>
              </a:rPr>
              <a:t>V20260801070000</a:t>
            </a:r>
          </a:p>
        </p:txBody>
      </p:sp>
      <p:sp>
        <p:nvSpPr>
          <p:cNvPr id="14" name="TextBox 13"/>
          <p:cNvSpPr txBox="1"/>
          <p:nvPr/>
        </p:nvSpPr>
        <p:spPr>
          <a:xfrm>
            <a:off x="2880360" y="2112264"/>
            <a:ext cx="2468880" cy="201168"/>
          </a:xfrm>
          <a:prstGeom prst="rect">
            <a:avLst/>
          </a:prstGeom>
          <a:noFill/>
        </p:spPr>
        <p:txBody>
          <a:bodyPr wrap="square" lIns="0" tIns="0" rIns="0" bIns="0">
            <a:spAutoFit/>
          </a:bodyPr>
          <a:lstStyle/>
          <a:p>
            <a:pPr algn="l">
              <a:lnSpc>
                <a:spcPct val="110000"/>
              </a:lnSpc>
              <a:spcAft>
                <a:spcPts val="0"/>
              </a:spcAft>
            </a:pPr>
            <a:r>
              <a:rPr sz="1000" b="0">
                <a:solidFill>
                  <a:srgbClr val="21252D"/>
                </a:solidFill>
                <a:latin typeface="Menlo"/>
              </a:rPr>
              <a:t>cleanup_legacy</a:t>
            </a:r>
          </a:p>
        </p:txBody>
      </p:sp>
      <p:sp>
        <p:nvSpPr>
          <p:cNvPr id="15" name="TextBox 14"/>
          <p:cNvSpPr txBox="1"/>
          <p:nvPr/>
        </p:nvSpPr>
        <p:spPr>
          <a:xfrm>
            <a:off x="5349240" y="2121408"/>
            <a:ext cx="5029200" cy="201168"/>
          </a:xfrm>
          <a:prstGeom prst="rect">
            <a:avLst/>
          </a:prstGeom>
          <a:noFill/>
        </p:spPr>
        <p:txBody>
          <a:bodyPr wrap="square" lIns="0" tIns="0" rIns="0" bIns="0">
            <a:spAutoFit/>
          </a:bodyPr>
          <a:lstStyle/>
          <a:p>
            <a:pPr algn="l">
              <a:lnSpc>
                <a:spcPct val="110000"/>
              </a:lnSpc>
              <a:spcAft>
                <a:spcPts val="0"/>
              </a:spcAft>
            </a:pPr>
            <a:r>
              <a:rPr sz="1050" b="0">
                <a:solidFill>
                  <a:srgbClr val="6E747E"/>
                </a:solidFill>
                <a:latin typeface="Helvetica Neue"/>
              </a:rPr>
              <a:t>Elimina el esquema heredado del curso — deja la BD limpia</a:t>
            </a:r>
          </a:p>
        </p:txBody>
      </p:sp>
      <p:sp>
        <p:nvSpPr>
          <p:cNvPr id="16" name="TextBox 15"/>
          <p:cNvSpPr txBox="1"/>
          <p:nvPr/>
        </p:nvSpPr>
        <p:spPr>
          <a:xfrm>
            <a:off x="10424160" y="2121408"/>
            <a:ext cx="1005840" cy="201168"/>
          </a:xfrm>
          <a:prstGeom prst="rect">
            <a:avLst/>
          </a:prstGeom>
          <a:noFill/>
        </p:spPr>
        <p:txBody>
          <a:bodyPr wrap="square" lIns="0" tIns="0" rIns="0" bIns="0">
            <a:spAutoFit/>
          </a:bodyPr>
          <a:lstStyle/>
          <a:p>
            <a:pPr algn="l">
              <a:lnSpc>
                <a:spcPct val="110000"/>
              </a:lnSpc>
              <a:spcAft>
                <a:spcPts val="0"/>
              </a:spcAft>
            </a:pPr>
            <a:r>
              <a:rPr sz="1050" b="1">
                <a:solidFill>
                  <a:srgbClr val="21252D"/>
                </a:solidFill>
                <a:latin typeface="Helvetica Neue"/>
              </a:rPr>
              <a:t>Antonio</a:t>
            </a:r>
          </a:p>
        </p:txBody>
      </p:sp>
      <p:sp>
        <p:nvSpPr>
          <p:cNvPr id="17" name="TextBox 16"/>
          <p:cNvSpPr txBox="1"/>
          <p:nvPr/>
        </p:nvSpPr>
        <p:spPr>
          <a:xfrm>
            <a:off x="868680" y="2532888"/>
            <a:ext cx="2011680" cy="201168"/>
          </a:xfrm>
          <a:prstGeom prst="rect">
            <a:avLst/>
          </a:prstGeom>
          <a:noFill/>
        </p:spPr>
        <p:txBody>
          <a:bodyPr wrap="square" lIns="0" tIns="0" rIns="0" bIns="0">
            <a:spAutoFit/>
          </a:bodyPr>
          <a:lstStyle/>
          <a:p>
            <a:pPr algn="l">
              <a:lnSpc>
                <a:spcPct val="110000"/>
              </a:lnSpc>
              <a:spcAft>
                <a:spcPts val="0"/>
              </a:spcAft>
            </a:pPr>
            <a:r>
              <a:rPr sz="1000" b="1">
                <a:solidFill>
                  <a:srgbClr val="4338CA"/>
                </a:solidFill>
                <a:latin typeface="Menlo"/>
              </a:rPr>
              <a:t>V20260801090000</a:t>
            </a:r>
          </a:p>
        </p:txBody>
      </p:sp>
      <p:sp>
        <p:nvSpPr>
          <p:cNvPr id="18" name="TextBox 17"/>
          <p:cNvSpPr txBox="1"/>
          <p:nvPr/>
        </p:nvSpPr>
        <p:spPr>
          <a:xfrm>
            <a:off x="2880360" y="2532888"/>
            <a:ext cx="2468880" cy="201168"/>
          </a:xfrm>
          <a:prstGeom prst="rect">
            <a:avLst/>
          </a:prstGeom>
          <a:noFill/>
        </p:spPr>
        <p:txBody>
          <a:bodyPr wrap="square" lIns="0" tIns="0" rIns="0" bIns="0">
            <a:spAutoFit/>
          </a:bodyPr>
          <a:lstStyle/>
          <a:p>
            <a:pPr algn="l">
              <a:lnSpc>
                <a:spcPct val="110000"/>
              </a:lnSpc>
              <a:spcAft>
                <a:spcPts val="0"/>
              </a:spcAft>
            </a:pPr>
            <a:r>
              <a:rPr sz="1000" b="0">
                <a:solidFill>
                  <a:srgbClr val="21252D"/>
                </a:solidFill>
                <a:latin typeface="Menlo"/>
              </a:rPr>
              <a:t>baseline_torneo</a:t>
            </a:r>
          </a:p>
        </p:txBody>
      </p:sp>
      <p:sp>
        <p:nvSpPr>
          <p:cNvPr id="19" name="TextBox 18"/>
          <p:cNvSpPr txBox="1"/>
          <p:nvPr/>
        </p:nvSpPr>
        <p:spPr>
          <a:xfrm>
            <a:off x="5349240" y="2542032"/>
            <a:ext cx="5029200" cy="201168"/>
          </a:xfrm>
          <a:prstGeom prst="rect">
            <a:avLst/>
          </a:prstGeom>
          <a:noFill/>
        </p:spPr>
        <p:txBody>
          <a:bodyPr wrap="square" lIns="0" tIns="0" rIns="0" bIns="0">
            <a:spAutoFit/>
          </a:bodyPr>
          <a:lstStyle/>
          <a:p>
            <a:pPr algn="l">
              <a:lnSpc>
                <a:spcPct val="110000"/>
              </a:lnSpc>
              <a:spcAft>
                <a:spcPts val="0"/>
              </a:spcAft>
            </a:pPr>
            <a:r>
              <a:rPr sz="1050" b="0">
                <a:solidFill>
                  <a:srgbClr val="6E747E"/>
                </a:solidFill>
                <a:latin typeface="Helvetica Neue"/>
              </a:rPr>
              <a:t>5 tablas base: sports, venues, teams, players, tournaments</a:t>
            </a:r>
          </a:p>
        </p:txBody>
      </p:sp>
      <p:sp>
        <p:nvSpPr>
          <p:cNvPr id="20" name="TextBox 19"/>
          <p:cNvSpPr txBox="1"/>
          <p:nvPr/>
        </p:nvSpPr>
        <p:spPr>
          <a:xfrm>
            <a:off x="10424160" y="2542032"/>
            <a:ext cx="1005840" cy="201168"/>
          </a:xfrm>
          <a:prstGeom prst="rect">
            <a:avLst/>
          </a:prstGeom>
          <a:noFill/>
        </p:spPr>
        <p:txBody>
          <a:bodyPr wrap="square" lIns="0" tIns="0" rIns="0" bIns="0">
            <a:spAutoFit/>
          </a:bodyPr>
          <a:lstStyle/>
          <a:p>
            <a:pPr algn="l">
              <a:lnSpc>
                <a:spcPct val="110000"/>
              </a:lnSpc>
              <a:spcAft>
                <a:spcPts val="0"/>
              </a:spcAft>
            </a:pPr>
            <a:r>
              <a:rPr sz="1050" b="1">
                <a:solidFill>
                  <a:srgbClr val="21252D"/>
                </a:solidFill>
                <a:latin typeface="Helvetica Neue"/>
              </a:rPr>
              <a:t>Antonio</a:t>
            </a:r>
          </a:p>
        </p:txBody>
      </p:sp>
      <p:sp>
        <p:nvSpPr>
          <p:cNvPr id="21" name="Rectangle 20"/>
          <p:cNvSpPr/>
          <p:nvPr/>
        </p:nvSpPr>
        <p:spPr>
          <a:xfrm>
            <a:off x="731520" y="2834640"/>
            <a:ext cx="1069848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868680" y="2953512"/>
            <a:ext cx="2011680" cy="201168"/>
          </a:xfrm>
          <a:prstGeom prst="rect">
            <a:avLst/>
          </a:prstGeom>
          <a:noFill/>
        </p:spPr>
        <p:txBody>
          <a:bodyPr wrap="square" lIns="0" tIns="0" rIns="0" bIns="0">
            <a:spAutoFit/>
          </a:bodyPr>
          <a:lstStyle/>
          <a:p>
            <a:pPr algn="l">
              <a:lnSpc>
                <a:spcPct val="110000"/>
              </a:lnSpc>
              <a:spcAft>
                <a:spcPts val="0"/>
              </a:spcAft>
            </a:pPr>
            <a:r>
              <a:rPr sz="1000" b="1">
                <a:solidFill>
                  <a:srgbClr val="4338CA"/>
                </a:solidFill>
                <a:latin typeface="Menlo"/>
              </a:rPr>
              <a:t>V20260802100000</a:t>
            </a:r>
          </a:p>
        </p:txBody>
      </p:sp>
      <p:sp>
        <p:nvSpPr>
          <p:cNvPr id="23" name="TextBox 22"/>
          <p:cNvSpPr txBox="1"/>
          <p:nvPr/>
        </p:nvSpPr>
        <p:spPr>
          <a:xfrm>
            <a:off x="2880360" y="2953512"/>
            <a:ext cx="2468880" cy="201168"/>
          </a:xfrm>
          <a:prstGeom prst="rect">
            <a:avLst/>
          </a:prstGeom>
          <a:noFill/>
        </p:spPr>
        <p:txBody>
          <a:bodyPr wrap="square" lIns="0" tIns="0" rIns="0" bIns="0">
            <a:spAutoFit/>
          </a:bodyPr>
          <a:lstStyle/>
          <a:p>
            <a:pPr algn="l">
              <a:lnSpc>
                <a:spcPct val="110000"/>
              </a:lnSpc>
              <a:spcAft>
                <a:spcPts val="0"/>
              </a:spcAft>
            </a:pPr>
            <a:r>
              <a:rPr sz="1000" b="0">
                <a:solidFill>
                  <a:srgbClr val="21252D"/>
                </a:solidFill>
                <a:latin typeface="Menlo"/>
              </a:rPr>
              <a:t>add_matches</a:t>
            </a:r>
          </a:p>
        </p:txBody>
      </p:sp>
      <p:sp>
        <p:nvSpPr>
          <p:cNvPr id="24" name="TextBox 23"/>
          <p:cNvSpPr txBox="1"/>
          <p:nvPr/>
        </p:nvSpPr>
        <p:spPr>
          <a:xfrm>
            <a:off x="5349240" y="2962656"/>
            <a:ext cx="5029200" cy="201168"/>
          </a:xfrm>
          <a:prstGeom prst="rect">
            <a:avLst/>
          </a:prstGeom>
          <a:noFill/>
        </p:spPr>
        <p:txBody>
          <a:bodyPr wrap="square" lIns="0" tIns="0" rIns="0" bIns="0">
            <a:spAutoFit/>
          </a:bodyPr>
          <a:lstStyle/>
          <a:p>
            <a:pPr algn="l">
              <a:lnSpc>
                <a:spcPct val="110000"/>
              </a:lnSpc>
              <a:spcAft>
                <a:spcPts val="0"/>
              </a:spcAft>
            </a:pPr>
            <a:r>
              <a:rPr sz="1050" b="0">
                <a:solidFill>
                  <a:srgbClr val="6E747E"/>
                </a:solidFill>
                <a:latin typeface="Helvetica Neue"/>
              </a:rPr>
              <a:t>Tabla matches con FK a tournaments, teams y venues</a:t>
            </a:r>
          </a:p>
        </p:txBody>
      </p:sp>
      <p:sp>
        <p:nvSpPr>
          <p:cNvPr id="25" name="TextBox 24"/>
          <p:cNvSpPr txBox="1"/>
          <p:nvPr/>
        </p:nvSpPr>
        <p:spPr>
          <a:xfrm>
            <a:off x="10424160" y="2962656"/>
            <a:ext cx="1005840" cy="201168"/>
          </a:xfrm>
          <a:prstGeom prst="rect">
            <a:avLst/>
          </a:prstGeom>
          <a:noFill/>
        </p:spPr>
        <p:txBody>
          <a:bodyPr wrap="square" lIns="0" tIns="0" rIns="0" bIns="0">
            <a:spAutoFit/>
          </a:bodyPr>
          <a:lstStyle/>
          <a:p>
            <a:pPr algn="l">
              <a:lnSpc>
                <a:spcPct val="110000"/>
              </a:lnSpc>
              <a:spcAft>
                <a:spcPts val="0"/>
              </a:spcAft>
            </a:pPr>
            <a:r>
              <a:rPr sz="1050" b="1">
                <a:solidFill>
                  <a:srgbClr val="21252D"/>
                </a:solidFill>
                <a:latin typeface="Helvetica Neue"/>
              </a:rPr>
              <a:t>Miguel</a:t>
            </a:r>
          </a:p>
        </p:txBody>
      </p:sp>
      <p:sp>
        <p:nvSpPr>
          <p:cNvPr id="26" name="TextBox 25"/>
          <p:cNvSpPr txBox="1"/>
          <p:nvPr/>
        </p:nvSpPr>
        <p:spPr>
          <a:xfrm>
            <a:off x="868680" y="3374136"/>
            <a:ext cx="2011680" cy="201168"/>
          </a:xfrm>
          <a:prstGeom prst="rect">
            <a:avLst/>
          </a:prstGeom>
          <a:noFill/>
        </p:spPr>
        <p:txBody>
          <a:bodyPr wrap="square" lIns="0" tIns="0" rIns="0" bIns="0">
            <a:spAutoFit/>
          </a:bodyPr>
          <a:lstStyle/>
          <a:p>
            <a:pPr algn="l">
              <a:lnSpc>
                <a:spcPct val="110000"/>
              </a:lnSpc>
              <a:spcAft>
                <a:spcPts val="0"/>
              </a:spcAft>
            </a:pPr>
            <a:r>
              <a:rPr sz="1000" b="1">
                <a:solidFill>
                  <a:srgbClr val="4338CA"/>
                </a:solidFill>
                <a:latin typeface="Menlo"/>
              </a:rPr>
              <a:t>V20260803143000</a:t>
            </a:r>
          </a:p>
        </p:txBody>
      </p:sp>
      <p:sp>
        <p:nvSpPr>
          <p:cNvPr id="27" name="TextBox 26"/>
          <p:cNvSpPr txBox="1"/>
          <p:nvPr/>
        </p:nvSpPr>
        <p:spPr>
          <a:xfrm>
            <a:off x="2880360" y="3374136"/>
            <a:ext cx="2468880" cy="201168"/>
          </a:xfrm>
          <a:prstGeom prst="rect">
            <a:avLst/>
          </a:prstGeom>
          <a:noFill/>
        </p:spPr>
        <p:txBody>
          <a:bodyPr wrap="square" lIns="0" tIns="0" rIns="0" bIns="0">
            <a:spAutoFit/>
          </a:bodyPr>
          <a:lstStyle/>
          <a:p>
            <a:pPr algn="l">
              <a:lnSpc>
                <a:spcPct val="110000"/>
              </a:lnSpc>
              <a:spcAft>
                <a:spcPts val="0"/>
              </a:spcAft>
            </a:pPr>
            <a:r>
              <a:rPr sz="1000" b="0">
                <a:solidFill>
                  <a:srgbClr val="21252D"/>
                </a:solidFill>
                <a:latin typeface="Menlo"/>
              </a:rPr>
              <a:t>add_match_scores</a:t>
            </a:r>
          </a:p>
        </p:txBody>
      </p:sp>
      <p:sp>
        <p:nvSpPr>
          <p:cNvPr id="28" name="TextBox 27"/>
          <p:cNvSpPr txBox="1"/>
          <p:nvPr/>
        </p:nvSpPr>
        <p:spPr>
          <a:xfrm>
            <a:off x="5349240" y="3383280"/>
            <a:ext cx="5029200" cy="201168"/>
          </a:xfrm>
          <a:prstGeom prst="rect">
            <a:avLst/>
          </a:prstGeom>
          <a:noFill/>
        </p:spPr>
        <p:txBody>
          <a:bodyPr wrap="square" lIns="0" tIns="0" rIns="0" bIns="0">
            <a:spAutoFit/>
          </a:bodyPr>
          <a:lstStyle/>
          <a:p>
            <a:pPr algn="l">
              <a:lnSpc>
                <a:spcPct val="110000"/>
              </a:lnSpc>
              <a:spcAft>
                <a:spcPts val="0"/>
              </a:spcAft>
            </a:pPr>
            <a:r>
              <a:rPr sz="1050" b="0">
                <a:solidFill>
                  <a:srgbClr val="6E747E"/>
                </a:solidFill>
                <a:latin typeface="Helvetica Neue"/>
              </a:rPr>
              <a:t>Tabla match_scores, 1:1 con matches vía UNIQUE</a:t>
            </a:r>
          </a:p>
        </p:txBody>
      </p:sp>
      <p:sp>
        <p:nvSpPr>
          <p:cNvPr id="29" name="TextBox 28"/>
          <p:cNvSpPr txBox="1"/>
          <p:nvPr/>
        </p:nvSpPr>
        <p:spPr>
          <a:xfrm>
            <a:off x="10424160" y="3383280"/>
            <a:ext cx="1005840" cy="201168"/>
          </a:xfrm>
          <a:prstGeom prst="rect">
            <a:avLst/>
          </a:prstGeom>
          <a:noFill/>
        </p:spPr>
        <p:txBody>
          <a:bodyPr wrap="square" lIns="0" tIns="0" rIns="0" bIns="0">
            <a:spAutoFit/>
          </a:bodyPr>
          <a:lstStyle/>
          <a:p>
            <a:pPr algn="l">
              <a:lnSpc>
                <a:spcPct val="110000"/>
              </a:lnSpc>
              <a:spcAft>
                <a:spcPts val="0"/>
              </a:spcAft>
            </a:pPr>
            <a:r>
              <a:rPr sz="1050" b="1">
                <a:solidFill>
                  <a:srgbClr val="21252D"/>
                </a:solidFill>
                <a:latin typeface="Helvetica Neue"/>
              </a:rPr>
              <a:t>Miguel</a:t>
            </a:r>
          </a:p>
        </p:txBody>
      </p:sp>
      <p:sp>
        <p:nvSpPr>
          <p:cNvPr id="30" name="Rectangle 29"/>
          <p:cNvSpPr/>
          <p:nvPr/>
        </p:nvSpPr>
        <p:spPr>
          <a:xfrm>
            <a:off x="731520" y="3675888"/>
            <a:ext cx="1069848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868680" y="3794760"/>
            <a:ext cx="2011680" cy="201168"/>
          </a:xfrm>
          <a:prstGeom prst="rect">
            <a:avLst/>
          </a:prstGeom>
          <a:noFill/>
        </p:spPr>
        <p:txBody>
          <a:bodyPr wrap="square" lIns="0" tIns="0" rIns="0" bIns="0">
            <a:spAutoFit/>
          </a:bodyPr>
          <a:lstStyle/>
          <a:p>
            <a:pPr algn="l">
              <a:lnSpc>
                <a:spcPct val="110000"/>
              </a:lnSpc>
              <a:spcAft>
                <a:spcPts val="0"/>
              </a:spcAft>
            </a:pPr>
            <a:r>
              <a:rPr sz="1000" b="1">
                <a:solidFill>
                  <a:srgbClr val="4338CA"/>
                </a:solidFill>
                <a:latin typeface="Menlo"/>
              </a:rPr>
              <a:t>V20260804160000</a:t>
            </a:r>
          </a:p>
        </p:txBody>
      </p:sp>
      <p:sp>
        <p:nvSpPr>
          <p:cNvPr id="32" name="TextBox 31"/>
          <p:cNvSpPr txBox="1"/>
          <p:nvPr/>
        </p:nvSpPr>
        <p:spPr>
          <a:xfrm>
            <a:off x="2880360" y="3794760"/>
            <a:ext cx="2468880" cy="201168"/>
          </a:xfrm>
          <a:prstGeom prst="rect">
            <a:avLst/>
          </a:prstGeom>
          <a:noFill/>
        </p:spPr>
        <p:txBody>
          <a:bodyPr wrap="square" lIns="0" tIns="0" rIns="0" bIns="0">
            <a:spAutoFit/>
          </a:bodyPr>
          <a:lstStyle/>
          <a:p>
            <a:pPr algn="l">
              <a:lnSpc>
                <a:spcPct val="110000"/>
              </a:lnSpc>
              <a:spcAft>
                <a:spcPts val="0"/>
              </a:spcAft>
            </a:pPr>
            <a:r>
              <a:rPr sz="1000" b="0">
                <a:solidFill>
                  <a:srgbClr val="21252D"/>
                </a:solidFill>
                <a:latin typeface="Menlo"/>
              </a:rPr>
              <a:t>add_audit_constraints</a:t>
            </a:r>
          </a:p>
        </p:txBody>
      </p:sp>
      <p:sp>
        <p:nvSpPr>
          <p:cNvPr id="33" name="TextBox 32"/>
          <p:cNvSpPr txBox="1"/>
          <p:nvPr/>
        </p:nvSpPr>
        <p:spPr>
          <a:xfrm>
            <a:off x="5349240" y="3803904"/>
            <a:ext cx="5029200" cy="201168"/>
          </a:xfrm>
          <a:prstGeom prst="rect">
            <a:avLst/>
          </a:prstGeom>
          <a:noFill/>
        </p:spPr>
        <p:txBody>
          <a:bodyPr wrap="square" lIns="0" tIns="0" rIns="0" bIns="0">
            <a:spAutoFit/>
          </a:bodyPr>
          <a:lstStyle/>
          <a:p>
            <a:pPr algn="l">
              <a:lnSpc>
                <a:spcPct val="110000"/>
              </a:lnSpc>
              <a:spcAft>
                <a:spcPts val="0"/>
              </a:spcAft>
            </a:pPr>
            <a:r>
              <a:rPr sz="1050" b="0">
                <a:solidFill>
                  <a:srgbClr val="6E747E"/>
                </a:solidFill>
                <a:latin typeface="Helvetica Neue"/>
              </a:rPr>
              <a:t>2 CHECK de integridad + 3 índices de rendimiento</a:t>
            </a:r>
          </a:p>
        </p:txBody>
      </p:sp>
      <p:sp>
        <p:nvSpPr>
          <p:cNvPr id="34" name="TextBox 33"/>
          <p:cNvSpPr txBox="1"/>
          <p:nvPr/>
        </p:nvSpPr>
        <p:spPr>
          <a:xfrm>
            <a:off x="10424160" y="3803904"/>
            <a:ext cx="1005840" cy="201168"/>
          </a:xfrm>
          <a:prstGeom prst="rect">
            <a:avLst/>
          </a:prstGeom>
          <a:noFill/>
        </p:spPr>
        <p:txBody>
          <a:bodyPr wrap="square" lIns="0" tIns="0" rIns="0" bIns="0">
            <a:spAutoFit/>
          </a:bodyPr>
          <a:lstStyle/>
          <a:p>
            <a:pPr algn="l">
              <a:lnSpc>
                <a:spcPct val="110000"/>
              </a:lnSpc>
              <a:spcAft>
                <a:spcPts val="0"/>
              </a:spcAft>
            </a:pPr>
            <a:r>
              <a:rPr sz="1050" b="1">
                <a:solidFill>
                  <a:srgbClr val="21252D"/>
                </a:solidFill>
                <a:latin typeface="Helvetica Neue"/>
              </a:rPr>
              <a:t>Andrés</a:t>
            </a:r>
          </a:p>
        </p:txBody>
      </p:sp>
      <p:sp>
        <p:nvSpPr>
          <p:cNvPr id="35" name="TextBox 34"/>
          <p:cNvSpPr txBox="1"/>
          <p:nvPr/>
        </p:nvSpPr>
        <p:spPr>
          <a:xfrm>
            <a:off x="868680" y="4215384"/>
            <a:ext cx="2011680" cy="201168"/>
          </a:xfrm>
          <a:prstGeom prst="rect">
            <a:avLst/>
          </a:prstGeom>
          <a:noFill/>
        </p:spPr>
        <p:txBody>
          <a:bodyPr wrap="square" lIns="0" tIns="0" rIns="0" bIns="0">
            <a:spAutoFit/>
          </a:bodyPr>
          <a:lstStyle/>
          <a:p>
            <a:pPr algn="l">
              <a:lnSpc>
                <a:spcPct val="110000"/>
              </a:lnSpc>
              <a:spcAft>
                <a:spcPts val="0"/>
              </a:spcAft>
            </a:pPr>
            <a:r>
              <a:rPr sz="1000" b="1">
                <a:solidFill>
                  <a:srgbClr val="4338CA"/>
                </a:solidFill>
                <a:latin typeface="Menlo"/>
              </a:rPr>
              <a:t>V20260806090000</a:t>
            </a:r>
          </a:p>
        </p:txBody>
      </p:sp>
      <p:sp>
        <p:nvSpPr>
          <p:cNvPr id="36" name="TextBox 35"/>
          <p:cNvSpPr txBox="1"/>
          <p:nvPr/>
        </p:nvSpPr>
        <p:spPr>
          <a:xfrm>
            <a:off x="2880360" y="4215384"/>
            <a:ext cx="2468880" cy="201168"/>
          </a:xfrm>
          <a:prstGeom prst="rect">
            <a:avLst/>
          </a:prstGeom>
          <a:noFill/>
        </p:spPr>
        <p:txBody>
          <a:bodyPr wrap="square" lIns="0" tIns="0" rIns="0" bIns="0">
            <a:spAutoFit/>
          </a:bodyPr>
          <a:lstStyle/>
          <a:p>
            <a:pPr algn="l">
              <a:lnSpc>
                <a:spcPct val="110000"/>
              </a:lnSpc>
              <a:spcAft>
                <a:spcPts val="0"/>
              </a:spcAft>
            </a:pPr>
            <a:r>
              <a:rPr sz="1000" b="0">
                <a:solidFill>
                  <a:srgbClr val="21252D"/>
                </a:solidFill>
                <a:latin typeface="Menlo"/>
              </a:rPr>
              <a:t>add_referees</a:t>
            </a:r>
          </a:p>
        </p:txBody>
      </p:sp>
      <p:sp>
        <p:nvSpPr>
          <p:cNvPr id="37" name="TextBox 36"/>
          <p:cNvSpPr txBox="1"/>
          <p:nvPr/>
        </p:nvSpPr>
        <p:spPr>
          <a:xfrm>
            <a:off x="5349240" y="4224528"/>
            <a:ext cx="5029200" cy="201168"/>
          </a:xfrm>
          <a:prstGeom prst="rect">
            <a:avLst/>
          </a:prstGeom>
          <a:noFill/>
        </p:spPr>
        <p:txBody>
          <a:bodyPr wrap="square" lIns="0" tIns="0" rIns="0" bIns="0">
            <a:spAutoFit/>
          </a:bodyPr>
          <a:lstStyle/>
          <a:p>
            <a:pPr algn="l">
              <a:lnSpc>
                <a:spcPct val="110000"/>
              </a:lnSpc>
              <a:spcAft>
                <a:spcPts val="0"/>
              </a:spcAft>
            </a:pPr>
            <a:r>
              <a:rPr sz="1050" b="0">
                <a:solidFill>
                  <a:srgbClr val="6E747E"/>
                </a:solidFill>
                <a:latin typeface="Helvetica Neue"/>
              </a:rPr>
              <a:t>Tabla referees + columna matches.referee_id + índice</a:t>
            </a:r>
          </a:p>
        </p:txBody>
      </p:sp>
      <p:sp>
        <p:nvSpPr>
          <p:cNvPr id="38" name="TextBox 37"/>
          <p:cNvSpPr txBox="1"/>
          <p:nvPr/>
        </p:nvSpPr>
        <p:spPr>
          <a:xfrm>
            <a:off x="10424160" y="4224528"/>
            <a:ext cx="1005840" cy="201168"/>
          </a:xfrm>
          <a:prstGeom prst="rect">
            <a:avLst/>
          </a:prstGeom>
          <a:noFill/>
        </p:spPr>
        <p:txBody>
          <a:bodyPr wrap="square" lIns="0" tIns="0" rIns="0" bIns="0">
            <a:spAutoFit/>
          </a:bodyPr>
          <a:lstStyle/>
          <a:p>
            <a:pPr algn="l">
              <a:lnSpc>
                <a:spcPct val="110000"/>
              </a:lnSpc>
              <a:spcAft>
                <a:spcPts val="0"/>
              </a:spcAft>
            </a:pPr>
            <a:r>
              <a:rPr sz="1050" b="1">
                <a:solidFill>
                  <a:srgbClr val="21252D"/>
                </a:solidFill>
                <a:latin typeface="Helvetica Neue"/>
              </a:rPr>
              <a:t>Antonio</a:t>
            </a:r>
          </a:p>
        </p:txBody>
      </p:sp>
      <p:sp>
        <p:nvSpPr>
          <p:cNvPr id="39" name="Rectangle 38"/>
          <p:cNvSpPr/>
          <p:nvPr/>
        </p:nvSpPr>
        <p:spPr>
          <a:xfrm>
            <a:off x="731520" y="4517136"/>
            <a:ext cx="1069848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868680" y="4636008"/>
            <a:ext cx="2011680" cy="201168"/>
          </a:xfrm>
          <a:prstGeom prst="rect">
            <a:avLst/>
          </a:prstGeom>
          <a:noFill/>
        </p:spPr>
        <p:txBody>
          <a:bodyPr wrap="square" lIns="0" tIns="0" rIns="0" bIns="0">
            <a:spAutoFit/>
          </a:bodyPr>
          <a:lstStyle/>
          <a:p>
            <a:pPr algn="l">
              <a:lnSpc>
                <a:spcPct val="110000"/>
              </a:lnSpc>
              <a:spcAft>
                <a:spcPts val="0"/>
              </a:spcAft>
            </a:pPr>
            <a:r>
              <a:rPr sz="1000" b="1">
                <a:solidFill>
                  <a:srgbClr val="157F4C"/>
                </a:solidFill>
                <a:latin typeface="Menlo"/>
              </a:rPr>
              <a:t>R__</a:t>
            </a:r>
          </a:p>
        </p:txBody>
      </p:sp>
      <p:sp>
        <p:nvSpPr>
          <p:cNvPr id="41" name="TextBox 40"/>
          <p:cNvSpPr txBox="1"/>
          <p:nvPr/>
        </p:nvSpPr>
        <p:spPr>
          <a:xfrm>
            <a:off x="2880360" y="4636008"/>
            <a:ext cx="2468880" cy="201168"/>
          </a:xfrm>
          <a:prstGeom prst="rect">
            <a:avLst/>
          </a:prstGeom>
          <a:noFill/>
        </p:spPr>
        <p:txBody>
          <a:bodyPr wrap="square" lIns="0" tIns="0" rIns="0" bIns="0">
            <a:spAutoFit/>
          </a:bodyPr>
          <a:lstStyle/>
          <a:p>
            <a:pPr algn="l">
              <a:lnSpc>
                <a:spcPct val="110000"/>
              </a:lnSpc>
              <a:spcAft>
                <a:spcPts val="0"/>
              </a:spcAft>
            </a:pPr>
            <a:r>
              <a:rPr sz="1000" b="0">
                <a:solidFill>
                  <a:srgbClr val="21252D"/>
                </a:solidFill>
                <a:latin typeface="Menlo"/>
              </a:rPr>
              <a:t>vw_tournament_standings</a:t>
            </a:r>
          </a:p>
        </p:txBody>
      </p:sp>
      <p:sp>
        <p:nvSpPr>
          <p:cNvPr id="42" name="TextBox 41"/>
          <p:cNvSpPr txBox="1"/>
          <p:nvPr/>
        </p:nvSpPr>
        <p:spPr>
          <a:xfrm>
            <a:off x="5349240" y="4645152"/>
            <a:ext cx="5029200" cy="201168"/>
          </a:xfrm>
          <a:prstGeom prst="rect">
            <a:avLst/>
          </a:prstGeom>
          <a:noFill/>
        </p:spPr>
        <p:txBody>
          <a:bodyPr wrap="square" lIns="0" tIns="0" rIns="0" bIns="0">
            <a:spAutoFit/>
          </a:bodyPr>
          <a:lstStyle/>
          <a:p>
            <a:pPr algn="l">
              <a:lnSpc>
                <a:spcPct val="110000"/>
              </a:lnSpc>
              <a:spcAft>
                <a:spcPts val="0"/>
              </a:spcAft>
            </a:pPr>
            <a:r>
              <a:rPr sz="1050" b="0">
                <a:solidFill>
                  <a:srgbClr val="6E747E"/>
                </a:solidFill>
                <a:latin typeface="Helvetica Neue"/>
              </a:rPr>
              <a:t>Vista de clasificación — se re-aplica al cambiar su checksum</a:t>
            </a:r>
          </a:p>
        </p:txBody>
      </p:sp>
      <p:sp>
        <p:nvSpPr>
          <p:cNvPr id="43" name="TextBox 42"/>
          <p:cNvSpPr txBox="1"/>
          <p:nvPr/>
        </p:nvSpPr>
        <p:spPr>
          <a:xfrm>
            <a:off x="10424160" y="4645152"/>
            <a:ext cx="1005840" cy="201168"/>
          </a:xfrm>
          <a:prstGeom prst="rect">
            <a:avLst/>
          </a:prstGeom>
          <a:noFill/>
        </p:spPr>
        <p:txBody>
          <a:bodyPr wrap="square" lIns="0" tIns="0" rIns="0" bIns="0">
            <a:spAutoFit/>
          </a:bodyPr>
          <a:lstStyle/>
          <a:p>
            <a:pPr algn="l">
              <a:lnSpc>
                <a:spcPct val="110000"/>
              </a:lnSpc>
              <a:spcAft>
                <a:spcPts val="0"/>
              </a:spcAft>
            </a:pPr>
            <a:r>
              <a:rPr sz="1050" b="1">
                <a:solidFill>
                  <a:srgbClr val="21252D"/>
                </a:solidFill>
                <a:latin typeface="Helvetica Neue"/>
              </a:rPr>
              <a:t>Andrés</a:t>
            </a:r>
          </a:p>
        </p:txBody>
      </p:sp>
      <p:sp>
        <p:nvSpPr>
          <p:cNvPr id="44" name="Rectangle 43"/>
          <p:cNvSpPr/>
          <p:nvPr/>
        </p:nvSpPr>
        <p:spPr>
          <a:xfrm>
            <a:off x="731520" y="5102352"/>
            <a:ext cx="10698480" cy="1115568"/>
          </a:xfrm>
          <a:prstGeom prst="rect">
            <a:avLst/>
          </a:prstGeom>
          <a:solidFill>
            <a:srgbClr val="EC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1024128" y="5248656"/>
            <a:ext cx="10149840" cy="640080"/>
          </a:xfrm>
          <a:prstGeom prst="rect">
            <a:avLst/>
          </a:prstGeom>
          <a:noFill/>
        </p:spPr>
        <p:txBody>
          <a:bodyPr wrap="square" lIns="0" tIns="0" rIns="0" bIns="0">
            <a:spAutoFit/>
          </a:bodyPr>
          <a:lstStyle/>
          <a:p>
            <a:pPr algn="l">
              <a:lnSpc>
                <a:spcPct val="132000"/>
              </a:lnSpc>
              <a:spcAft>
                <a:spcPts val="0"/>
              </a:spcAft>
            </a:pPr>
            <a:r>
              <a:rPr sz="1100" b="1">
                <a:solidFill>
                  <a:srgbClr val="4338CA"/>
                </a:solidFill>
                <a:latin typeface="Helvetica Neue"/>
              </a:rPr>
              <a:t>Requisitos cubiertos:  </a:t>
            </a:r>
            <a:r>
              <a:rPr sz="1100" b="0">
                <a:solidFill>
                  <a:srgbClr val="21252D"/>
                </a:solidFill>
                <a:latin typeface="Helvetica Neue"/>
              </a:rPr>
              <a:t>baseline ✓  ·  tres migraciones evolutivas ✓  ·  tabla nueva (matches, match_scores, referees) ✓  ·  columna añadida (matches.referee_id) ✓</a:t>
            </a:r>
          </a:p>
          <a:p>
            <a:pPr algn="l">
              <a:lnSpc>
                <a:spcPct val="132000"/>
              </a:lnSpc>
              <a:spcAft>
                <a:spcPts val="0"/>
              </a:spcAft>
            </a:pPr>
            <a:r>
              <a:rPr sz="1100" b="0">
                <a:solidFill>
                  <a:srgbClr val="21252D"/>
                </a:solidFill>
                <a:latin typeface="Helvetica Neue"/>
              </a:rPr>
              <a:t>restricción e índice (chk_matches_different_teams, idx_matches_status) ✓  ·  repetible R__ ✓  ·  flyway migrate desde cero reconstruye la BD entera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8F6"/>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31520" y="475488"/>
            <a:ext cx="10728655" cy="228600"/>
          </a:xfrm>
          <a:prstGeom prst="rect">
            <a:avLst/>
          </a:prstGeom>
          <a:noFill/>
        </p:spPr>
        <p:txBody>
          <a:bodyPr wrap="square" lIns="0" tIns="0" rIns="0" bIns="0">
            <a:spAutoFit/>
          </a:bodyPr>
          <a:lstStyle/>
          <a:p>
            <a:pPr algn="l">
              <a:lnSpc>
                <a:spcPct val="110000"/>
              </a:lnSpc>
              <a:spcAft>
                <a:spcPts val="0"/>
              </a:spcAft>
            </a:pPr>
            <a:r>
              <a:rPr sz="1050" b="1">
                <a:solidFill>
                  <a:srgbClr val="4338CA"/>
                </a:solidFill>
                <a:latin typeface="Helvetica Neue"/>
              </a:rPr>
              <a:t>AUTOMATIZACIÓN</a:t>
            </a:r>
          </a:p>
        </p:txBody>
      </p:sp>
      <p:sp>
        <p:nvSpPr>
          <p:cNvPr id="4" name="TextBox 3"/>
          <p:cNvSpPr txBox="1"/>
          <p:nvPr/>
        </p:nvSpPr>
        <p:spPr>
          <a:xfrm>
            <a:off x="731520" y="749808"/>
            <a:ext cx="10728655" cy="548640"/>
          </a:xfrm>
          <a:prstGeom prst="rect">
            <a:avLst/>
          </a:prstGeom>
          <a:noFill/>
        </p:spPr>
        <p:txBody>
          <a:bodyPr wrap="square" lIns="0" tIns="0" rIns="0" bIns="0">
            <a:spAutoFit/>
          </a:bodyPr>
          <a:lstStyle/>
          <a:p>
            <a:pPr algn="l">
              <a:lnSpc>
                <a:spcPct val="110000"/>
              </a:lnSpc>
              <a:spcAft>
                <a:spcPts val="0"/>
              </a:spcAft>
            </a:pPr>
            <a:r>
              <a:rPr sz="3100" b="1">
                <a:solidFill>
                  <a:srgbClr val="21252D"/>
                </a:solidFill>
                <a:latin typeface="Helvetica Neue"/>
              </a:rPr>
              <a:t>El pipeline en acción</a:t>
            </a:r>
          </a:p>
        </p:txBody>
      </p:sp>
      <p:sp>
        <p:nvSpPr>
          <p:cNvPr id="5" name="TextBox 4"/>
          <p:cNvSpPr txBox="1"/>
          <p:nvPr/>
        </p:nvSpPr>
        <p:spPr>
          <a:xfrm>
            <a:off x="10362895" y="457200"/>
            <a:ext cx="1097280" cy="365760"/>
          </a:xfrm>
          <a:prstGeom prst="rect">
            <a:avLst/>
          </a:prstGeom>
          <a:noFill/>
        </p:spPr>
        <p:txBody>
          <a:bodyPr wrap="square" lIns="0" tIns="0" rIns="0" bIns="0">
            <a:spAutoFit/>
          </a:bodyPr>
          <a:lstStyle/>
          <a:p>
            <a:pPr algn="r">
              <a:lnSpc>
                <a:spcPct val="110000"/>
              </a:lnSpc>
              <a:spcAft>
                <a:spcPts val="0"/>
              </a:spcAft>
            </a:pPr>
            <a:r>
              <a:rPr sz="1300" b="1">
                <a:solidFill>
                  <a:srgbClr val="E3E2DC"/>
                </a:solidFill>
                <a:latin typeface="Helvetica Neue"/>
              </a:rPr>
              <a:t>08</a:t>
            </a:r>
          </a:p>
        </p:txBody>
      </p:sp>
      <p:sp>
        <p:nvSpPr>
          <p:cNvPr id="6" name="Rectangle 5"/>
          <p:cNvSpPr/>
          <p:nvPr/>
        </p:nvSpPr>
        <p:spPr>
          <a:xfrm>
            <a:off x="731520" y="1417320"/>
            <a:ext cx="10728655" cy="11430"/>
          </a:xfrm>
          <a:prstGeom prst="rect">
            <a:avLst/>
          </a:prstGeom>
          <a:solidFill>
            <a:srgbClr val="E3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31520" y="6355080"/>
            <a:ext cx="10728655" cy="228600"/>
          </a:xfrm>
          <a:prstGeom prst="rect">
            <a:avLst/>
          </a:prstGeom>
          <a:noFill/>
        </p:spPr>
        <p:txBody>
          <a:bodyPr wrap="square" lIns="0" tIns="0" rIns="0" bIns="0">
            <a:spAutoFit/>
          </a:bodyPr>
          <a:lstStyle/>
          <a:p>
            <a:pPr algn="l">
              <a:lnSpc>
                <a:spcPct val="110000"/>
              </a:lnSpc>
              <a:spcAft>
                <a:spcPts val="0"/>
              </a:spcAft>
            </a:pPr>
            <a:r>
              <a:rPr sz="950" b="0">
                <a:solidFill>
                  <a:srgbClr val="E3E2DC"/>
                </a:solidFill>
                <a:latin typeface="Helvetica Neue"/>
              </a:rPr>
              <a:t>CI/CD en Base de Datos  ·  SI6010-5979  ·  Torneos deportivos</a:t>
            </a:r>
          </a:p>
        </p:txBody>
      </p:sp>
      <p:sp>
        <p:nvSpPr>
          <p:cNvPr id="8" name="TextBox 7"/>
          <p:cNvSpPr txBox="1"/>
          <p:nvPr/>
        </p:nvSpPr>
        <p:spPr>
          <a:xfrm>
            <a:off x="731520" y="1828800"/>
            <a:ext cx="3657600" cy="274320"/>
          </a:xfrm>
          <a:prstGeom prst="rect">
            <a:avLst/>
          </a:prstGeom>
          <a:noFill/>
        </p:spPr>
        <p:txBody>
          <a:bodyPr wrap="square" lIns="0" tIns="0" rIns="0" bIns="0">
            <a:spAutoFit/>
          </a:bodyPr>
          <a:lstStyle/>
          <a:p>
            <a:pPr algn="l">
              <a:lnSpc>
                <a:spcPct val="110000"/>
              </a:lnSpc>
              <a:spcAft>
                <a:spcPts val="0"/>
              </a:spcAft>
            </a:pPr>
            <a:r>
              <a:rPr sz="1500" b="1">
                <a:solidFill>
                  <a:srgbClr val="4338CA"/>
                </a:solidFill>
                <a:latin typeface="Helvetica Neue"/>
              </a:rPr>
              <a:t>Pull Request  →  DEV</a:t>
            </a:r>
          </a:p>
        </p:txBody>
      </p:sp>
      <p:sp>
        <p:nvSpPr>
          <p:cNvPr id="9" name="Rectangle 8"/>
          <p:cNvSpPr/>
          <p:nvPr/>
        </p:nvSpPr>
        <p:spPr>
          <a:xfrm>
            <a:off x="731520" y="2240280"/>
            <a:ext cx="1892807" cy="566928"/>
          </a:xfrm>
          <a:prstGeom prst="rect">
            <a:avLst/>
          </a:prstGeom>
          <a:solidFill>
            <a:srgbClr val="FFFFFF"/>
          </a:solidFill>
          <a:ln w="12700">
            <a:solidFill>
              <a:srgbClr val="4338C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31520" y="2404872"/>
            <a:ext cx="1892807" cy="274320"/>
          </a:xfrm>
          <a:prstGeom prst="rect">
            <a:avLst/>
          </a:prstGeom>
          <a:noFill/>
        </p:spPr>
        <p:txBody>
          <a:bodyPr wrap="square" lIns="0" rIns="0">
            <a:spAutoFit/>
          </a:bodyPr>
          <a:lstStyle/>
          <a:p>
            <a:pPr algn="ctr"/>
            <a:r>
              <a:rPr sz="1050" b="1">
                <a:solidFill>
                  <a:srgbClr val="21252D"/>
                </a:solidFill>
                <a:latin typeface="Helvetica Neue"/>
              </a:rPr>
              <a:t>nueva migración</a:t>
            </a:r>
          </a:p>
        </p:txBody>
      </p:sp>
      <p:cxnSp>
        <p:nvCxnSpPr>
          <p:cNvPr id="11" name="Connector 10"/>
          <p:cNvCxnSpPr/>
          <p:nvPr/>
        </p:nvCxnSpPr>
        <p:spPr>
          <a:xfrm>
            <a:off x="2624327" y="2523744"/>
            <a:ext cx="310896" cy="0"/>
          </a:xfrm>
          <a:prstGeom prst="line">
            <a:avLst/>
          </a:prstGeom>
          <a:ln w="15875">
            <a:solidFill>
              <a:srgbClr val="4338CA"/>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2935223" y="2240280"/>
            <a:ext cx="1892807" cy="566928"/>
          </a:xfrm>
          <a:prstGeom prst="rect">
            <a:avLst/>
          </a:prstGeom>
          <a:solidFill>
            <a:srgbClr val="FFFFFF"/>
          </a:solidFill>
          <a:ln w="12700">
            <a:solidFill>
              <a:srgbClr val="4338C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2935223" y="2404872"/>
            <a:ext cx="1892807" cy="274320"/>
          </a:xfrm>
          <a:prstGeom prst="rect">
            <a:avLst/>
          </a:prstGeom>
          <a:noFill/>
        </p:spPr>
        <p:txBody>
          <a:bodyPr wrap="square" lIns="0" rIns="0">
            <a:spAutoFit/>
          </a:bodyPr>
          <a:lstStyle/>
          <a:p>
            <a:pPr algn="ctr"/>
            <a:r>
              <a:rPr sz="1050" b="1">
                <a:solidFill>
                  <a:srgbClr val="21252D"/>
                </a:solidFill>
                <a:latin typeface="Helvetica Neue"/>
              </a:rPr>
              <a:t>PR a main</a:t>
            </a:r>
          </a:p>
        </p:txBody>
      </p:sp>
      <p:cxnSp>
        <p:nvCxnSpPr>
          <p:cNvPr id="14" name="Connector 13"/>
          <p:cNvCxnSpPr/>
          <p:nvPr/>
        </p:nvCxnSpPr>
        <p:spPr>
          <a:xfrm>
            <a:off x="4828030" y="2523744"/>
            <a:ext cx="310896" cy="0"/>
          </a:xfrm>
          <a:prstGeom prst="line">
            <a:avLst/>
          </a:prstGeom>
          <a:ln w="15875">
            <a:solidFill>
              <a:srgbClr val="4338CA"/>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5138926" y="2240280"/>
            <a:ext cx="1892807" cy="566928"/>
          </a:xfrm>
          <a:prstGeom prst="rect">
            <a:avLst/>
          </a:prstGeom>
          <a:solidFill>
            <a:srgbClr val="FFFFFF"/>
          </a:solidFill>
          <a:ln w="12700">
            <a:solidFill>
              <a:srgbClr val="4338C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138926" y="2404872"/>
            <a:ext cx="1892807" cy="274320"/>
          </a:xfrm>
          <a:prstGeom prst="rect">
            <a:avLst/>
          </a:prstGeom>
          <a:noFill/>
        </p:spPr>
        <p:txBody>
          <a:bodyPr wrap="square" lIns="0" rIns="0">
            <a:spAutoFit/>
          </a:bodyPr>
          <a:lstStyle/>
          <a:p>
            <a:pPr algn="ctr"/>
            <a:r>
              <a:rPr sz="1050" b="1">
                <a:solidFill>
                  <a:srgbClr val="21252D"/>
                </a:solidFill>
                <a:latin typeface="Menlo"/>
              </a:rPr>
              <a:t>validate</a:t>
            </a:r>
          </a:p>
        </p:txBody>
      </p:sp>
      <p:cxnSp>
        <p:nvCxnSpPr>
          <p:cNvPr id="17" name="Connector 16"/>
          <p:cNvCxnSpPr/>
          <p:nvPr/>
        </p:nvCxnSpPr>
        <p:spPr>
          <a:xfrm>
            <a:off x="7031733" y="2523744"/>
            <a:ext cx="310896" cy="0"/>
          </a:xfrm>
          <a:prstGeom prst="line">
            <a:avLst/>
          </a:prstGeom>
          <a:ln w="15875">
            <a:solidFill>
              <a:srgbClr val="4338CA"/>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342629" y="2240280"/>
            <a:ext cx="1892807" cy="566928"/>
          </a:xfrm>
          <a:prstGeom prst="rect">
            <a:avLst/>
          </a:prstGeom>
          <a:solidFill>
            <a:srgbClr val="FFFFFF"/>
          </a:solidFill>
          <a:ln w="12700">
            <a:solidFill>
              <a:srgbClr val="4338C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342629" y="2404872"/>
            <a:ext cx="1892807" cy="274320"/>
          </a:xfrm>
          <a:prstGeom prst="rect">
            <a:avLst/>
          </a:prstGeom>
          <a:noFill/>
        </p:spPr>
        <p:txBody>
          <a:bodyPr wrap="square" lIns="0" rIns="0">
            <a:spAutoFit/>
          </a:bodyPr>
          <a:lstStyle/>
          <a:p>
            <a:pPr algn="ctr"/>
            <a:r>
              <a:rPr sz="1050" b="1">
                <a:solidFill>
                  <a:srgbClr val="21252D"/>
                </a:solidFill>
                <a:latin typeface="Menlo"/>
              </a:rPr>
              <a:t>info</a:t>
            </a:r>
          </a:p>
        </p:txBody>
      </p:sp>
      <p:cxnSp>
        <p:nvCxnSpPr>
          <p:cNvPr id="20" name="Connector 19"/>
          <p:cNvCxnSpPr/>
          <p:nvPr/>
        </p:nvCxnSpPr>
        <p:spPr>
          <a:xfrm>
            <a:off x="9235436" y="2523744"/>
            <a:ext cx="310896" cy="0"/>
          </a:xfrm>
          <a:prstGeom prst="line">
            <a:avLst/>
          </a:prstGeom>
          <a:ln w="15875">
            <a:solidFill>
              <a:srgbClr val="4338CA"/>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9546332" y="2240280"/>
            <a:ext cx="1892807" cy="566928"/>
          </a:xfrm>
          <a:prstGeom prst="rect">
            <a:avLst/>
          </a:prstGeom>
          <a:solidFill>
            <a:srgbClr val="FFFFFF"/>
          </a:solidFill>
          <a:ln w="12700">
            <a:solidFill>
              <a:srgbClr val="4338C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9546332" y="2404872"/>
            <a:ext cx="1892807" cy="274320"/>
          </a:xfrm>
          <a:prstGeom prst="rect">
            <a:avLst/>
          </a:prstGeom>
          <a:noFill/>
        </p:spPr>
        <p:txBody>
          <a:bodyPr wrap="square" lIns="0" rIns="0">
            <a:spAutoFit/>
          </a:bodyPr>
          <a:lstStyle/>
          <a:p>
            <a:pPr algn="ctr"/>
            <a:r>
              <a:rPr sz="1050" b="1">
                <a:solidFill>
                  <a:srgbClr val="21252D"/>
                </a:solidFill>
                <a:latin typeface="Menlo"/>
              </a:rPr>
              <a:t>migrate DEV</a:t>
            </a:r>
          </a:p>
        </p:txBody>
      </p:sp>
      <p:sp>
        <p:nvSpPr>
          <p:cNvPr id="23" name="TextBox 22"/>
          <p:cNvSpPr txBox="1"/>
          <p:nvPr/>
        </p:nvSpPr>
        <p:spPr>
          <a:xfrm>
            <a:off x="731520" y="3429000"/>
            <a:ext cx="3657600" cy="274320"/>
          </a:xfrm>
          <a:prstGeom prst="rect">
            <a:avLst/>
          </a:prstGeom>
          <a:noFill/>
        </p:spPr>
        <p:txBody>
          <a:bodyPr wrap="square" lIns="0" tIns="0" rIns="0" bIns="0">
            <a:spAutoFit/>
          </a:bodyPr>
          <a:lstStyle/>
          <a:p>
            <a:pPr algn="l">
              <a:lnSpc>
                <a:spcPct val="110000"/>
              </a:lnSpc>
              <a:spcAft>
                <a:spcPts val="0"/>
              </a:spcAft>
            </a:pPr>
            <a:r>
              <a:rPr sz="1500" b="1">
                <a:solidFill>
                  <a:srgbClr val="157F4C"/>
                </a:solidFill>
                <a:latin typeface="Helvetica Neue"/>
              </a:rPr>
              <a:t>Merge  →  PROD</a:t>
            </a:r>
          </a:p>
        </p:txBody>
      </p:sp>
      <p:sp>
        <p:nvSpPr>
          <p:cNvPr id="24" name="Rectangle 23"/>
          <p:cNvSpPr/>
          <p:nvPr/>
        </p:nvSpPr>
        <p:spPr>
          <a:xfrm>
            <a:off x="731520" y="3840480"/>
            <a:ext cx="1892807" cy="566928"/>
          </a:xfrm>
          <a:prstGeom prst="rect">
            <a:avLst/>
          </a:prstGeom>
          <a:solidFill>
            <a:srgbClr val="FFFFFF"/>
          </a:solidFill>
          <a:ln w="12700">
            <a:solidFill>
              <a:srgbClr val="157F4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31520" y="4005072"/>
            <a:ext cx="1892807" cy="274320"/>
          </a:xfrm>
          <a:prstGeom prst="rect">
            <a:avLst/>
          </a:prstGeom>
          <a:noFill/>
        </p:spPr>
        <p:txBody>
          <a:bodyPr wrap="square" lIns="0" rIns="0">
            <a:spAutoFit/>
          </a:bodyPr>
          <a:lstStyle/>
          <a:p>
            <a:pPr algn="ctr"/>
            <a:r>
              <a:rPr sz="1050" b="1">
                <a:solidFill>
                  <a:srgbClr val="21252D"/>
                </a:solidFill>
                <a:latin typeface="Helvetica Neue"/>
              </a:rPr>
              <a:t>merge a main</a:t>
            </a:r>
          </a:p>
        </p:txBody>
      </p:sp>
      <p:cxnSp>
        <p:nvCxnSpPr>
          <p:cNvPr id="26" name="Connector 25"/>
          <p:cNvCxnSpPr/>
          <p:nvPr/>
        </p:nvCxnSpPr>
        <p:spPr>
          <a:xfrm>
            <a:off x="2624327" y="4123944"/>
            <a:ext cx="310896" cy="0"/>
          </a:xfrm>
          <a:prstGeom prst="line">
            <a:avLst/>
          </a:prstGeom>
          <a:ln w="15875">
            <a:solidFill>
              <a:srgbClr val="157F4C"/>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2935223" y="3840480"/>
            <a:ext cx="1892807" cy="566928"/>
          </a:xfrm>
          <a:prstGeom prst="rect">
            <a:avLst/>
          </a:prstGeom>
          <a:solidFill>
            <a:srgbClr val="FFFFFF"/>
          </a:solidFill>
          <a:ln w="12700">
            <a:solidFill>
              <a:srgbClr val="157F4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2935223" y="4005072"/>
            <a:ext cx="1892807" cy="274320"/>
          </a:xfrm>
          <a:prstGeom prst="rect">
            <a:avLst/>
          </a:prstGeom>
          <a:noFill/>
        </p:spPr>
        <p:txBody>
          <a:bodyPr wrap="square" lIns="0" rIns="0">
            <a:spAutoFit/>
          </a:bodyPr>
          <a:lstStyle/>
          <a:p>
            <a:pPr algn="ctr"/>
            <a:r>
              <a:rPr sz="1050" b="1">
                <a:solidFill>
                  <a:srgbClr val="21252D"/>
                </a:solidFill>
                <a:latin typeface="Menlo"/>
              </a:rPr>
              <a:t>validate</a:t>
            </a:r>
          </a:p>
        </p:txBody>
      </p:sp>
      <p:cxnSp>
        <p:nvCxnSpPr>
          <p:cNvPr id="29" name="Connector 28"/>
          <p:cNvCxnSpPr/>
          <p:nvPr/>
        </p:nvCxnSpPr>
        <p:spPr>
          <a:xfrm>
            <a:off x="4828030" y="4123944"/>
            <a:ext cx="310896" cy="0"/>
          </a:xfrm>
          <a:prstGeom prst="line">
            <a:avLst/>
          </a:prstGeom>
          <a:ln w="15875">
            <a:solidFill>
              <a:srgbClr val="157F4C"/>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138926" y="3840480"/>
            <a:ext cx="1892807" cy="566928"/>
          </a:xfrm>
          <a:prstGeom prst="rect">
            <a:avLst/>
          </a:prstGeom>
          <a:solidFill>
            <a:srgbClr val="FFFFFF"/>
          </a:solidFill>
          <a:ln w="12700">
            <a:solidFill>
              <a:srgbClr val="157F4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5138926" y="4005072"/>
            <a:ext cx="1892807" cy="274320"/>
          </a:xfrm>
          <a:prstGeom prst="rect">
            <a:avLst/>
          </a:prstGeom>
          <a:noFill/>
        </p:spPr>
        <p:txBody>
          <a:bodyPr wrap="square" lIns="0" rIns="0">
            <a:spAutoFit/>
          </a:bodyPr>
          <a:lstStyle/>
          <a:p>
            <a:pPr algn="ctr"/>
            <a:r>
              <a:rPr sz="1050" b="1">
                <a:solidFill>
                  <a:srgbClr val="21252D"/>
                </a:solidFill>
                <a:latin typeface="Menlo"/>
              </a:rPr>
              <a:t>info</a:t>
            </a:r>
          </a:p>
        </p:txBody>
      </p:sp>
      <p:cxnSp>
        <p:nvCxnSpPr>
          <p:cNvPr id="32" name="Connector 31"/>
          <p:cNvCxnSpPr/>
          <p:nvPr/>
        </p:nvCxnSpPr>
        <p:spPr>
          <a:xfrm>
            <a:off x="7031733" y="4123944"/>
            <a:ext cx="310896" cy="0"/>
          </a:xfrm>
          <a:prstGeom prst="line">
            <a:avLst/>
          </a:prstGeom>
          <a:ln w="15875">
            <a:solidFill>
              <a:srgbClr val="157F4C"/>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7342629" y="3840480"/>
            <a:ext cx="1892807" cy="566928"/>
          </a:xfrm>
          <a:prstGeom prst="rect">
            <a:avLst/>
          </a:prstGeom>
          <a:solidFill>
            <a:srgbClr val="FFFFFF"/>
          </a:solidFill>
          <a:ln w="12700">
            <a:solidFill>
              <a:srgbClr val="157F4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7342629" y="4005072"/>
            <a:ext cx="1892807" cy="274320"/>
          </a:xfrm>
          <a:prstGeom prst="rect">
            <a:avLst/>
          </a:prstGeom>
          <a:noFill/>
        </p:spPr>
        <p:txBody>
          <a:bodyPr wrap="square" lIns="0" rIns="0">
            <a:spAutoFit/>
          </a:bodyPr>
          <a:lstStyle/>
          <a:p>
            <a:pPr algn="ctr"/>
            <a:r>
              <a:rPr sz="1050" b="1">
                <a:solidFill>
                  <a:srgbClr val="21252D"/>
                </a:solidFill>
                <a:latin typeface="Menlo"/>
              </a:rPr>
              <a:t>migrate PROD</a:t>
            </a:r>
          </a:p>
        </p:txBody>
      </p:sp>
      <p:cxnSp>
        <p:nvCxnSpPr>
          <p:cNvPr id="35" name="Connector 34"/>
          <p:cNvCxnSpPr/>
          <p:nvPr/>
        </p:nvCxnSpPr>
        <p:spPr>
          <a:xfrm>
            <a:off x="9235436" y="4123944"/>
            <a:ext cx="310896" cy="0"/>
          </a:xfrm>
          <a:prstGeom prst="line">
            <a:avLst/>
          </a:prstGeom>
          <a:ln w="15875">
            <a:solidFill>
              <a:srgbClr val="157F4C"/>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9546332" y="3840480"/>
            <a:ext cx="1892807" cy="566928"/>
          </a:xfrm>
          <a:prstGeom prst="rect">
            <a:avLst/>
          </a:prstGeom>
          <a:solidFill>
            <a:srgbClr val="FFFFFF"/>
          </a:solidFill>
          <a:ln w="12700">
            <a:solidFill>
              <a:srgbClr val="157F4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9546332" y="4005072"/>
            <a:ext cx="1892807" cy="274320"/>
          </a:xfrm>
          <a:prstGeom prst="rect">
            <a:avLst/>
          </a:prstGeom>
          <a:noFill/>
        </p:spPr>
        <p:txBody>
          <a:bodyPr wrap="square" lIns="0" rIns="0">
            <a:spAutoFit/>
          </a:bodyPr>
          <a:lstStyle/>
          <a:p>
            <a:pPr algn="ctr"/>
            <a:r>
              <a:rPr sz="1050" b="1">
                <a:solidFill>
                  <a:srgbClr val="21252D"/>
                </a:solidFill>
                <a:latin typeface="Helvetica Neue"/>
              </a:rPr>
              <a:t>esquema actualizado</a:t>
            </a:r>
          </a:p>
        </p:txBody>
      </p:sp>
      <p:sp>
        <p:nvSpPr>
          <p:cNvPr id="38" name="Rectangle 37"/>
          <p:cNvSpPr/>
          <p:nvPr/>
        </p:nvSpPr>
        <p:spPr>
          <a:xfrm>
            <a:off x="731520" y="4983480"/>
            <a:ext cx="10698480" cy="1078992"/>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Rectangle 38"/>
          <p:cNvSpPr/>
          <p:nvPr/>
        </p:nvSpPr>
        <p:spPr>
          <a:xfrm>
            <a:off x="731520" y="4983480"/>
            <a:ext cx="45720" cy="1078992"/>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1024128" y="5193792"/>
            <a:ext cx="10149840" cy="594360"/>
          </a:xfrm>
          <a:prstGeom prst="rect">
            <a:avLst/>
          </a:prstGeom>
          <a:noFill/>
        </p:spPr>
        <p:txBody>
          <a:bodyPr wrap="square" lIns="0" tIns="0" rIns="0" bIns="0">
            <a:spAutoFit/>
          </a:bodyPr>
          <a:lstStyle/>
          <a:p>
            <a:pPr algn="l">
              <a:lnSpc>
                <a:spcPct val="138000"/>
              </a:lnSpc>
              <a:spcAft>
                <a:spcPts val="0"/>
              </a:spcAft>
            </a:pPr>
            <a:r>
              <a:rPr sz="1150" b="1">
                <a:solidFill>
                  <a:srgbClr val="21252D"/>
                </a:solidFill>
                <a:latin typeface="Helvetica Neue"/>
              </a:rPr>
              <a:t>Falla ruidosamente cuando debe fallar. </a:t>
            </a:r>
          </a:p>
          <a:p>
            <a:pPr algn="l">
              <a:lnSpc>
                <a:spcPct val="138000"/>
              </a:lnSpc>
              <a:spcAft>
                <a:spcPts val="0"/>
              </a:spcAft>
            </a:pPr>
            <a:r>
              <a:rPr sz="1150" b="0">
                <a:solidFill>
                  <a:srgbClr val="4338CA"/>
                </a:solidFill>
                <a:latin typeface="Menlo"/>
              </a:rPr>
              <a:t>flyway validate</a:t>
            </a:r>
            <a:r>
              <a:rPr sz="1150" b="0">
                <a:solidFill>
                  <a:srgbClr val="6E747E"/>
                </a:solidFill>
                <a:latin typeface="Helvetica Neue"/>
              </a:rPr>
              <a:t> verifica los checksums antes de tocar la base: si alguien edita una migración ya aplicada, el pipeline se cae antes del </a:t>
            </a:r>
            <a:r>
              <a:rPr sz="1150" b="0">
                <a:solidFill>
                  <a:srgbClr val="4338CA"/>
                </a:solidFill>
                <a:latin typeface="Menlo"/>
              </a:rPr>
              <a:t>migrate</a:t>
            </a:r>
            <a:r>
              <a:rPr sz="1150" b="0">
                <a:solidFill>
                  <a:srgbClr val="6E747E"/>
                </a:solidFill>
                <a:latin typeface="Helvetica Neue"/>
              </a:rPr>
              <a:t>. El paso </a:t>
            </a:r>
            <a:r>
              <a:rPr sz="1150" b="0">
                <a:solidFill>
                  <a:srgbClr val="4338CA"/>
                </a:solidFill>
                <a:latin typeface="Menlo"/>
              </a:rPr>
              <a:t>flyway info</a:t>
            </a:r>
            <a:r>
              <a:rPr sz="1150" b="0">
                <a:solidFill>
                  <a:srgbClr val="6E747E"/>
                </a:solidFill>
                <a:latin typeface="Helvetica Neue"/>
              </a:rPr>
              <a:t> corre con </a:t>
            </a:r>
            <a:r>
              <a:rPr sz="1150" b="0">
                <a:solidFill>
                  <a:srgbClr val="4338CA"/>
                </a:solidFill>
                <a:latin typeface="Menlo"/>
              </a:rPr>
              <a:t>if: always()</a:t>
            </a:r>
            <a:r>
              <a:rPr sz="1150" b="0">
                <a:solidFill>
                  <a:srgbClr val="6E747E"/>
                </a:solidFill>
                <a:latin typeface="Helvetica Neue"/>
              </a:rPr>
              <a:t> para dejar el estado final visible incluso en un run rojo.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8F6"/>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31520" y="1417320"/>
            <a:ext cx="10728655" cy="274320"/>
          </a:xfrm>
          <a:prstGeom prst="rect">
            <a:avLst/>
          </a:prstGeom>
          <a:noFill/>
        </p:spPr>
        <p:txBody>
          <a:bodyPr wrap="square" lIns="0" tIns="0" rIns="0" bIns="0">
            <a:spAutoFit/>
          </a:bodyPr>
          <a:lstStyle/>
          <a:p>
            <a:pPr algn="ctr">
              <a:lnSpc>
                <a:spcPct val="110000"/>
              </a:lnSpc>
              <a:spcAft>
                <a:spcPts val="0"/>
              </a:spcAft>
            </a:pPr>
            <a:r>
              <a:rPr sz="1100" b="1">
                <a:solidFill>
                  <a:srgbClr val="4338CA"/>
                </a:solidFill>
                <a:latin typeface="Helvetica Neue"/>
              </a:rPr>
              <a:t>SUSTENTACIÓN</a:t>
            </a:r>
          </a:p>
        </p:txBody>
      </p:sp>
      <p:sp>
        <p:nvSpPr>
          <p:cNvPr id="4" name="TextBox 3"/>
          <p:cNvSpPr txBox="1"/>
          <p:nvPr/>
        </p:nvSpPr>
        <p:spPr>
          <a:xfrm>
            <a:off x="731520" y="1783080"/>
            <a:ext cx="10728655" cy="731520"/>
          </a:xfrm>
          <a:prstGeom prst="rect">
            <a:avLst/>
          </a:prstGeom>
          <a:noFill/>
        </p:spPr>
        <p:txBody>
          <a:bodyPr wrap="square" lIns="0" tIns="0" rIns="0" bIns="0">
            <a:spAutoFit/>
          </a:bodyPr>
          <a:lstStyle/>
          <a:p>
            <a:pPr algn="ctr">
              <a:lnSpc>
                <a:spcPct val="110000"/>
              </a:lnSpc>
              <a:spcAft>
                <a:spcPts val="0"/>
              </a:spcAft>
            </a:pPr>
            <a:r>
              <a:rPr sz="4400" b="1">
                <a:solidFill>
                  <a:srgbClr val="21252D"/>
                </a:solidFill>
                <a:latin typeface="Helvetica Neue"/>
              </a:rPr>
              <a:t>Demo en vivo</a:t>
            </a:r>
          </a:p>
        </p:txBody>
      </p:sp>
      <p:sp>
        <p:nvSpPr>
          <p:cNvPr id="5" name="TextBox 4"/>
          <p:cNvSpPr txBox="1"/>
          <p:nvPr/>
        </p:nvSpPr>
        <p:spPr>
          <a:xfrm>
            <a:off x="731520" y="2606040"/>
            <a:ext cx="10728655" cy="365760"/>
          </a:xfrm>
          <a:prstGeom prst="rect">
            <a:avLst/>
          </a:prstGeom>
          <a:noFill/>
        </p:spPr>
        <p:txBody>
          <a:bodyPr wrap="square" lIns="0" tIns="0" rIns="0" bIns="0">
            <a:spAutoFit/>
          </a:bodyPr>
          <a:lstStyle/>
          <a:p>
            <a:pPr algn="ctr">
              <a:lnSpc>
                <a:spcPct val="110000"/>
              </a:lnSpc>
              <a:spcAft>
                <a:spcPts val="0"/>
              </a:spcAft>
            </a:pPr>
            <a:r>
              <a:rPr sz="1500" b="0">
                <a:solidFill>
                  <a:srgbClr val="6E747E"/>
                </a:solidFill>
                <a:latin typeface="Helvetica Neue"/>
              </a:rPr>
              <a:t>Migración nueva → commit → push → workflow verde → cambio visible en Neon</a:t>
            </a:r>
          </a:p>
        </p:txBody>
      </p:sp>
      <p:sp>
        <p:nvSpPr>
          <p:cNvPr id="6" name="Rectangle 5"/>
          <p:cNvSpPr/>
          <p:nvPr/>
        </p:nvSpPr>
        <p:spPr>
          <a:xfrm>
            <a:off x="746607" y="3429000"/>
            <a:ext cx="1920240" cy="1737360"/>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020927" y="3639312"/>
            <a:ext cx="310896" cy="310896"/>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Helvetica Neue"/>
              </a:rPr>
              <a:t>1</a:t>
            </a:r>
          </a:p>
        </p:txBody>
      </p:sp>
      <p:sp>
        <p:nvSpPr>
          <p:cNvPr id="8" name="TextBox 7"/>
          <p:cNvSpPr txBox="1"/>
          <p:nvPr/>
        </p:nvSpPr>
        <p:spPr>
          <a:xfrm>
            <a:off x="1020927" y="4096512"/>
            <a:ext cx="1417320" cy="274320"/>
          </a:xfrm>
          <a:prstGeom prst="rect">
            <a:avLst/>
          </a:prstGeom>
          <a:noFill/>
        </p:spPr>
        <p:txBody>
          <a:bodyPr wrap="square" lIns="0" tIns="0" rIns="0" bIns="0">
            <a:spAutoFit/>
          </a:bodyPr>
          <a:lstStyle/>
          <a:p>
            <a:pPr algn="l">
              <a:lnSpc>
                <a:spcPct val="120000"/>
              </a:lnSpc>
              <a:spcAft>
                <a:spcPts val="0"/>
              </a:spcAft>
            </a:pPr>
            <a:r>
              <a:rPr sz="1200" b="1">
                <a:solidFill>
                  <a:srgbClr val="21252D"/>
                </a:solidFill>
                <a:latin typeface="Helvetica Neue"/>
              </a:rPr>
              <a:t>Crear la migración</a:t>
            </a:r>
          </a:p>
        </p:txBody>
      </p:sp>
      <p:sp>
        <p:nvSpPr>
          <p:cNvPr id="9" name="TextBox 8"/>
          <p:cNvSpPr txBox="1"/>
          <p:nvPr/>
        </p:nvSpPr>
        <p:spPr>
          <a:xfrm>
            <a:off x="1020927" y="4389120"/>
            <a:ext cx="1417320" cy="731520"/>
          </a:xfrm>
          <a:prstGeom prst="rect">
            <a:avLst/>
          </a:prstGeom>
          <a:noFill/>
        </p:spPr>
        <p:txBody>
          <a:bodyPr wrap="square" lIns="0" tIns="0" rIns="0" bIns="0">
            <a:spAutoFit/>
          </a:bodyPr>
          <a:lstStyle/>
          <a:p>
            <a:pPr algn="l">
              <a:lnSpc>
                <a:spcPct val="135000"/>
              </a:lnSpc>
              <a:spcAft>
                <a:spcPts val="0"/>
              </a:spcAft>
            </a:pPr>
            <a:r>
              <a:rPr sz="950" b="0">
                <a:solidFill>
                  <a:srgbClr val="6E747E"/>
                </a:solidFill>
                <a:latin typeface="Menlo"/>
              </a:rPr>
              <a:t>V2026…__add_…sql</a:t>
            </a:r>
          </a:p>
          <a:p>
            <a:pPr algn="l">
              <a:lnSpc>
                <a:spcPct val="135000"/>
              </a:lnSpc>
              <a:spcAft>
                <a:spcPts val="0"/>
              </a:spcAft>
            </a:pPr>
            <a:r>
              <a:rPr sz="950" b="0">
                <a:solidFill>
                  <a:srgbClr val="6E747E"/>
                </a:solidFill>
                <a:latin typeface="Menlo"/>
              </a:rPr>
              <a:t>en migrations/</a:t>
            </a:r>
          </a:p>
        </p:txBody>
      </p:sp>
      <p:sp>
        <p:nvSpPr>
          <p:cNvPr id="10" name="Rectangle 9"/>
          <p:cNvSpPr/>
          <p:nvPr/>
        </p:nvSpPr>
        <p:spPr>
          <a:xfrm>
            <a:off x="2941167" y="3429000"/>
            <a:ext cx="1920240" cy="1737360"/>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3215487" y="3639312"/>
            <a:ext cx="310896" cy="310896"/>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Helvetica Neue"/>
              </a:rPr>
              <a:t>2</a:t>
            </a:r>
          </a:p>
        </p:txBody>
      </p:sp>
      <p:sp>
        <p:nvSpPr>
          <p:cNvPr id="12" name="TextBox 11"/>
          <p:cNvSpPr txBox="1"/>
          <p:nvPr/>
        </p:nvSpPr>
        <p:spPr>
          <a:xfrm>
            <a:off x="3215487" y="4096512"/>
            <a:ext cx="1417320" cy="274320"/>
          </a:xfrm>
          <a:prstGeom prst="rect">
            <a:avLst/>
          </a:prstGeom>
          <a:noFill/>
        </p:spPr>
        <p:txBody>
          <a:bodyPr wrap="square" lIns="0" tIns="0" rIns="0" bIns="0">
            <a:spAutoFit/>
          </a:bodyPr>
          <a:lstStyle/>
          <a:p>
            <a:pPr algn="l">
              <a:lnSpc>
                <a:spcPct val="120000"/>
              </a:lnSpc>
              <a:spcAft>
                <a:spcPts val="0"/>
              </a:spcAft>
            </a:pPr>
            <a:r>
              <a:rPr sz="1200" b="1">
                <a:solidFill>
                  <a:srgbClr val="21252D"/>
                </a:solidFill>
                <a:latin typeface="Helvetica Neue"/>
              </a:rPr>
              <a:t>Commit y push</a:t>
            </a:r>
          </a:p>
        </p:txBody>
      </p:sp>
      <p:sp>
        <p:nvSpPr>
          <p:cNvPr id="13" name="TextBox 12"/>
          <p:cNvSpPr txBox="1"/>
          <p:nvPr/>
        </p:nvSpPr>
        <p:spPr>
          <a:xfrm>
            <a:off x="3215487" y="4389120"/>
            <a:ext cx="1417320" cy="731520"/>
          </a:xfrm>
          <a:prstGeom prst="rect">
            <a:avLst/>
          </a:prstGeom>
          <a:noFill/>
        </p:spPr>
        <p:txBody>
          <a:bodyPr wrap="square" lIns="0" tIns="0" rIns="0" bIns="0">
            <a:spAutoFit/>
          </a:bodyPr>
          <a:lstStyle/>
          <a:p>
            <a:pPr algn="l">
              <a:lnSpc>
                <a:spcPct val="135000"/>
              </a:lnSpc>
              <a:spcAft>
                <a:spcPts val="0"/>
              </a:spcAft>
            </a:pPr>
            <a:r>
              <a:rPr sz="950" b="0">
                <a:solidFill>
                  <a:srgbClr val="6E747E"/>
                </a:solidFill>
                <a:latin typeface="Menlo"/>
              </a:rPr>
              <a:t>rama dev →</a:t>
            </a:r>
          </a:p>
          <a:p>
            <a:pPr algn="l">
              <a:lnSpc>
                <a:spcPct val="135000"/>
              </a:lnSpc>
              <a:spcAft>
                <a:spcPts val="0"/>
              </a:spcAft>
            </a:pPr>
            <a:r>
              <a:rPr sz="950" b="0">
                <a:solidFill>
                  <a:srgbClr val="6E747E"/>
                </a:solidFill>
                <a:latin typeface="Menlo"/>
              </a:rPr>
              <a:t>Pull Request a main</a:t>
            </a:r>
          </a:p>
        </p:txBody>
      </p:sp>
      <p:sp>
        <p:nvSpPr>
          <p:cNvPr id="14" name="Rectangle 13"/>
          <p:cNvSpPr/>
          <p:nvPr/>
        </p:nvSpPr>
        <p:spPr>
          <a:xfrm>
            <a:off x="5135727" y="3429000"/>
            <a:ext cx="1920240" cy="1737360"/>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5410047" y="3639312"/>
            <a:ext cx="310896" cy="310896"/>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Helvetica Neue"/>
              </a:rPr>
              <a:t>3</a:t>
            </a:r>
          </a:p>
        </p:txBody>
      </p:sp>
      <p:sp>
        <p:nvSpPr>
          <p:cNvPr id="16" name="TextBox 15"/>
          <p:cNvSpPr txBox="1"/>
          <p:nvPr/>
        </p:nvSpPr>
        <p:spPr>
          <a:xfrm>
            <a:off x="5410047" y="4096512"/>
            <a:ext cx="1417320" cy="274320"/>
          </a:xfrm>
          <a:prstGeom prst="rect">
            <a:avLst/>
          </a:prstGeom>
          <a:noFill/>
        </p:spPr>
        <p:txBody>
          <a:bodyPr wrap="square" lIns="0" tIns="0" rIns="0" bIns="0">
            <a:spAutoFit/>
          </a:bodyPr>
          <a:lstStyle/>
          <a:p>
            <a:pPr algn="l">
              <a:lnSpc>
                <a:spcPct val="120000"/>
              </a:lnSpc>
              <a:spcAft>
                <a:spcPts val="0"/>
              </a:spcAft>
            </a:pPr>
            <a:r>
              <a:rPr sz="1200" b="1">
                <a:solidFill>
                  <a:srgbClr val="21252D"/>
                </a:solidFill>
                <a:latin typeface="Helvetica Neue"/>
              </a:rPr>
              <a:t>Ver el workflow</a:t>
            </a:r>
          </a:p>
        </p:txBody>
      </p:sp>
      <p:sp>
        <p:nvSpPr>
          <p:cNvPr id="17" name="TextBox 16"/>
          <p:cNvSpPr txBox="1"/>
          <p:nvPr/>
        </p:nvSpPr>
        <p:spPr>
          <a:xfrm>
            <a:off x="5410047" y="4389120"/>
            <a:ext cx="1417320" cy="731520"/>
          </a:xfrm>
          <a:prstGeom prst="rect">
            <a:avLst/>
          </a:prstGeom>
          <a:noFill/>
        </p:spPr>
        <p:txBody>
          <a:bodyPr wrap="square" lIns="0" tIns="0" rIns="0" bIns="0">
            <a:spAutoFit/>
          </a:bodyPr>
          <a:lstStyle/>
          <a:p>
            <a:pPr algn="l">
              <a:lnSpc>
                <a:spcPct val="135000"/>
              </a:lnSpc>
              <a:spcAft>
                <a:spcPts val="0"/>
              </a:spcAft>
            </a:pPr>
            <a:r>
              <a:rPr sz="950" b="0">
                <a:solidFill>
                  <a:srgbClr val="6E747E"/>
                </a:solidFill>
                <a:latin typeface="Menlo"/>
              </a:rPr>
              <a:t>validate · info</a:t>
            </a:r>
          </a:p>
          <a:p>
            <a:pPr algn="l">
              <a:lnSpc>
                <a:spcPct val="135000"/>
              </a:lnSpc>
              <a:spcAft>
                <a:spcPts val="0"/>
              </a:spcAft>
            </a:pPr>
            <a:r>
              <a:rPr sz="950" b="0">
                <a:solidFill>
                  <a:srgbClr val="6E747E"/>
                </a:solidFill>
                <a:latin typeface="Menlo"/>
              </a:rPr>
              <a:t>migrate → dev</a:t>
            </a:r>
          </a:p>
        </p:txBody>
      </p:sp>
      <p:sp>
        <p:nvSpPr>
          <p:cNvPr id="18" name="Rectangle 17"/>
          <p:cNvSpPr/>
          <p:nvPr/>
        </p:nvSpPr>
        <p:spPr>
          <a:xfrm>
            <a:off x="7330287" y="3429000"/>
            <a:ext cx="1920240" cy="1737360"/>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7604607" y="3639312"/>
            <a:ext cx="310896" cy="310896"/>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Helvetica Neue"/>
              </a:rPr>
              <a:t>4</a:t>
            </a:r>
          </a:p>
        </p:txBody>
      </p:sp>
      <p:sp>
        <p:nvSpPr>
          <p:cNvPr id="20" name="TextBox 19"/>
          <p:cNvSpPr txBox="1"/>
          <p:nvPr/>
        </p:nvSpPr>
        <p:spPr>
          <a:xfrm>
            <a:off x="7604607" y="4096512"/>
            <a:ext cx="1417320" cy="274320"/>
          </a:xfrm>
          <a:prstGeom prst="rect">
            <a:avLst/>
          </a:prstGeom>
          <a:noFill/>
        </p:spPr>
        <p:txBody>
          <a:bodyPr wrap="square" lIns="0" tIns="0" rIns="0" bIns="0">
            <a:spAutoFit/>
          </a:bodyPr>
          <a:lstStyle/>
          <a:p>
            <a:pPr algn="l">
              <a:lnSpc>
                <a:spcPct val="120000"/>
              </a:lnSpc>
              <a:spcAft>
                <a:spcPts val="0"/>
              </a:spcAft>
            </a:pPr>
            <a:r>
              <a:rPr sz="1200" b="1">
                <a:solidFill>
                  <a:srgbClr val="21252D"/>
                </a:solidFill>
                <a:latin typeface="Helvetica Neue"/>
              </a:rPr>
              <a:t>Merge a main</a:t>
            </a:r>
          </a:p>
        </p:txBody>
      </p:sp>
      <p:sp>
        <p:nvSpPr>
          <p:cNvPr id="21" name="TextBox 20"/>
          <p:cNvSpPr txBox="1"/>
          <p:nvPr/>
        </p:nvSpPr>
        <p:spPr>
          <a:xfrm>
            <a:off x="7604607" y="4389120"/>
            <a:ext cx="1417320" cy="731520"/>
          </a:xfrm>
          <a:prstGeom prst="rect">
            <a:avLst/>
          </a:prstGeom>
          <a:noFill/>
        </p:spPr>
        <p:txBody>
          <a:bodyPr wrap="square" lIns="0" tIns="0" rIns="0" bIns="0">
            <a:spAutoFit/>
          </a:bodyPr>
          <a:lstStyle/>
          <a:p>
            <a:pPr algn="l">
              <a:lnSpc>
                <a:spcPct val="135000"/>
              </a:lnSpc>
              <a:spcAft>
                <a:spcPts val="0"/>
              </a:spcAft>
            </a:pPr>
            <a:r>
              <a:rPr sz="950" b="0">
                <a:solidFill>
                  <a:srgbClr val="6E747E"/>
                </a:solidFill>
                <a:latin typeface="Menlo"/>
              </a:rPr>
              <a:t>el mismo pipeline</a:t>
            </a:r>
          </a:p>
          <a:p>
            <a:pPr algn="l">
              <a:lnSpc>
                <a:spcPct val="135000"/>
              </a:lnSpc>
              <a:spcAft>
                <a:spcPts val="0"/>
              </a:spcAft>
            </a:pPr>
            <a:r>
              <a:rPr sz="950" b="0">
                <a:solidFill>
                  <a:srgbClr val="6E747E"/>
                </a:solidFill>
                <a:latin typeface="Menlo"/>
              </a:rPr>
              <a:t>ahora contra prod</a:t>
            </a:r>
          </a:p>
        </p:txBody>
      </p:sp>
      <p:sp>
        <p:nvSpPr>
          <p:cNvPr id="22" name="Rectangle 21"/>
          <p:cNvSpPr/>
          <p:nvPr/>
        </p:nvSpPr>
        <p:spPr>
          <a:xfrm>
            <a:off x="9524847" y="3429000"/>
            <a:ext cx="1920240" cy="1737360"/>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9799167" y="3639312"/>
            <a:ext cx="310896" cy="310896"/>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Helvetica Neue"/>
              </a:rPr>
              <a:t>5</a:t>
            </a:r>
          </a:p>
        </p:txBody>
      </p:sp>
      <p:sp>
        <p:nvSpPr>
          <p:cNvPr id="24" name="TextBox 23"/>
          <p:cNvSpPr txBox="1"/>
          <p:nvPr/>
        </p:nvSpPr>
        <p:spPr>
          <a:xfrm>
            <a:off x="9799167" y="4096512"/>
            <a:ext cx="1417320" cy="274320"/>
          </a:xfrm>
          <a:prstGeom prst="rect">
            <a:avLst/>
          </a:prstGeom>
          <a:noFill/>
        </p:spPr>
        <p:txBody>
          <a:bodyPr wrap="square" lIns="0" tIns="0" rIns="0" bIns="0">
            <a:spAutoFit/>
          </a:bodyPr>
          <a:lstStyle/>
          <a:p>
            <a:pPr algn="l">
              <a:lnSpc>
                <a:spcPct val="120000"/>
              </a:lnSpc>
              <a:spcAft>
                <a:spcPts val="0"/>
              </a:spcAft>
            </a:pPr>
            <a:r>
              <a:rPr sz="1200" b="1">
                <a:solidFill>
                  <a:srgbClr val="21252D"/>
                </a:solidFill>
                <a:latin typeface="Helvetica Neue"/>
              </a:rPr>
              <a:t>Comprobar en Neon</a:t>
            </a:r>
          </a:p>
        </p:txBody>
      </p:sp>
      <p:sp>
        <p:nvSpPr>
          <p:cNvPr id="25" name="TextBox 24"/>
          <p:cNvSpPr txBox="1"/>
          <p:nvPr/>
        </p:nvSpPr>
        <p:spPr>
          <a:xfrm>
            <a:off x="9799167" y="4389120"/>
            <a:ext cx="1417320" cy="731520"/>
          </a:xfrm>
          <a:prstGeom prst="rect">
            <a:avLst/>
          </a:prstGeom>
          <a:noFill/>
        </p:spPr>
        <p:txBody>
          <a:bodyPr wrap="square" lIns="0" tIns="0" rIns="0" bIns="0">
            <a:spAutoFit/>
          </a:bodyPr>
          <a:lstStyle/>
          <a:p>
            <a:pPr algn="l">
              <a:lnSpc>
                <a:spcPct val="135000"/>
              </a:lnSpc>
              <a:spcAft>
                <a:spcPts val="0"/>
              </a:spcAft>
            </a:pPr>
            <a:r>
              <a:rPr sz="950" b="0">
                <a:solidFill>
                  <a:srgbClr val="6E747E"/>
                </a:solidFill>
                <a:latin typeface="Menlo"/>
              </a:rPr>
              <a:t>la tabla existe y</a:t>
            </a:r>
          </a:p>
          <a:p>
            <a:pPr algn="l">
              <a:lnSpc>
                <a:spcPct val="135000"/>
              </a:lnSpc>
              <a:spcAft>
                <a:spcPts val="0"/>
              </a:spcAft>
            </a:pPr>
            <a:r>
              <a:rPr sz="950" b="0">
                <a:solidFill>
                  <a:srgbClr val="6E747E"/>
                </a:solidFill>
                <a:latin typeface="Menlo"/>
              </a:rPr>
              <a:t>queda en el historial</a:t>
            </a:r>
          </a:p>
        </p:txBody>
      </p:sp>
      <p:sp>
        <p:nvSpPr>
          <p:cNvPr id="26" name="TextBox 25"/>
          <p:cNvSpPr txBox="1"/>
          <p:nvPr/>
        </p:nvSpPr>
        <p:spPr>
          <a:xfrm>
            <a:off x="731520" y="6355080"/>
            <a:ext cx="10728655" cy="228600"/>
          </a:xfrm>
          <a:prstGeom prst="rect">
            <a:avLst/>
          </a:prstGeom>
          <a:noFill/>
        </p:spPr>
        <p:txBody>
          <a:bodyPr wrap="square" lIns="0" tIns="0" rIns="0" bIns="0">
            <a:spAutoFit/>
          </a:bodyPr>
          <a:lstStyle/>
          <a:p>
            <a:pPr algn="l">
              <a:lnSpc>
                <a:spcPct val="110000"/>
              </a:lnSpc>
              <a:spcAft>
                <a:spcPts val="0"/>
              </a:spcAft>
            </a:pPr>
            <a:r>
              <a:rPr sz="950" b="0">
                <a:solidFill>
                  <a:srgbClr val="E3E2DC"/>
                </a:solidFill>
                <a:latin typeface="Helvetica Neue"/>
              </a:rPr>
              <a:t>CI/CD en Base de Datos  ·  SI6010-5979  ·  Torneos deportivos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8F6"/>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31520" y="475488"/>
            <a:ext cx="10728655" cy="228600"/>
          </a:xfrm>
          <a:prstGeom prst="rect">
            <a:avLst/>
          </a:prstGeom>
          <a:noFill/>
        </p:spPr>
        <p:txBody>
          <a:bodyPr wrap="square" lIns="0" tIns="0" rIns="0" bIns="0">
            <a:spAutoFit/>
          </a:bodyPr>
          <a:lstStyle/>
          <a:p>
            <a:pPr algn="l">
              <a:lnSpc>
                <a:spcPct val="110000"/>
              </a:lnSpc>
              <a:spcAft>
                <a:spcPts val="0"/>
              </a:spcAft>
            </a:pPr>
            <a:r>
              <a:rPr sz="1050" b="1">
                <a:solidFill>
                  <a:srgbClr val="4338CA"/>
                </a:solidFill>
                <a:latin typeface="Helvetica Neue"/>
              </a:rPr>
              <a:t>MANEJO DE FALLOS</a:t>
            </a:r>
          </a:p>
        </p:txBody>
      </p:sp>
      <p:sp>
        <p:nvSpPr>
          <p:cNvPr id="4" name="TextBox 3"/>
          <p:cNvSpPr txBox="1"/>
          <p:nvPr/>
        </p:nvSpPr>
        <p:spPr>
          <a:xfrm>
            <a:off x="731520" y="749808"/>
            <a:ext cx="10728655" cy="548640"/>
          </a:xfrm>
          <a:prstGeom prst="rect">
            <a:avLst/>
          </a:prstGeom>
          <a:noFill/>
        </p:spPr>
        <p:txBody>
          <a:bodyPr wrap="square" lIns="0" tIns="0" rIns="0" bIns="0">
            <a:spAutoFit/>
          </a:bodyPr>
          <a:lstStyle/>
          <a:p>
            <a:pPr algn="l">
              <a:lnSpc>
                <a:spcPct val="110000"/>
              </a:lnSpc>
              <a:spcAft>
                <a:spcPts val="0"/>
              </a:spcAft>
            </a:pPr>
            <a:r>
              <a:rPr sz="3100" b="1">
                <a:solidFill>
                  <a:srgbClr val="21252D"/>
                </a:solidFill>
                <a:latin typeface="Helvetica Neue"/>
              </a:rPr>
              <a:t>Una falla real y su roll forward</a:t>
            </a:r>
          </a:p>
        </p:txBody>
      </p:sp>
      <p:sp>
        <p:nvSpPr>
          <p:cNvPr id="5" name="TextBox 4"/>
          <p:cNvSpPr txBox="1"/>
          <p:nvPr/>
        </p:nvSpPr>
        <p:spPr>
          <a:xfrm>
            <a:off x="10362895" y="457200"/>
            <a:ext cx="1097280" cy="365760"/>
          </a:xfrm>
          <a:prstGeom prst="rect">
            <a:avLst/>
          </a:prstGeom>
          <a:noFill/>
        </p:spPr>
        <p:txBody>
          <a:bodyPr wrap="square" lIns="0" tIns="0" rIns="0" bIns="0">
            <a:spAutoFit/>
          </a:bodyPr>
          <a:lstStyle/>
          <a:p>
            <a:pPr algn="r">
              <a:lnSpc>
                <a:spcPct val="110000"/>
              </a:lnSpc>
              <a:spcAft>
                <a:spcPts val="0"/>
              </a:spcAft>
            </a:pPr>
            <a:r>
              <a:rPr sz="1300" b="1">
                <a:solidFill>
                  <a:srgbClr val="E3E2DC"/>
                </a:solidFill>
                <a:latin typeface="Helvetica Neue"/>
              </a:rPr>
              <a:t>10</a:t>
            </a:r>
          </a:p>
        </p:txBody>
      </p:sp>
      <p:sp>
        <p:nvSpPr>
          <p:cNvPr id="6" name="Rectangle 5"/>
          <p:cNvSpPr/>
          <p:nvPr/>
        </p:nvSpPr>
        <p:spPr>
          <a:xfrm>
            <a:off x="731520" y="1417320"/>
            <a:ext cx="10728655" cy="11430"/>
          </a:xfrm>
          <a:prstGeom prst="rect">
            <a:avLst/>
          </a:prstGeom>
          <a:solidFill>
            <a:srgbClr val="E3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31520" y="6355080"/>
            <a:ext cx="10728655" cy="228600"/>
          </a:xfrm>
          <a:prstGeom prst="rect">
            <a:avLst/>
          </a:prstGeom>
          <a:noFill/>
        </p:spPr>
        <p:txBody>
          <a:bodyPr wrap="square" lIns="0" tIns="0" rIns="0" bIns="0">
            <a:spAutoFit/>
          </a:bodyPr>
          <a:lstStyle/>
          <a:p>
            <a:pPr algn="l">
              <a:lnSpc>
                <a:spcPct val="110000"/>
              </a:lnSpc>
              <a:spcAft>
                <a:spcPts val="0"/>
              </a:spcAft>
            </a:pPr>
            <a:r>
              <a:rPr sz="950" b="0">
                <a:solidFill>
                  <a:srgbClr val="E3E2DC"/>
                </a:solidFill>
                <a:latin typeface="Helvetica Neue"/>
              </a:rPr>
              <a:t>CI/CD en Base de Datos  ·  SI6010-5979  ·  Torneos deportivos</a:t>
            </a:r>
          </a:p>
        </p:txBody>
      </p:sp>
      <p:sp>
        <p:nvSpPr>
          <p:cNvPr id="8" name="Rectangle 7"/>
          <p:cNvSpPr/>
          <p:nvPr/>
        </p:nvSpPr>
        <p:spPr>
          <a:xfrm>
            <a:off x="731520" y="1691640"/>
            <a:ext cx="5230368" cy="4041648"/>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731520" y="1691640"/>
            <a:ext cx="5230368" cy="45720"/>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05840" y="1901952"/>
            <a:ext cx="4681728" cy="274320"/>
          </a:xfrm>
          <a:prstGeom prst="rect">
            <a:avLst/>
          </a:prstGeom>
          <a:noFill/>
        </p:spPr>
        <p:txBody>
          <a:bodyPr wrap="square" lIns="0" tIns="0" rIns="0" bIns="0">
            <a:spAutoFit/>
          </a:bodyPr>
          <a:lstStyle/>
          <a:p>
            <a:pPr algn="l">
              <a:lnSpc>
                <a:spcPct val="110000"/>
              </a:lnSpc>
              <a:spcAft>
                <a:spcPts val="0"/>
              </a:spcAft>
            </a:pPr>
            <a:r>
              <a:rPr sz="1500" b="1">
                <a:solidFill>
                  <a:srgbClr val="B42318"/>
                </a:solidFill>
                <a:latin typeface="Helvetica Neue"/>
              </a:rPr>
              <a:t>✗   Run #1 — rojo</a:t>
            </a:r>
          </a:p>
        </p:txBody>
      </p:sp>
      <p:sp>
        <p:nvSpPr>
          <p:cNvPr id="11" name="TextBox 10"/>
          <p:cNvSpPr txBox="1"/>
          <p:nvPr/>
        </p:nvSpPr>
        <p:spPr>
          <a:xfrm>
            <a:off x="1005840" y="2231136"/>
            <a:ext cx="4681728" cy="274320"/>
          </a:xfrm>
          <a:prstGeom prst="rect">
            <a:avLst/>
          </a:prstGeom>
          <a:noFill/>
        </p:spPr>
        <p:txBody>
          <a:bodyPr wrap="square" lIns="0" tIns="0" rIns="0" bIns="0">
            <a:spAutoFit/>
          </a:bodyPr>
          <a:lstStyle/>
          <a:p>
            <a:pPr algn="l">
              <a:lnSpc>
                <a:spcPct val="110000"/>
              </a:lnSpc>
              <a:spcAft>
                <a:spcPts val="0"/>
              </a:spcAft>
            </a:pPr>
            <a:r>
              <a:rPr sz="950" b="0">
                <a:solidFill>
                  <a:srgbClr val="6E747E"/>
                </a:solidFill>
                <a:latin typeface="Menlo"/>
              </a:rPr>
              <a:t>V20260806090000__add_referees.sql, original</a:t>
            </a:r>
          </a:p>
        </p:txBody>
      </p:sp>
      <p:sp>
        <p:nvSpPr>
          <p:cNvPr id="12" name="Rectangle 11"/>
          <p:cNvSpPr/>
          <p:nvPr/>
        </p:nvSpPr>
        <p:spPr>
          <a:xfrm>
            <a:off x="1005840" y="2505456"/>
            <a:ext cx="4681728" cy="713232"/>
          </a:xfrm>
          <a:prstGeom prst="rect">
            <a:avLst/>
          </a:prstGeom>
          <a:solidFill>
            <a:srgbClr val="1B1F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225296" y="2670048"/>
            <a:ext cx="4315968" cy="438912"/>
          </a:xfrm>
          <a:prstGeom prst="rect">
            <a:avLst/>
          </a:prstGeom>
          <a:noFill/>
        </p:spPr>
        <p:txBody>
          <a:bodyPr wrap="square" lIns="0" tIns="0" rIns="0" bIns="0">
            <a:spAutoFit/>
          </a:bodyPr>
          <a:lstStyle/>
          <a:p>
            <a:pPr algn="l">
              <a:lnSpc>
                <a:spcPct val="130000"/>
              </a:lnSpc>
              <a:spcAft>
                <a:spcPts val="0"/>
              </a:spcAft>
            </a:pPr>
            <a:r>
              <a:rPr sz="1000" b="0">
                <a:solidFill>
                  <a:srgbClr val="E6E8EC"/>
                </a:solidFill>
                <a:latin typeface="Menlo"/>
              </a:rPr>
              <a:t>ALTER TABLE arbitros</a:t>
            </a:r>
          </a:p>
          <a:p>
            <a:pPr algn="l">
              <a:lnSpc>
                <a:spcPct val="130000"/>
              </a:lnSpc>
              <a:spcAft>
                <a:spcPts val="0"/>
              </a:spcAft>
            </a:pPr>
            <a:r>
              <a:rPr sz="1000" b="0">
                <a:solidFill>
                  <a:srgbClr val="E6E8EC"/>
                </a:solidFill>
                <a:latin typeface="Menlo"/>
              </a:rPr>
              <a:t>    ADD COLUMN certificacion TEXT;</a:t>
            </a:r>
          </a:p>
        </p:txBody>
      </p:sp>
      <p:sp>
        <p:nvSpPr>
          <p:cNvPr id="14" name="Rectangle 13"/>
          <p:cNvSpPr/>
          <p:nvPr/>
        </p:nvSpPr>
        <p:spPr>
          <a:xfrm>
            <a:off x="1005840" y="3310128"/>
            <a:ext cx="4681728" cy="914400"/>
          </a:xfrm>
          <a:prstGeom prst="rect">
            <a:avLst/>
          </a:prstGeom>
          <a:solidFill>
            <a:srgbClr val="1B1F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225296" y="3474720"/>
            <a:ext cx="4315968" cy="640080"/>
          </a:xfrm>
          <a:prstGeom prst="rect">
            <a:avLst/>
          </a:prstGeom>
          <a:noFill/>
        </p:spPr>
        <p:txBody>
          <a:bodyPr wrap="square" lIns="0" tIns="0" rIns="0" bIns="0">
            <a:spAutoFit/>
          </a:bodyPr>
          <a:lstStyle/>
          <a:p>
            <a:pPr algn="l">
              <a:lnSpc>
                <a:spcPct val="130000"/>
              </a:lnSpc>
              <a:spcAft>
                <a:spcPts val="0"/>
              </a:spcAft>
            </a:pPr>
            <a:r>
              <a:rPr sz="1000" b="0">
                <a:solidFill>
                  <a:srgbClr val="FFB4AB"/>
                </a:solidFill>
                <a:latin typeface="Menlo"/>
              </a:rPr>
              <a:t>SQL State : 42P01</a:t>
            </a:r>
          </a:p>
          <a:p>
            <a:pPr algn="l">
              <a:lnSpc>
                <a:spcPct val="130000"/>
              </a:lnSpc>
              <a:spcAft>
                <a:spcPts val="0"/>
              </a:spcAft>
            </a:pPr>
            <a:r>
              <a:rPr sz="1000" b="0">
                <a:solidFill>
                  <a:srgbClr val="FFB4AB"/>
                </a:solidFill>
                <a:latin typeface="Menlo"/>
              </a:rPr>
              <a:t>Message   : relation "arbitros" does not exist</a:t>
            </a:r>
          </a:p>
          <a:p>
            <a:pPr algn="l">
              <a:lnSpc>
                <a:spcPct val="130000"/>
              </a:lnSpc>
              <a:spcAft>
                <a:spcPts val="0"/>
              </a:spcAft>
            </a:pPr>
            <a:r>
              <a:rPr sz="1000" b="0">
                <a:solidFill>
                  <a:srgbClr val="FFB4AB"/>
                </a:solidFill>
                <a:latin typeface="Menlo"/>
              </a:rPr>
              <a:t>Error: Process completed with exit code 1.</a:t>
            </a:r>
          </a:p>
        </p:txBody>
      </p:sp>
      <p:sp>
        <p:nvSpPr>
          <p:cNvPr id="16" name="TextBox 15"/>
          <p:cNvSpPr txBox="1"/>
          <p:nvPr/>
        </p:nvSpPr>
        <p:spPr>
          <a:xfrm>
            <a:off x="1005840" y="4370832"/>
            <a:ext cx="4681728" cy="1188720"/>
          </a:xfrm>
          <a:prstGeom prst="rect">
            <a:avLst/>
          </a:prstGeom>
          <a:noFill/>
        </p:spPr>
        <p:txBody>
          <a:bodyPr wrap="square" lIns="0" tIns="0" rIns="0" bIns="0">
            <a:spAutoFit/>
          </a:bodyPr>
          <a:lstStyle/>
          <a:p>
            <a:pPr algn="l">
              <a:lnSpc>
                <a:spcPct val="138000"/>
              </a:lnSpc>
              <a:spcAft>
                <a:spcPts val="0"/>
              </a:spcAft>
            </a:pPr>
            <a:r>
              <a:rPr sz="1050" b="1">
                <a:solidFill>
                  <a:srgbClr val="21252D"/>
                </a:solidFill>
                <a:latin typeface="Helvetica Neue"/>
              </a:rPr>
              <a:t>Diagnóstico:  </a:t>
            </a:r>
            <a:r>
              <a:rPr sz="1050" b="0">
                <a:solidFill>
                  <a:srgbClr val="6E747E"/>
                </a:solidFill>
                <a:latin typeface="Helvetica Neue"/>
              </a:rPr>
              <a:t>no fue un error de sintaxis. La migración daba por hecha una entidad que el modelo nunca definió, y la nombraba en español contra la convención en inglés del resto del esquema. El diseño, no el SQL, estaba mal.</a:t>
            </a:r>
          </a:p>
        </p:txBody>
      </p:sp>
      <p:sp>
        <p:nvSpPr>
          <p:cNvPr id="17" name="Rectangle 16"/>
          <p:cNvSpPr/>
          <p:nvPr/>
        </p:nvSpPr>
        <p:spPr>
          <a:xfrm>
            <a:off x="6199632" y="1691640"/>
            <a:ext cx="5230368" cy="4041648"/>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6199632" y="1691640"/>
            <a:ext cx="5230368" cy="45720"/>
          </a:xfrm>
          <a:prstGeom prst="rect">
            <a:avLst/>
          </a:prstGeom>
          <a:solidFill>
            <a:srgbClr val="157F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473952" y="1901952"/>
            <a:ext cx="4681728" cy="274320"/>
          </a:xfrm>
          <a:prstGeom prst="rect">
            <a:avLst/>
          </a:prstGeom>
          <a:noFill/>
        </p:spPr>
        <p:txBody>
          <a:bodyPr wrap="square" lIns="0" tIns="0" rIns="0" bIns="0">
            <a:spAutoFit/>
          </a:bodyPr>
          <a:lstStyle/>
          <a:p>
            <a:pPr algn="l">
              <a:lnSpc>
                <a:spcPct val="110000"/>
              </a:lnSpc>
              <a:spcAft>
                <a:spcPts val="0"/>
              </a:spcAft>
            </a:pPr>
            <a:r>
              <a:rPr sz="1500" b="1">
                <a:solidFill>
                  <a:srgbClr val="157F4C"/>
                </a:solidFill>
                <a:latin typeface="Helvetica Neue"/>
              </a:rPr>
              <a:t>✓   Run #2 — verde</a:t>
            </a:r>
          </a:p>
        </p:txBody>
      </p:sp>
      <p:sp>
        <p:nvSpPr>
          <p:cNvPr id="20" name="TextBox 19"/>
          <p:cNvSpPr txBox="1"/>
          <p:nvPr/>
        </p:nvSpPr>
        <p:spPr>
          <a:xfrm>
            <a:off x="6473952" y="2231136"/>
            <a:ext cx="4681728" cy="274320"/>
          </a:xfrm>
          <a:prstGeom prst="rect">
            <a:avLst/>
          </a:prstGeom>
          <a:noFill/>
        </p:spPr>
        <p:txBody>
          <a:bodyPr wrap="square" lIns="0" tIns="0" rIns="0" bIns="0">
            <a:spAutoFit/>
          </a:bodyPr>
          <a:lstStyle/>
          <a:p>
            <a:pPr algn="l">
              <a:lnSpc>
                <a:spcPct val="110000"/>
              </a:lnSpc>
              <a:spcAft>
                <a:spcPts val="0"/>
              </a:spcAft>
            </a:pPr>
            <a:r>
              <a:rPr sz="950" b="0">
                <a:solidFill>
                  <a:srgbClr val="6E747E"/>
                </a:solidFill>
                <a:latin typeface="Menlo"/>
              </a:rPr>
              <a:t>misma versión, corregida hacia adelante</a:t>
            </a:r>
          </a:p>
        </p:txBody>
      </p:sp>
      <p:sp>
        <p:nvSpPr>
          <p:cNvPr id="21" name="Rectangle 20"/>
          <p:cNvSpPr/>
          <p:nvPr/>
        </p:nvSpPr>
        <p:spPr>
          <a:xfrm>
            <a:off x="6473952" y="2505456"/>
            <a:ext cx="4681728" cy="1719072"/>
          </a:xfrm>
          <a:prstGeom prst="rect">
            <a:avLst/>
          </a:prstGeom>
          <a:solidFill>
            <a:srgbClr val="1B1F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693408" y="2670048"/>
            <a:ext cx="4315968" cy="1444752"/>
          </a:xfrm>
          <a:prstGeom prst="rect">
            <a:avLst/>
          </a:prstGeom>
          <a:noFill/>
        </p:spPr>
        <p:txBody>
          <a:bodyPr wrap="square" lIns="0" tIns="0" rIns="0" bIns="0">
            <a:spAutoFit/>
          </a:bodyPr>
          <a:lstStyle/>
          <a:p>
            <a:pPr algn="l">
              <a:lnSpc>
                <a:spcPct val="130000"/>
              </a:lnSpc>
              <a:spcAft>
                <a:spcPts val="0"/>
              </a:spcAft>
            </a:pPr>
            <a:r>
              <a:rPr sz="1000" b="0">
                <a:solidFill>
                  <a:srgbClr val="E6E8EC"/>
                </a:solidFill>
                <a:latin typeface="Menlo"/>
              </a:rPr>
              <a:t>CREATE TABLE referees (</a:t>
            </a:r>
          </a:p>
          <a:p>
            <a:pPr algn="l">
              <a:lnSpc>
                <a:spcPct val="130000"/>
              </a:lnSpc>
              <a:spcAft>
                <a:spcPts val="0"/>
              </a:spcAft>
            </a:pPr>
            <a:r>
              <a:rPr sz="1000" b="0">
                <a:solidFill>
                  <a:srgbClr val="E6E8EC"/>
                </a:solidFill>
                <a:latin typeface="Menlo"/>
              </a:rPr>
              <a:t>    id SERIAL PRIMARY KEY, ...</a:t>
            </a:r>
          </a:p>
          <a:p>
            <a:pPr algn="l">
              <a:lnSpc>
                <a:spcPct val="130000"/>
              </a:lnSpc>
              <a:spcAft>
                <a:spcPts val="0"/>
              </a:spcAft>
            </a:pPr>
            <a:r>
              <a:rPr sz="1000" b="0">
                <a:solidFill>
                  <a:srgbClr val="E6E8EC"/>
                </a:solidFill>
                <a:latin typeface="Menlo"/>
              </a:rPr>
              <a:t>);</a:t>
            </a:r>
          </a:p>
          <a:p>
            <a:pPr algn="l">
              <a:lnSpc>
                <a:spcPct val="130000"/>
              </a:lnSpc>
              <a:spcAft>
                <a:spcPts val="0"/>
              </a:spcAft>
            </a:pPr>
            <a:r>
              <a:rPr sz="1000" b="0">
                <a:solidFill>
                  <a:srgbClr val="E6E8EC"/>
                </a:solidFill>
                <a:latin typeface="Menlo"/>
              </a:rPr>
              <a:t>ALTER TABLE matches</a:t>
            </a:r>
          </a:p>
          <a:p>
            <a:pPr algn="l">
              <a:lnSpc>
                <a:spcPct val="130000"/>
              </a:lnSpc>
              <a:spcAft>
                <a:spcPts val="0"/>
              </a:spcAft>
            </a:pPr>
            <a:r>
              <a:rPr sz="1000" b="0">
                <a:solidFill>
                  <a:srgbClr val="E6E8EC"/>
                </a:solidFill>
                <a:latin typeface="Menlo"/>
              </a:rPr>
              <a:t>    ADD COLUMN referee_id INTEGER</a:t>
            </a:r>
          </a:p>
          <a:p>
            <a:pPr algn="l">
              <a:lnSpc>
                <a:spcPct val="130000"/>
              </a:lnSpc>
              <a:spcAft>
                <a:spcPts val="0"/>
              </a:spcAft>
            </a:pPr>
            <a:r>
              <a:rPr sz="1000" b="0">
                <a:solidFill>
                  <a:srgbClr val="E6E8EC"/>
                </a:solidFill>
                <a:latin typeface="Menlo"/>
              </a:rPr>
              <a:t>    REFERENCES referees (id);</a:t>
            </a:r>
          </a:p>
          <a:p>
            <a:pPr algn="l">
              <a:lnSpc>
                <a:spcPct val="130000"/>
              </a:lnSpc>
              <a:spcAft>
                <a:spcPts val="0"/>
              </a:spcAft>
            </a:pPr>
            <a:r>
              <a:rPr sz="1000" b="0">
                <a:solidFill>
                  <a:srgbClr val="E6E8EC"/>
                </a:solidFill>
                <a:latin typeface="Menlo"/>
              </a:rPr>
              <a:t>CREATE INDEX idx_matches_referee_id ...</a:t>
            </a:r>
          </a:p>
        </p:txBody>
      </p:sp>
      <p:sp>
        <p:nvSpPr>
          <p:cNvPr id="23" name="TextBox 22"/>
          <p:cNvSpPr txBox="1"/>
          <p:nvPr/>
        </p:nvSpPr>
        <p:spPr>
          <a:xfrm>
            <a:off x="6473952" y="4370832"/>
            <a:ext cx="4681728" cy="1188720"/>
          </a:xfrm>
          <a:prstGeom prst="rect">
            <a:avLst/>
          </a:prstGeom>
          <a:noFill/>
        </p:spPr>
        <p:txBody>
          <a:bodyPr wrap="square" lIns="0" tIns="0" rIns="0" bIns="0">
            <a:spAutoFit/>
          </a:bodyPr>
          <a:lstStyle/>
          <a:p>
            <a:pPr algn="l">
              <a:lnSpc>
                <a:spcPct val="138000"/>
              </a:lnSpc>
              <a:spcAft>
                <a:spcPts val="0"/>
              </a:spcAft>
            </a:pPr>
            <a:r>
              <a:rPr sz="1050" b="1">
                <a:solidFill>
                  <a:srgbClr val="21252D"/>
                </a:solidFill>
                <a:latin typeface="Helvetica Neue"/>
              </a:rPr>
              <a:t>Por qué se pudo editar el mismo archivo:  </a:t>
            </a:r>
            <a:r>
              <a:rPr sz="1050" b="0">
                <a:solidFill>
                  <a:srgbClr val="6E747E"/>
                </a:solidFill>
                <a:latin typeface="Helvetica Neue"/>
              </a:rPr>
              <a:t>PostgreSQL ejecuta el DDL en una transacción, así que Flyway revirtió el cambio y no registró la versión en flyway_schema_history. Sin checksum previo no hay conflicto de validate. Si el run hubiera pasado, corregir habría exigido una V nueva.</a:t>
            </a:r>
          </a:p>
        </p:txBody>
      </p:sp>
      <p:sp>
        <p:nvSpPr>
          <p:cNvPr id="24" name="TextBox 23"/>
          <p:cNvSpPr txBox="1"/>
          <p:nvPr/>
        </p:nvSpPr>
        <p:spPr>
          <a:xfrm>
            <a:off x="731520" y="5897880"/>
            <a:ext cx="10698480" cy="274320"/>
          </a:xfrm>
          <a:prstGeom prst="rect">
            <a:avLst/>
          </a:prstGeom>
          <a:noFill/>
        </p:spPr>
        <p:txBody>
          <a:bodyPr wrap="square" lIns="0" tIns="0" rIns="0" bIns="0">
            <a:spAutoFit/>
          </a:bodyPr>
          <a:lstStyle/>
          <a:p>
            <a:pPr algn="l">
              <a:lnSpc>
                <a:spcPct val="110000"/>
              </a:lnSpc>
              <a:spcAft>
                <a:spcPts val="0"/>
              </a:spcAft>
            </a:pPr>
            <a:r>
              <a:rPr sz="1100" b="1">
                <a:solidFill>
                  <a:srgbClr val="4338CA"/>
                </a:solidFill>
                <a:latin typeface="Helvetica Neue"/>
              </a:rPr>
              <a:t>Evidencia de ambos runs:  </a:t>
            </a:r>
            <a:r>
              <a:rPr sz="1100" b="0">
                <a:solidFill>
                  <a:srgbClr val="6E747E"/>
                </a:solidFill>
                <a:latin typeface="Helvetica Neue"/>
              </a:rPr>
              <a:t>docs/evidencias/migracion_fallada.png  ·  docs/evidencias/migracio_exitosa.png  —  el run verde cierra con schema version 20260806090000 y las 7 migraciones en Success.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8F6"/>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31520" y="475488"/>
            <a:ext cx="10728655" cy="228600"/>
          </a:xfrm>
          <a:prstGeom prst="rect">
            <a:avLst/>
          </a:prstGeom>
          <a:noFill/>
        </p:spPr>
        <p:txBody>
          <a:bodyPr wrap="square" lIns="0" tIns="0" rIns="0" bIns="0">
            <a:spAutoFit/>
          </a:bodyPr>
          <a:lstStyle/>
          <a:p>
            <a:pPr algn="l">
              <a:lnSpc>
                <a:spcPct val="110000"/>
              </a:lnSpc>
              <a:spcAft>
                <a:spcPts val="0"/>
              </a:spcAft>
            </a:pPr>
            <a:r>
              <a:rPr sz="1050" b="1">
                <a:solidFill>
                  <a:srgbClr val="4338CA"/>
                </a:solidFill>
                <a:latin typeface="Helvetica Neue"/>
              </a:rPr>
              <a:t>SEGURIDAD</a:t>
            </a:r>
          </a:p>
        </p:txBody>
      </p:sp>
      <p:sp>
        <p:nvSpPr>
          <p:cNvPr id="4" name="TextBox 3"/>
          <p:cNvSpPr txBox="1"/>
          <p:nvPr/>
        </p:nvSpPr>
        <p:spPr>
          <a:xfrm>
            <a:off x="731520" y="749808"/>
            <a:ext cx="10728655" cy="548640"/>
          </a:xfrm>
          <a:prstGeom prst="rect">
            <a:avLst/>
          </a:prstGeom>
          <a:noFill/>
        </p:spPr>
        <p:txBody>
          <a:bodyPr wrap="square" lIns="0" tIns="0" rIns="0" bIns="0">
            <a:spAutoFit/>
          </a:bodyPr>
          <a:lstStyle/>
          <a:p>
            <a:pPr algn="l">
              <a:lnSpc>
                <a:spcPct val="110000"/>
              </a:lnSpc>
              <a:spcAft>
                <a:spcPts val="0"/>
              </a:spcAft>
            </a:pPr>
            <a:r>
              <a:rPr sz="3100" b="1">
                <a:solidFill>
                  <a:srgbClr val="21252D"/>
                </a:solidFill>
                <a:latin typeface="Helvetica Neue"/>
              </a:rPr>
              <a:t>Gestión de secretos</a:t>
            </a:r>
          </a:p>
        </p:txBody>
      </p:sp>
      <p:sp>
        <p:nvSpPr>
          <p:cNvPr id="5" name="TextBox 4"/>
          <p:cNvSpPr txBox="1"/>
          <p:nvPr/>
        </p:nvSpPr>
        <p:spPr>
          <a:xfrm>
            <a:off x="10362895" y="457200"/>
            <a:ext cx="1097280" cy="365760"/>
          </a:xfrm>
          <a:prstGeom prst="rect">
            <a:avLst/>
          </a:prstGeom>
          <a:noFill/>
        </p:spPr>
        <p:txBody>
          <a:bodyPr wrap="square" lIns="0" tIns="0" rIns="0" bIns="0">
            <a:spAutoFit/>
          </a:bodyPr>
          <a:lstStyle/>
          <a:p>
            <a:pPr algn="r">
              <a:lnSpc>
                <a:spcPct val="110000"/>
              </a:lnSpc>
              <a:spcAft>
                <a:spcPts val="0"/>
              </a:spcAft>
            </a:pPr>
            <a:r>
              <a:rPr sz="1300" b="1">
                <a:solidFill>
                  <a:srgbClr val="E3E2DC"/>
                </a:solidFill>
                <a:latin typeface="Helvetica Neue"/>
              </a:rPr>
              <a:t>11</a:t>
            </a:r>
          </a:p>
        </p:txBody>
      </p:sp>
      <p:sp>
        <p:nvSpPr>
          <p:cNvPr id="6" name="Rectangle 5"/>
          <p:cNvSpPr/>
          <p:nvPr/>
        </p:nvSpPr>
        <p:spPr>
          <a:xfrm>
            <a:off x="731520" y="1417320"/>
            <a:ext cx="10728655" cy="11430"/>
          </a:xfrm>
          <a:prstGeom prst="rect">
            <a:avLst/>
          </a:prstGeom>
          <a:solidFill>
            <a:srgbClr val="E3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31520" y="6355080"/>
            <a:ext cx="10728655" cy="228600"/>
          </a:xfrm>
          <a:prstGeom prst="rect">
            <a:avLst/>
          </a:prstGeom>
          <a:noFill/>
        </p:spPr>
        <p:txBody>
          <a:bodyPr wrap="square" lIns="0" tIns="0" rIns="0" bIns="0">
            <a:spAutoFit/>
          </a:bodyPr>
          <a:lstStyle/>
          <a:p>
            <a:pPr algn="l">
              <a:lnSpc>
                <a:spcPct val="110000"/>
              </a:lnSpc>
              <a:spcAft>
                <a:spcPts val="0"/>
              </a:spcAft>
            </a:pPr>
            <a:r>
              <a:rPr sz="950" b="0">
                <a:solidFill>
                  <a:srgbClr val="E3E2DC"/>
                </a:solidFill>
                <a:latin typeface="Helvetica Neue"/>
              </a:rPr>
              <a:t>CI/CD en Base de Datos  ·  SI6010-5979  ·  Torneos deportivos</a:t>
            </a:r>
          </a:p>
        </p:txBody>
      </p:sp>
      <p:sp>
        <p:nvSpPr>
          <p:cNvPr id="8" name="TextBox 7"/>
          <p:cNvSpPr txBox="1"/>
          <p:nvPr/>
        </p:nvSpPr>
        <p:spPr>
          <a:xfrm>
            <a:off x="731520" y="1737360"/>
            <a:ext cx="10698480" cy="320040"/>
          </a:xfrm>
          <a:prstGeom prst="rect">
            <a:avLst/>
          </a:prstGeom>
          <a:noFill/>
        </p:spPr>
        <p:txBody>
          <a:bodyPr wrap="square" lIns="0" tIns="0" rIns="0" bIns="0">
            <a:spAutoFit/>
          </a:bodyPr>
          <a:lstStyle/>
          <a:p>
            <a:pPr algn="l">
              <a:lnSpc>
                <a:spcPct val="110000"/>
              </a:lnSpc>
              <a:spcAft>
                <a:spcPts val="0"/>
              </a:spcAft>
            </a:pPr>
            <a:r>
              <a:rPr sz="1350" b="1">
                <a:solidFill>
                  <a:srgbClr val="21252D"/>
                </a:solidFill>
                <a:latin typeface="Helvetica Neue"/>
              </a:rPr>
              <a:t>Cero credenciales en el repositorio</a:t>
            </a:r>
            <a:r>
              <a:rPr sz="1350" b="0">
                <a:solidFill>
                  <a:srgbClr val="6E747E"/>
                </a:solidFill>
                <a:latin typeface="Helvetica Neue"/>
              </a:rPr>
              <a:t> — verificado también en el historial de commits. Todo vía </a:t>
            </a:r>
            <a:r>
              <a:rPr sz="1350" b="1">
                <a:solidFill>
                  <a:srgbClr val="4338CA"/>
                </a:solidFill>
                <a:latin typeface="Helvetica Neue"/>
              </a:rPr>
              <a:t>GitHub Secrets</a:t>
            </a:r>
            <a:r>
              <a:rPr sz="1350" b="0">
                <a:solidFill>
                  <a:srgbClr val="6E747E"/>
                </a:solidFill>
                <a:latin typeface="Helvetica Neue"/>
              </a:rPr>
              <a:t>.</a:t>
            </a:r>
          </a:p>
        </p:txBody>
      </p:sp>
      <p:sp>
        <p:nvSpPr>
          <p:cNvPr id="9" name="TextBox 8"/>
          <p:cNvSpPr txBox="1"/>
          <p:nvPr/>
        </p:nvSpPr>
        <p:spPr>
          <a:xfrm>
            <a:off x="868680" y="2240280"/>
            <a:ext cx="2743200" cy="182880"/>
          </a:xfrm>
          <a:prstGeom prst="rect">
            <a:avLst/>
          </a:prstGeom>
          <a:noFill/>
        </p:spPr>
        <p:txBody>
          <a:bodyPr wrap="square" lIns="0" tIns="0" rIns="0" bIns="0">
            <a:spAutoFit/>
          </a:bodyPr>
          <a:lstStyle/>
          <a:p>
            <a:pPr algn="l">
              <a:lnSpc>
                <a:spcPct val="110000"/>
              </a:lnSpc>
              <a:spcAft>
                <a:spcPts val="0"/>
              </a:spcAft>
            </a:pPr>
            <a:r>
              <a:rPr sz="850" b="1">
                <a:solidFill>
                  <a:srgbClr val="E3E2DC"/>
                </a:solidFill>
                <a:latin typeface="Helvetica Neue"/>
              </a:rPr>
              <a:t>SECRET</a:t>
            </a:r>
          </a:p>
        </p:txBody>
      </p:sp>
      <p:sp>
        <p:nvSpPr>
          <p:cNvPr id="10" name="TextBox 9"/>
          <p:cNvSpPr txBox="1"/>
          <p:nvPr/>
        </p:nvSpPr>
        <p:spPr>
          <a:xfrm>
            <a:off x="4023360" y="2240280"/>
            <a:ext cx="5486400" cy="182880"/>
          </a:xfrm>
          <a:prstGeom prst="rect">
            <a:avLst/>
          </a:prstGeom>
          <a:noFill/>
        </p:spPr>
        <p:txBody>
          <a:bodyPr wrap="square" lIns="0" tIns="0" rIns="0" bIns="0">
            <a:spAutoFit/>
          </a:bodyPr>
          <a:lstStyle/>
          <a:p>
            <a:pPr algn="l">
              <a:lnSpc>
                <a:spcPct val="110000"/>
              </a:lnSpc>
              <a:spcAft>
                <a:spcPts val="0"/>
              </a:spcAft>
            </a:pPr>
            <a:r>
              <a:rPr sz="850" b="1">
                <a:solidFill>
                  <a:srgbClr val="E3E2DC"/>
                </a:solidFill>
                <a:latin typeface="Helvetica Neue"/>
              </a:rPr>
              <a:t>VALOR</a:t>
            </a:r>
          </a:p>
        </p:txBody>
      </p:sp>
      <p:sp>
        <p:nvSpPr>
          <p:cNvPr id="11" name="TextBox 10"/>
          <p:cNvSpPr txBox="1"/>
          <p:nvPr/>
        </p:nvSpPr>
        <p:spPr>
          <a:xfrm>
            <a:off x="10241280" y="2240280"/>
            <a:ext cx="1097280" cy="182880"/>
          </a:xfrm>
          <a:prstGeom prst="rect">
            <a:avLst/>
          </a:prstGeom>
          <a:noFill/>
        </p:spPr>
        <p:txBody>
          <a:bodyPr wrap="square" lIns="0" tIns="0" rIns="0" bIns="0">
            <a:spAutoFit/>
          </a:bodyPr>
          <a:lstStyle/>
          <a:p>
            <a:pPr algn="l">
              <a:lnSpc>
                <a:spcPct val="110000"/>
              </a:lnSpc>
              <a:spcAft>
                <a:spcPts val="0"/>
              </a:spcAft>
            </a:pPr>
            <a:r>
              <a:rPr sz="850" b="1">
                <a:solidFill>
                  <a:srgbClr val="E3E2DC"/>
                </a:solidFill>
                <a:latin typeface="Helvetica Neue"/>
              </a:rPr>
              <a:t>ENTORNO</a:t>
            </a:r>
          </a:p>
        </p:txBody>
      </p:sp>
      <p:sp>
        <p:nvSpPr>
          <p:cNvPr id="12" name="Rectangle 11"/>
          <p:cNvSpPr/>
          <p:nvPr/>
        </p:nvSpPr>
        <p:spPr>
          <a:xfrm>
            <a:off x="731520" y="2478024"/>
            <a:ext cx="1069848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68680" y="2587752"/>
            <a:ext cx="3108960" cy="201168"/>
          </a:xfrm>
          <a:prstGeom prst="rect">
            <a:avLst/>
          </a:prstGeom>
          <a:noFill/>
        </p:spPr>
        <p:txBody>
          <a:bodyPr wrap="square" lIns="0" tIns="0" rIns="0" bIns="0">
            <a:spAutoFit/>
          </a:bodyPr>
          <a:lstStyle/>
          <a:p>
            <a:pPr algn="l">
              <a:lnSpc>
                <a:spcPct val="110000"/>
              </a:lnSpc>
              <a:spcAft>
                <a:spcPts val="0"/>
              </a:spcAft>
            </a:pPr>
            <a:r>
              <a:rPr sz="1050" b="1">
                <a:solidFill>
                  <a:srgbClr val="4338CA"/>
                </a:solidFill>
                <a:latin typeface="Menlo"/>
              </a:rPr>
              <a:t>FLYWAY_URL_DEV</a:t>
            </a:r>
          </a:p>
        </p:txBody>
      </p:sp>
      <p:sp>
        <p:nvSpPr>
          <p:cNvPr id="14" name="TextBox 13"/>
          <p:cNvSpPr txBox="1"/>
          <p:nvPr/>
        </p:nvSpPr>
        <p:spPr>
          <a:xfrm>
            <a:off x="4023360" y="2587752"/>
            <a:ext cx="6035040" cy="201168"/>
          </a:xfrm>
          <a:prstGeom prst="rect">
            <a:avLst/>
          </a:prstGeom>
          <a:noFill/>
        </p:spPr>
        <p:txBody>
          <a:bodyPr wrap="square" lIns="0" tIns="0" rIns="0" bIns="0">
            <a:spAutoFit/>
          </a:bodyPr>
          <a:lstStyle/>
          <a:p>
            <a:pPr algn="l">
              <a:lnSpc>
                <a:spcPct val="110000"/>
              </a:lnSpc>
              <a:spcAft>
                <a:spcPts val="0"/>
              </a:spcAft>
            </a:pPr>
            <a:r>
              <a:rPr sz="1050" b="0">
                <a:solidFill>
                  <a:srgbClr val="6E747E"/>
                </a:solidFill>
                <a:latin typeface="Menlo"/>
              </a:rPr>
              <a:t>jdbc:postgresql://&lt;host&gt;/neondb?sslmode=require</a:t>
            </a:r>
          </a:p>
        </p:txBody>
      </p:sp>
      <p:sp>
        <p:nvSpPr>
          <p:cNvPr id="15" name="TextBox 14"/>
          <p:cNvSpPr txBox="1"/>
          <p:nvPr/>
        </p:nvSpPr>
        <p:spPr>
          <a:xfrm>
            <a:off x="10241280" y="2596896"/>
            <a:ext cx="1097280" cy="201168"/>
          </a:xfrm>
          <a:prstGeom prst="rect">
            <a:avLst/>
          </a:prstGeom>
          <a:noFill/>
        </p:spPr>
        <p:txBody>
          <a:bodyPr wrap="square" lIns="0" tIns="0" rIns="0" bIns="0">
            <a:spAutoFit/>
          </a:bodyPr>
          <a:lstStyle/>
          <a:p>
            <a:pPr algn="l">
              <a:lnSpc>
                <a:spcPct val="110000"/>
              </a:lnSpc>
              <a:spcAft>
                <a:spcPts val="0"/>
              </a:spcAft>
            </a:pPr>
            <a:r>
              <a:rPr sz="1050" b="1">
                <a:solidFill>
                  <a:srgbClr val="21252D"/>
                </a:solidFill>
                <a:latin typeface="Helvetica Neue"/>
              </a:rPr>
              <a:t>dev</a:t>
            </a:r>
          </a:p>
        </p:txBody>
      </p:sp>
      <p:sp>
        <p:nvSpPr>
          <p:cNvPr id="16" name="TextBox 15"/>
          <p:cNvSpPr txBox="1"/>
          <p:nvPr/>
        </p:nvSpPr>
        <p:spPr>
          <a:xfrm>
            <a:off x="868680" y="2971800"/>
            <a:ext cx="3108960" cy="201168"/>
          </a:xfrm>
          <a:prstGeom prst="rect">
            <a:avLst/>
          </a:prstGeom>
          <a:noFill/>
        </p:spPr>
        <p:txBody>
          <a:bodyPr wrap="square" lIns="0" tIns="0" rIns="0" bIns="0">
            <a:spAutoFit/>
          </a:bodyPr>
          <a:lstStyle/>
          <a:p>
            <a:pPr algn="l">
              <a:lnSpc>
                <a:spcPct val="110000"/>
              </a:lnSpc>
              <a:spcAft>
                <a:spcPts val="0"/>
              </a:spcAft>
            </a:pPr>
            <a:r>
              <a:rPr sz="1050" b="1">
                <a:solidFill>
                  <a:srgbClr val="4338CA"/>
                </a:solidFill>
                <a:latin typeface="Menlo"/>
              </a:rPr>
              <a:t>FLYWAY_USER_DEV</a:t>
            </a:r>
          </a:p>
        </p:txBody>
      </p:sp>
      <p:sp>
        <p:nvSpPr>
          <p:cNvPr id="17" name="TextBox 16"/>
          <p:cNvSpPr txBox="1"/>
          <p:nvPr/>
        </p:nvSpPr>
        <p:spPr>
          <a:xfrm>
            <a:off x="4023360" y="2971800"/>
            <a:ext cx="6035040" cy="201168"/>
          </a:xfrm>
          <a:prstGeom prst="rect">
            <a:avLst/>
          </a:prstGeom>
          <a:noFill/>
        </p:spPr>
        <p:txBody>
          <a:bodyPr wrap="square" lIns="0" tIns="0" rIns="0" bIns="0">
            <a:spAutoFit/>
          </a:bodyPr>
          <a:lstStyle/>
          <a:p>
            <a:pPr algn="l">
              <a:lnSpc>
                <a:spcPct val="110000"/>
              </a:lnSpc>
              <a:spcAft>
                <a:spcPts val="0"/>
              </a:spcAft>
            </a:pPr>
            <a:r>
              <a:rPr sz="1050" b="0">
                <a:solidFill>
                  <a:srgbClr val="6E747E"/>
                </a:solidFill>
                <a:latin typeface="Menlo"/>
              </a:rPr>
              <a:t>usuario del branch dev</a:t>
            </a:r>
          </a:p>
        </p:txBody>
      </p:sp>
      <p:sp>
        <p:nvSpPr>
          <p:cNvPr id="18" name="TextBox 17"/>
          <p:cNvSpPr txBox="1"/>
          <p:nvPr/>
        </p:nvSpPr>
        <p:spPr>
          <a:xfrm>
            <a:off x="10241280" y="2980944"/>
            <a:ext cx="1097280" cy="201168"/>
          </a:xfrm>
          <a:prstGeom prst="rect">
            <a:avLst/>
          </a:prstGeom>
          <a:noFill/>
        </p:spPr>
        <p:txBody>
          <a:bodyPr wrap="square" lIns="0" tIns="0" rIns="0" bIns="0">
            <a:spAutoFit/>
          </a:bodyPr>
          <a:lstStyle/>
          <a:p>
            <a:pPr algn="l">
              <a:lnSpc>
                <a:spcPct val="110000"/>
              </a:lnSpc>
              <a:spcAft>
                <a:spcPts val="0"/>
              </a:spcAft>
            </a:pPr>
            <a:r>
              <a:rPr sz="1050" b="1">
                <a:solidFill>
                  <a:srgbClr val="21252D"/>
                </a:solidFill>
                <a:latin typeface="Helvetica Neue"/>
              </a:rPr>
              <a:t>dev</a:t>
            </a:r>
          </a:p>
        </p:txBody>
      </p:sp>
      <p:sp>
        <p:nvSpPr>
          <p:cNvPr id="19" name="Rectangle 18"/>
          <p:cNvSpPr/>
          <p:nvPr/>
        </p:nvSpPr>
        <p:spPr>
          <a:xfrm>
            <a:off x="731520" y="3246120"/>
            <a:ext cx="1069848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68680" y="3355848"/>
            <a:ext cx="3108960" cy="201168"/>
          </a:xfrm>
          <a:prstGeom prst="rect">
            <a:avLst/>
          </a:prstGeom>
          <a:noFill/>
        </p:spPr>
        <p:txBody>
          <a:bodyPr wrap="square" lIns="0" tIns="0" rIns="0" bIns="0">
            <a:spAutoFit/>
          </a:bodyPr>
          <a:lstStyle/>
          <a:p>
            <a:pPr algn="l">
              <a:lnSpc>
                <a:spcPct val="110000"/>
              </a:lnSpc>
              <a:spcAft>
                <a:spcPts val="0"/>
              </a:spcAft>
            </a:pPr>
            <a:r>
              <a:rPr sz="1050" b="1">
                <a:solidFill>
                  <a:srgbClr val="4338CA"/>
                </a:solidFill>
                <a:latin typeface="Menlo"/>
              </a:rPr>
              <a:t>FLYWAY_PASSWORD_DEV</a:t>
            </a:r>
          </a:p>
        </p:txBody>
      </p:sp>
      <p:sp>
        <p:nvSpPr>
          <p:cNvPr id="21" name="TextBox 20"/>
          <p:cNvSpPr txBox="1"/>
          <p:nvPr/>
        </p:nvSpPr>
        <p:spPr>
          <a:xfrm>
            <a:off x="4023360" y="3355848"/>
            <a:ext cx="6035040" cy="201168"/>
          </a:xfrm>
          <a:prstGeom prst="rect">
            <a:avLst/>
          </a:prstGeom>
          <a:noFill/>
        </p:spPr>
        <p:txBody>
          <a:bodyPr wrap="square" lIns="0" tIns="0" rIns="0" bIns="0">
            <a:spAutoFit/>
          </a:bodyPr>
          <a:lstStyle/>
          <a:p>
            <a:pPr algn="l">
              <a:lnSpc>
                <a:spcPct val="110000"/>
              </a:lnSpc>
              <a:spcAft>
                <a:spcPts val="0"/>
              </a:spcAft>
            </a:pPr>
            <a:r>
              <a:rPr sz="1050" b="0">
                <a:solidFill>
                  <a:srgbClr val="6E747E"/>
                </a:solidFill>
                <a:latin typeface="Menlo"/>
              </a:rPr>
              <a:t>contraseña del branch dev</a:t>
            </a:r>
          </a:p>
        </p:txBody>
      </p:sp>
      <p:sp>
        <p:nvSpPr>
          <p:cNvPr id="22" name="TextBox 21"/>
          <p:cNvSpPr txBox="1"/>
          <p:nvPr/>
        </p:nvSpPr>
        <p:spPr>
          <a:xfrm>
            <a:off x="10241280" y="3364992"/>
            <a:ext cx="1097280" cy="201168"/>
          </a:xfrm>
          <a:prstGeom prst="rect">
            <a:avLst/>
          </a:prstGeom>
          <a:noFill/>
        </p:spPr>
        <p:txBody>
          <a:bodyPr wrap="square" lIns="0" tIns="0" rIns="0" bIns="0">
            <a:spAutoFit/>
          </a:bodyPr>
          <a:lstStyle/>
          <a:p>
            <a:pPr algn="l">
              <a:lnSpc>
                <a:spcPct val="110000"/>
              </a:lnSpc>
              <a:spcAft>
                <a:spcPts val="0"/>
              </a:spcAft>
            </a:pPr>
            <a:r>
              <a:rPr sz="1050" b="1">
                <a:solidFill>
                  <a:srgbClr val="21252D"/>
                </a:solidFill>
                <a:latin typeface="Helvetica Neue"/>
              </a:rPr>
              <a:t>dev</a:t>
            </a:r>
          </a:p>
        </p:txBody>
      </p:sp>
      <p:sp>
        <p:nvSpPr>
          <p:cNvPr id="23" name="TextBox 22"/>
          <p:cNvSpPr txBox="1"/>
          <p:nvPr/>
        </p:nvSpPr>
        <p:spPr>
          <a:xfrm>
            <a:off x="868680" y="3739896"/>
            <a:ext cx="3108960" cy="201168"/>
          </a:xfrm>
          <a:prstGeom prst="rect">
            <a:avLst/>
          </a:prstGeom>
          <a:noFill/>
        </p:spPr>
        <p:txBody>
          <a:bodyPr wrap="square" lIns="0" tIns="0" rIns="0" bIns="0">
            <a:spAutoFit/>
          </a:bodyPr>
          <a:lstStyle/>
          <a:p>
            <a:pPr algn="l">
              <a:lnSpc>
                <a:spcPct val="110000"/>
              </a:lnSpc>
              <a:spcAft>
                <a:spcPts val="0"/>
              </a:spcAft>
            </a:pPr>
            <a:r>
              <a:rPr sz="1050" b="1">
                <a:solidFill>
                  <a:srgbClr val="4338CA"/>
                </a:solidFill>
                <a:latin typeface="Menlo"/>
              </a:rPr>
              <a:t>FLYWAY_URL_PROD</a:t>
            </a:r>
          </a:p>
        </p:txBody>
      </p:sp>
      <p:sp>
        <p:nvSpPr>
          <p:cNvPr id="24" name="TextBox 23"/>
          <p:cNvSpPr txBox="1"/>
          <p:nvPr/>
        </p:nvSpPr>
        <p:spPr>
          <a:xfrm>
            <a:off x="4023360" y="3739896"/>
            <a:ext cx="6035040" cy="201168"/>
          </a:xfrm>
          <a:prstGeom prst="rect">
            <a:avLst/>
          </a:prstGeom>
          <a:noFill/>
        </p:spPr>
        <p:txBody>
          <a:bodyPr wrap="square" lIns="0" tIns="0" rIns="0" bIns="0">
            <a:spAutoFit/>
          </a:bodyPr>
          <a:lstStyle/>
          <a:p>
            <a:pPr algn="l">
              <a:lnSpc>
                <a:spcPct val="110000"/>
              </a:lnSpc>
              <a:spcAft>
                <a:spcPts val="0"/>
              </a:spcAft>
            </a:pPr>
            <a:r>
              <a:rPr sz="1050" b="0">
                <a:solidFill>
                  <a:srgbClr val="6E747E"/>
                </a:solidFill>
                <a:latin typeface="Menlo"/>
              </a:rPr>
              <a:t>jdbc:postgresql://&lt;host&gt;/neondb?sslmode=require</a:t>
            </a:r>
          </a:p>
        </p:txBody>
      </p:sp>
      <p:sp>
        <p:nvSpPr>
          <p:cNvPr id="25" name="TextBox 24"/>
          <p:cNvSpPr txBox="1"/>
          <p:nvPr/>
        </p:nvSpPr>
        <p:spPr>
          <a:xfrm>
            <a:off x="10241280" y="3749040"/>
            <a:ext cx="1097280" cy="201168"/>
          </a:xfrm>
          <a:prstGeom prst="rect">
            <a:avLst/>
          </a:prstGeom>
          <a:noFill/>
        </p:spPr>
        <p:txBody>
          <a:bodyPr wrap="square" lIns="0" tIns="0" rIns="0" bIns="0">
            <a:spAutoFit/>
          </a:bodyPr>
          <a:lstStyle/>
          <a:p>
            <a:pPr algn="l">
              <a:lnSpc>
                <a:spcPct val="110000"/>
              </a:lnSpc>
              <a:spcAft>
                <a:spcPts val="0"/>
              </a:spcAft>
            </a:pPr>
            <a:r>
              <a:rPr sz="1050" b="1">
                <a:solidFill>
                  <a:srgbClr val="157F4C"/>
                </a:solidFill>
                <a:latin typeface="Helvetica Neue"/>
              </a:rPr>
              <a:t>prod</a:t>
            </a:r>
          </a:p>
        </p:txBody>
      </p:sp>
      <p:sp>
        <p:nvSpPr>
          <p:cNvPr id="26" name="Rectangle 25"/>
          <p:cNvSpPr/>
          <p:nvPr/>
        </p:nvSpPr>
        <p:spPr>
          <a:xfrm>
            <a:off x="731520" y="4014216"/>
            <a:ext cx="1069848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68680" y="4123944"/>
            <a:ext cx="3108960" cy="201168"/>
          </a:xfrm>
          <a:prstGeom prst="rect">
            <a:avLst/>
          </a:prstGeom>
          <a:noFill/>
        </p:spPr>
        <p:txBody>
          <a:bodyPr wrap="square" lIns="0" tIns="0" rIns="0" bIns="0">
            <a:spAutoFit/>
          </a:bodyPr>
          <a:lstStyle/>
          <a:p>
            <a:pPr algn="l">
              <a:lnSpc>
                <a:spcPct val="110000"/>
              </a:lnSpc>
              <a:spcAft>
                <a:spcPts val="0"/>
              </a:spcAft>
            </a:pPr>
            <a:r>
              <a:rPr sz="1050" b="1">
                <a:solidFill>
                  <a:srgbClr val="4338CA"/>
                </a:solidFill>
                <a:latin typeface="Menlo"/>
              </a:rPr>
              <a:t>FLYWAY_USER_PROD</a:t>
            </a:r>
          </a:p>
        </p:txBody>
      </p:sp>
      <p:sp>
        <p:nvSpPr>
          <p:cNvPr id="28" name="TextBox 27"/>
          <p:cNvSpPr txBox="1"/>
          <p:nvPr/>
        </p:nvSpPr>
        <p:spPr>
          <a:xfrm>
            <a:off x="4023360" y="4123944"/>
            <a:ext cx="6035040" cy="201168"/>
          </a:xfrm>
          <a:prstGeom prst="rect">
            <a:avLst/>
          </a:prstGeom>
          <a:noFill/>
        </p:spPr>
        <p:txBody>
          <a:bodyPr wrap="square" lIns="0" tIns="0" rIns="0" bIns="0">
            <a:spAutoFit/>
          </a:bodyPr>
          <a:lstStyle/>
          <a:p>
            <a:pPr algn="l">
              <a:lnSpc>
                <a:spcPct val="110000"/>
              </a:lnSpc>
              <a:spcAft>
                <a:spcPts val="0"/>
              </a:spcAft>
            </a:pPr>
            <a:r>
              <a:rPr sz="1050" b="0">
                <a:solidFill>
                  <a:srgbClr val="6E747E"/>
                </a:solidFill>
                <a:latin typeface="Menlo"/>
              </a:rPr>
              <a:t>usuario del branch main</a:t>
            </a:r>
          </a:p>
        </p:txBody>
      </p:sp>
      <p:sp>
        <p:nvSpPr>
          <p:cNvPr id="29" name="TextBox 28"/>
          <p:cNvSpPr txBox="1"/>
          <p:nvPr/>
        </p:nvSpPr>
        <p:spPr>
          <a:xfrm>
            <a:off x="10241280" y="4133088"/>
            <a:ext cx="1097280" cy="201168"/>
          </a:xfrm>
          <a:prstGeom prst="rect">
            <a:avLst/>
          </a:prstGeom>
          <a:noFill/>
        </p:spPr>
        <p:txBody>
          <a:bodyPr wrap="square" lIns="0" tIns="0" rIns="0" bIns="0">
            <a:spAutoFit/>
          </a:bodyPr>
          <a:lstStyle/>
          <a:p>
            <a:pPr algn="l">
              <a:lnSpc>
                <a:spcPct val="110000"/>
              </a:lnSpc>
              <a:spcAft>
                <a:spcPts val="0"/>
              </a:spcAft>
            </a:pPr>
            <a:r>
              <a:rPr sz="1050" b="1">
                <a:solidFill>
                  <a:srgbClr val="157F4C"/>
                </a:solidFill>
                <a:latin typeface="Helvetica Neue"/>
              </a:rPr>
              <a:t>prod</a:t>
            </a:r>
          </a:p>
        </p:txBody>
      </p:sp>
      <p:sp>
        <p:nvSpPr>
          <p:cNvPr id="30" name="TextBox 29"/>
          <p:cNvSpPr txBox="1"/>
          <p:nvPr/>
        </p:nvSpPr>
        <p:spPr>
          <a:xfrm>
            <a:off x="868680" y="4507992"/>
            <a:ext cx="3108960" cy="201168"/>
          </a:xfrm>
          <a:prstGeom prst="rect">
            <a:avLst/>
          </a:prstGeom>
          <a:noFill/>
        </p:spPr>
        <p:txBody>
          <a:bodyPr wrap="square" lIns="0" tIns="0" rIns="0" bIns="0">
            <a:spAutoFit/>
          </a:bodyPr>
          <a:lstStyle/>
          <a:p>
            <a:pPr algn="l">
              <a:lnSpc>
                <a:spcPct val="110000"/>
              </a:lnSpc>
              <a:spcAft>
                <a:spcPts val="0"/>
              </a:spcAft>
            </a:pPr>
            <a:r>
              <a:rPr sz="1050" b="1">
                <a:solidFill>
                  <a:srgbClr val="4338CA"/>
                </a:solidFill>
                <a:latin typeface="Menlo"/>
              </a:rPr>
              <a:t>FLYWAY_PASSWORD_PROD</a:t>
            </a:r>
          </a:p>
        </p:txBody>
      </p:sp>
      <p:sp>
        <p:nvSpPr>
          <p:cNvPr id="31" name="TextBox 30"/>
          <p:cNvSpPr txBox="1"/>
          <p:nvPr/>
        </p:nvSpPr>
        <p:spPr>
          <a:xfrm>
            <a:off x="4023360" y="4507992"/>
            <a:ext cx="6035040" cy="201168"/>
          </a:xfrm>
          <a:prstGeom prst="rect">
            <a:avLst/>
          </a:prstGeom>
          <a:noFill/>
        </p:spPr>
        <p:txBody>
          <a:bodyPr wrap="square" lIns="0" tIns="0" rIns="0" bIns="0">
            <a:spAutoFit/>
          </a:bodyPr>
          <a:lstStyle/>
          <a:p>
            <a:pPr algn="l">
              <a:lnSpc>
                <a:spcPct val="110000"/>
              </a:lnSpc>
              <a:spcAft>
                <a:spcPts val="0"/>
              </a:spcAft>
            </a:pPr>
            <a:r>
              <a:rPr sz="1050" b="0">
                <a:solidFill>
                  <a:srgbClr val="6E747E"/>
                </a:solidFill>
                <a:latin typeface="Menlo"/>
              </a:rPr>
              <a:t>contraseña del branch main</a:t>
            </a:r>
          </a:p>
        </p:txBody>
      </p:sp>
      <p:sp>
        <p:nvSpPr>
          <p:cNvPr id="32" name="TextBox 31"/>
          <p:cNvSpPr txBox="1"/>
          <p:nvPr/>
        </p:nvSpPr>
        <p:spPr>
          <a:xfrm>
            <a:off x="10241280" y="4517136"/>
            <a:ext cx="1097280" cy="201168"/>
          </a:xfrm>
          <a:prstGeom prst="rect">
            <a:avLst/>
          </a:prstGeom>
          <a:noFill/>
        </p:spPr>
        <p:txBody>
          <a:bodyPr wrap="square" lIns="0" tIns="0" rIns="0" bIns="0">
            <a:spAutoFit/>
          </a:bodyPr>
          <a:lstStyle/>
          <a:p>
            <a:pPr algn="l">
              <a:lnSpc>
                <a:spcPct val="110000"/>
              </a:lnSpc>
              <a:spcAft>
                <a:spcPts val="0"/>
              </a:spcAft>
            </a:pPr>
            <a:r>
              <a:rPr sz="1050" b="1">
                <a:solidFill>
                  <a:srgbClr val="157F4C"/>
                </a:solidFill>
                <a:latin typeface="Helvetica Neue"/>
              </a:rPr>
              <a:t>prod</a:t>
            </a:r>
          </a:p>
        </p:txBody>
      </p:sp>
      <p:sp>
        <p:nvSpPr>
          <p:cNvPr id="33" name="Rectangle 32"/>
          <p:cNvSpPr/>
          <p:nvPr/>
        </p:nvSpPr>
        <p:spPr>
          <a:xfrm>
            <a:off x="731520" y="5001768"/>
            <a:ext cx="5230368" cy="1188720"/>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ectangle 33"/>
          <p:cNvSpPr/>
          <p:nvPr/>
        </p:nvSpPr>
        <p:spPr>
          <a:xfrm>
            <a:off x="731520" y="5001768"/>
            <a:ext cx="45720" cy="118872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1005840" y="5239512"/>
            <a:ext cx="4727448" cy="274320"/>
          </a:xfrm>
          <a:prstGeom prst="rect">
            <a:avLst/>
          </a:prstGeom>
          <a:noFill/>
        </p:spPr>
        <p:txBody>
          <a:bodyPr wrap="square" lIns="0" tIns="0" rIns="0" bIns="0">
            <a:spAutoFit/>
          </a:bodyPr>
          <a:lstStyle/>
          <a:p>
            <a:pPr algn="l">
              <a:lnSpc>
                <a:spcPct val="110000"/>
              </a:lnSpc>
              <a:spcAft>
                <a:spcPts val="0"/>
              </a:spcAft>
            </a:pPr>
            <a:r>
              <a:rPr sz="1300" b="1">
                <a:solidFill>
                  <a:srgbClr val="21252D"/>
                </a:solidFill>
                <a:latin typeface="Helvetica Neue"/>
              </a:rPr>
              <a:t>.gitignore desde el primer commit</a:t>
            </a:r>
          </a:p>
        </p:txBody>
      </p:sp>
      <p:sp>
        <p:nvSpPr>
          <p:cNvPr id="36" name="TextBox 35"/>
          <p:cNvSpPr txBox="1"/>
          <p:nvPr/>
        </p:nvSpPr>
        <p:spPr>
          <a:xfrm>
            <a:off x="1005840" y="5572353"/>
            <a:ext cx="4727448" cy="435255"/>
          </a:xfrm>
          <a:prstGeom prst="rect">
            <a:avLst/>
          </a:prstGeom>
          <a:noFill/>
        </p:spPr>
        <p:txBody>
          <a:bodyPr wrap="square" lIns="0" tIns="0" rIns="0" bIns="0">
            <a:spAutoFit/>
          </a:bodyPr>
          <a:lstStyle/>
          <a:p>
            <a:pPr algn="l">
              <a:lnSpc>
                <a:spcPct val="132000"/>
              </a:lnSpc>
              <a:spcAft>
                <a:spcPts val="500"/>
              </a:spcAft>
            </a:pPr>
            <a:r>
              <a:rPr sz="1100" b="0">
                <a:solidFill>
                  <a:srgbClr val="6E747E"/>
                </a:solidFill>
                <a:latin typeface="Helvetica Neue"/>
              </a:rPr>
              <a:t>Cubre flyway.conf, .env y variantes. El repo versiona flyway.conf.example con placeholders, nunca el archivo real.</a:t>
            </a:r>
          </a:p>
        </p:txBody>
      </p:sp>
      <p:sp>
        <p:nvSpPr>
          <p:cNvPr id="37" name="Rectangle 36"/>
          <p:cNvSpPr/>
          <p:nvPr/>
        </p:nvSpPr>
        <p:spPr>
          <a:xfrm>
            <a:off x="6199632" y="5001768"/>
            <a:ext cx="5230368" cy="1188720"/>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Rectangle 37"/>
          <p:cNvSpPr/>
          <p:nvPr/>
        </p:nvSpPr>
        <p:spPr>
          <a:xfrm>
            <a:off x="6199632" y="5001768"/>
            <a:ext cx="45720" cy="118872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473952" y="5239512"/>
            <a:ext cx="4727448" cy="274320"/>
          </a:xfrm>
          <a:prstGeom prst="rect">
            <a:avLst/>
          </a:prstGeom>
          <a:noFill/>
        </p:spPr>
        <p:txBody>
          <a:bodyPr wrap="square" lIns="0" tIns="0" rIns="0" bIns="0">
            <a:spAutoFit/>
          </a:bodyPr>
          <a:lstStyle/>
          <a:p>
            <a:pPr algn="l">
              <a:lnSpc>
                <a:spcPct val="110000"/>
              </a:lnSpc>
              <a:spcAft>
                <a:spcPts val="0"/>
              </a:spcAft>
            </a:pPr>
            <a:r>
              <a:rPr sz="1300" b="1">
                <a:solidFill>
                  <a:srgbClr val="21252D"/>
                </a:solidFill>
                <a:latin typeface="Helvetica Neue"/>
              </a:rPr>
              <a:t>El workflow elige el secreto, no la persona</a:t>
            </a:r>
          </a:p>
        </p:txBody>
      </p:sp>
      <p:sp>
        <p:nvSpPr>
          <p:cNvPr id="40" name="TextBox 39"/>
          <p:cNvSpPr txBox="1"/>
          <p:nvPr/>
        </p:nvSpPr>
        <p:spPr>
          <a:xfrm>
            <a:off x="6473952" y="5572353"/>
            <a:ext cx="4727448" cy="435255"/>
          </a:xfrm>
          <a:prstGeom prst="rect">
            <a:avLst/>
          </a:prstGeom>
          <a:noFill/>
        </p:spPr>
        <p:txBody>
          <a:bodyPr wrap="square" lIns="0" tIns="0" rIns="0" bIns="0">
            <a:spAutoFit/>
          </a:bodyPr>
          <a:lstStyle/>
          <a:p>
            <a:pPr algn="l">
              <a:lnSpc>
                <a:spcPct val="132000"/>
              </a:lnSpc>
              <a:spcAft>
                <a:spcPts val="500"/>
              </a:spcAft>
            </a:pPr>
            <a:r>
              <a:rPr sz="1100" b="0">
                <a:solidFill>
                  <a:srgbClr val="6E747E"/>
                </a:solidFill>
                <a:latin typeface="Helvetica Neue"/>
              </a:rPr>
              <a:t>Una expresión en el step decide entre el juego DEV y el PROD según el evento. Nadie copia connection strings a mano.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8F6"/>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31520" y="475488"/>
            <a:ext cx="10728655" cy="228600"/>
          </a:xfrm>
          <a:prstGeom prst="rect">
            <a:avLst/>
          </a:prstGeom>
          <a:noFill/>
        </p:spPr>
        <p:txBody>
          <a:bodyPr wrap="square" lIns="0" tIns="0" rIns="0" bIns="0">
            <a:spAutoFit/>
          </a:bodyPr>
          <a:lstStyle/>
          <a:p>
            <a:pPr algn="l">
              <a:lnSpc>
                <a:spcPct val="110000"/>
              </a:lnSpc>
              <a:spcAft>
                <a:spcPts val="0"/>
              </a:spcAft>
            </a:pPr>
            <a:r>
              <a:rPr sz="1050" b="1">
                <a:solidFill>
                  <a:srgbClr val="4338CA"/>
                </a:solidFill>
                <a:latin typeface="Helvetica Neue"/>
              </a:rPr>
              <a:t>TRADE-OFFS</a:t>
            </a:r>
          </a:p>
        </p:txBody>
      </p:sp>
      <p:sp>
        <p:nvSpPr>
          <p:cNvPr id="4" name="TextBox 3"/>
          <p:cNvSpPr txBox="1"/>
          <p:nvPr/>
        </p:nvSpPr>
        <p:spPr>
          <a:xfrm>
            <a:off x="731520" y="749808"/>
            <a:ext cx="10728655" cy="548640"/>
          </a:xfrm>
          <a:prstGeom prst="rect">
            <a:avLst/>
          </a:prstGeom>
          <a:noFill/>
        </p:spPr>
        <p:txBody>
          <a:bodyPr wrap="square" lIns="0" tIns="0" rIns="0" bIns="0">
            <a:spAutoFit/>
          </a:bodyPr>
          <a:lstStyle/>
          <a:p>
            <a:pPr algn="l">
              <a:lnSpc>
                <a:spcPct val="110000"/>
              </a:lnSpc>
              <a:spcAft>
                <a:spcPts val="0"/>
              </a:spcAft>
            </a:pPr>
            <a:r>
              <a:rPr sz="3100" b="1">
                <a:solidFill>
                  <a:srgbClr val="21252D"/>
                </a:solidFill>
                <a:latin typeface="Helvetica Neue"/>
              </a:rPr>
              <a:t>Decisión técnica y alternativa descartada</a:t>
            </a:r>
          </a:p>
        </p:txBody>
      </p:sp>
      <p:sp>
        <p:nvSpPr>
          <p:cNvPr id="5" name="TextBox 4"/>
          <p:cNvSpPr txBox="1"/>
          <p:nvPr/>
        </p:nvSpPr>
        <p:spPr>
          <a:xfrm>
            <a:off x="10362895" y="457200"/>
            <a:ext cx="1097280" cy="365760"/>
          </a:xfrm>
          <a:prstGeom prst="rect">
            <a:avLst/>
          </a:prstGeom>
          <a:noFill/>
        </p:spPr>
        <p:txBody>
          <a:bodyPr wrap="square" lIns="0" tIns="0" rIns="0" bIns="0">
            <a:spAutoFit/>
          </a:bodyPr>
          <a:lstStyle/>
          <a:p>
            <a:pPr algn="r">
              <a:lnSpc>
                <a:spcPct val="110000"/>
              </a:lnSpc>
              <a:spcAft>
                <a:spcPts val="0"/>
              </a:spcAft>
            </a:pPr>
            <a:r>
              <a:rPr sz="1300" b="1">
                <a:solidFill>
                  <a:srgbClr val="E3E2DC"/>
                </a:solidFill>
                <a:latin typeface="Helvetica Neue"/>
              </a:rPr>
              <a:t>12</a:t>
            </a:r>
          </a:p>
        </p:txBody>
      </p:sp>
      <p:sp>
        <p:nvSpPr>
          <p:cNvPr id="6" name="Rectangle 5"/>
          <p:cNvSpPr/>
          <p:nvPr/>
        </p:nvSpPr>
        <p:spPr>
          <a:xfrm>
            <a:off x="731520" y="1417320"/>
            <a:ext cx="10728655" cy="11430"/>
          </a:xfrm>
          <a:prstGeom prst="rect">
            <a:avLst/>
          </a:prstGeom>
          <a:solidFill>
            <a:srgbClr val="E3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31520" y="6355080"/>
            <a:ext cx="10728655" cy="228600"/>
          </a:xfrm>
          <a:prstGeom prst="rect">
            <a:avLst/>
          </a:prstGeom>
          <a:noFill/>
        </p:spPr>
        <p:txBody>
          <a:bodyPr wrap="square" lIns="0" tIns="0" rIns="0" bIns="0">
            <a:spAutoFit/>
          </a:bodyPr>
          <a:lstStyle/>
          <a:p>
            <a:pPr algn="l">
              <a:lnSpc>
                <a:spcPct val="110000"/>
              </a:lnSpc>
              <a:spcAft>
                <a:spcPts val="0"/>
              </a:spcAft>
            </a:pPr>
            <a:r>
              <a:rPr sz="950" b="0">
                <a:solidFill>
                  <a:srgbClr val="E3E2DC"/>
                </a:solidFill>
                <a:latin typeface="Helvetica Neue"/>
              </a:rPr>
              <a:t>CI/CD en Base de Datos  ·  SI6010-5979  ·  Torneos deportivos</a:t>
            </a:r>
          </a:p>
        </p:txBody>
      </p:sp>
      <p:sp>
        <p:nvSpPr>
          <p:cNvPr id="8" name="Rectangle 7"/>
          <p:cNvSpPr/>
          <p:nvPr/>
        </p:nvSpPr>
        <p:spPr>
          <a:xfrm>
            <a:off x="731520" y="1691640"/>
            <a:ext cx="5230368" cy="2926080"/>
          </a:xfrm>
          <a:prstGeom prst="rect">
            <a:avLst/>
          </a:prstGeom>
          <a:solidFill>
            <a:srgbClr val="FFFFFF"/>
          </a:solidFill>
          <a:ln w="12700">
            <a:solidFill>
              <a:srgbClr val="157F4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731520" y="1691640"/>
            <a:ext cx="5230368" cy="45720"/>
          </a:xfrm>
          <a:prstGeom prst="rect">
            <a:avLst/>
          </a:prstGeom>
          <a:solidFill>
            <a:srgbClr val="157F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05840" y="1901952"/>
            <a:ext cx="4681728" cy="274320"/>
          </a:xfrm>
          <a:prstGeom prst="rect">
            <a:avLst/>
          </a:prstGeom>
          <a:noFill/>
        </p:spPr>
        <p:txBody>
          <a:bodyPr wrap="square" lIns="0" tIns="0" rIns="0" bIns="0">
            <a:spAutoFit/>
          </a:bodyPr>
          <a:lstStyle/>
          <a:p>
            <a:pPr algn="l">
              <a:lnSpc>
                <a:spcPct val="110000"/>
              </a:lnSpc>
              <a:spcAft>
                <a:spcPts val="0"/>
              </a:spcAft>
            </a:pPr>
            <a:r>
              <a:rPr sz="1400" b="1">
                <a:solidFill>
                  <a:srgbClr val="157F4C"/>
                </a:solidFill>
                <a:latin typeface="Helvetica Neue"/>
              </a:rPr>
              <a:t>✓   Nuestra elección</a:t>
            </a:r>
          </a:p>
        </p:txBody>
      </p:sp>
      <p:sp>
        <p:nvSpPr>
          <p:cNvPr id="11" name="TextBox 10"/>
          <p:cNvSpPr txBox="1"/>
          <p:nvPr/>
        </p:nvSpPr>
        <p:spPr>
          <a:xfrm>
            <a:off x="1005840" y="2267712"/>
            <a:ext cx="4681728" cy="320040"/>
          </a:xfrm>
          <a:prstGeom prst="rect">
            <a:avLst/>
          </a:prstGeom>
          <a:noFill/>
        </p:spPr>
        <p:txBody>
          <a:bodyPr wrap="square" lIns="0" tIns="0" rIns="0" bIns="0">
            <a:spAutoFit/>
          </a:bodyPr>
          <a:lstStyle/>
          <a:p>
            <a:pPr algn="l">
              <a:lnSpc>
                <a:spcPct val="125000"/>
              </a:lnSpc>
              <a:spcAft>
                <a:spcPts val="0"/>
              </a:spcAft>
            </a:pPr>
            <a:r>
              <a:rPr sz="1500" b="1">
                <a:solidFill>
                  <a:srgbClr val="21252D"/>
                </a:solidFill>
                <a:latin typeface="Helvetica Neue"/>
              </a:rPr>
              <a:t>match_scores como tabla aparte, 1:1 con matches</a:t>
            </a:r>
          </a:p>
        </p:txBody>
      </p:sp>
      <p:sp>
        <p:nvSpPr>
          <p:cNvPr id="12" name="TextBox 11"/>
          <p:cNvSpPr txBox="1"/>
          <p:nvPr/>
        </p:nvSpPr>
        <p:spPr>
          <a:xfrm>
            <a:off x="1005840" y="2880360"/>
            <a:ext cx="4681728" cy="1554480"/>
          </a:xfrm>
          <a:prstGeom prst="rect">
            <a:avLst/>
          </a:prstGeom>
          <a:noFill/>
        </p:spPr>
        <p:txBody>
          <a:bodyPr wrap="square" lIns="0" tIns="0" rIns="0" bIns="0">
            <a:spAutoFit/>
          </a:bodyPr>
          <a:lstStyle/>
          <a:p>
            <a:pPr algn="l">
              <a:lnSpc>
                <a:spcPct val="135000"/>
              </a:lnSpc>
              <a:spcAft>
                <a:spcPts val="600"/>
              </a:spcAft>
            </a:pPr>
            <a:r>
              <a:rPr sz="1100" b="0">
                <a:solidFill>
                  <a:srgbClr val="6E747E"/>
                </a:solidFill>
                <a:latin typeface="Helvetica Neue"/>
              </a:rPr>
              <a:t>El marcador solo existe cuando el partido termina — una fila que aparece, no columnas que dejan de ser NULL.</a:t>
            </a:r>
          </a:p>
          <a:p>
            <a:pPr algn="l">
              <a:lnSpc>
                <a:spcPct val="135000"/>
              </a:lnSpc>
              <a:spcAft>
                <a:spcPts val="600"/>
              </a:spcAft>
            </a:pPr>
            <a:r>
              <a:rPr sz="1100" b="0">
                <a:solidFill>
                  <a:srgbClr val="6E747E"/>
                </a:solidFill>
                <a:latin typeface="Helvetica Neue"/>
              </a:rPr>
              <a:t>UNIQUE (match_id) garantiza el 1:1 en el esquema, no en el código de la aplicación.</a:t>
            </a:r>
          </a:p>
          <a:p>
            <a:pPr algn="l">
              <a:lnSpc>
                <a:spcPct val="135000"/>
              </a:lnSpc>
              <a:spcAft>
                <a:spcPts val="600"/>
              </a:spcAft>
            </a:pPr>
            <a:r>
              <a:rPr sz="1100" b="0">
                <a:solidFill>
                  <a:srgbClr val="6E747E"/>
                </a:solidFill>
                <a:latin typeface="Helvetica Neue"/>
              </a:rPr>
              <a:t>recorded_at deja rastro de cuándo se cargó el resultado.</a:t>
            </a:r>
          </a:p>
        </p:txBody>
      </p:sp>
      <p:sp>
        <p:nvSpPr>
          <p:cNvPr id="13" name="Rectangle 12"/>
          <p:cNvSpPr/>
          <p:nvPr/>
        </p:nvSpPr>
        <p:spPr>
          <a:xfrm>
            <a:off x="6199632" y="1691640"/>
            <a:ext cx="5230368" cy="2926080"/>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6199632" y="1691640"/>
            <a:ext cx="5230368" cy="45720"/>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473952" y="1901952"/>
            <a:ext cx="4681728" cy="274320"/>
          </a:xfrm>
          <a:prstGeom prst="rect">
            <a:avLst/>
          </a:prstGeom>
          <a:noFill/>
        </p:spPr>
        <p:txBody>
          <a:bodyPr wrap="square" lIns="0" tIns="0" rIns="0" bIns="0">
            <a:spAutoFit/>
          </a:bodyPr>
          <a:lstStyle/>
          <a:p>
            <a:pPr algn="l">
              <a:lnSpc>
                <a:spcPct val="110000"/>
              </a:lnSpc>
              <a:spcAft>
                <a:spcPts val="0"/>
              </a:spcAft>
            </a:pPr>
            <a:r>
              <a:rPr sz="1400" b="1">
                <a:solidFill>
                  <a:srgbClr val="B42318"/>
                </a:solidFill>
                <a:latin typeface="Helvetica Neue"/>
              </a:rPr>
              <a:t>✗   Alternativa descartada</a:t>
            </a:r>
          </a:p>
        </p:txBody>
      </p:sp>
      <p:sp>
        <p:nvSpPr>
          <p:cNvPr id="16" name="TextBox 15"/>
          <p:cNvSpPr txBox="1"/>
          <p:nvPr/>
        </p:nvSpPr>
        <p:spPr>
          <a:xfrm>
            <a:off x="6473952" y="2267712"/>
            <a:ext cx="4681728" cy="320040"/>
          </a:xfrm>
          <a:prstGeom prst="rect">
            <a:avLst/>
          </a:prstGeom>
          <a:noFill/>
        </p:spPr>
        <p:txBody>
          <a:bodyPr wrap="square" lIns="0" tIns="0" rIns="0" bIns="0">
            <a:spAutoFit/>
          </a:bodyPr>
          <a:lstStyle/>
          <a:p>
            <a:pPr algn="l">
              <a:lnSpc>
                <a:spcPct val="125000"/>
              </a:lnSpc>
              <a:spcAft>
                <a:spcPts val="0"/>
              </a:spcAft>
            </a:pPr>
            <a:r>
              <a:rPr sz="1500" b="1">
                <a:solidFill>
                  <a:srgbClr val="21252D"/>
                </a:solidFill>
                <a:latin typeface="Helvetica Neue"/>
              </a:rPr>
              <a:t>home_score y away_score como columnas nullable en matches</a:t>
            </a:r>
          </a:p>
        </p:txBody>
      </p:sp>
      <p:sp>
        <p:nvSpPr>
          <p:cNvPr id="17" name="TextBox 16"/>
          <p:cNvSpPr txBox="1"/>
          <p:nvPr/>
        </p:nvSpPr>
        <p:spPr>
          <a:xfrm>
            <a:off x="6473952" y="2880360"/>
            <a:ext cx="4681728" cy="1554480"/>
          </a:xfrm>
          <a:prstGeom prst="rect">
            <a:avLst/>
          </a:prstGeom>
          <a:noFill/>
        </p:spPr>
        <p:txBody>
          <a:bodyPr wrap="square" lIns="0" tIns="0" rIns="0" bIns="0">
            <a:spAutoFit/>
          </a:bodyPr>
          <a:lstStyle/>
          <a:p>
            <a:pPr algn="l">
              <a:lnSpc>
                <a:spcPct val="135000"/>
              </a:lnSpc>
              <a:spcAft>
                <a:spcPts val="600"/>
              </a:spcAft>
            </a:pPr>
            <a:r>
              <a:rPr sz="1100" b="0">
                <a:solidFill>
                  <a:srgbClr val="6E747E"/>
                </a:solidFill>
                <a:latin typeface="Helvetica Neue"/>
              </a:rPr>
              <a:t>Menos joins, pero NULL pasa a significar dos cosas: 'aún no se juega' y 'se jugó y nadie cargó el dato'.</a:t>
            </a:r>
          </a:p>
          <a:p>
            <a:pPr algn="l">
              <a:lnSpc>
                <a:spcPct val="135000"/>
              </a:lnSpc>
              <a:spcAft>
                <a:spcPts val="600"/>
              </a:spcAft>
            </a:pPr>
            <a:r>
              <a:rPr sz="1100" b="0">
                <a:solidFill>
                  <a:srgbClr val="6E747E"/>
                </a:solidFill>
                <a:latin typeface="Helvetica Neue"/>
              </a:rPr>
              <a:t>Imposible expresar en el esquema que un partido finalizado debe tener marcador.</a:t>
            </a:r>
          </a:p>
          <a:p>
            <a:pPr algn="l">
              <a:lnSpc>
                <a:spcPct val="135000"/>
              </a:lnSpc>
              <a:spcAft>
                <a:spcPts val="600"/>
              </a:spcAft>
            </a:pPr>
            <a:r>
              <a:rPr sz="1100" b="0">
                <a:solidFill>
                  <a:srgbClr val="6E747E"/>
                </a:solidFill>
                <a:latin typeface="Helvetica Neue"/>
              </a:rPr>
              <a:t>La vista de clasificación tendría que adivinar el estado a partir de los NULL.</a:t>
            </a:r>
          </a:p>
        </p:txBody>
      </p:sp>
      <p:sp>
        <p:nvSpPr>
          <p:cNvPr id="18" name="Rectangle 17"/>
          <p:cNvSpPr/>
          <p:nvPr/>
        </p:nvSpPr>
        <p:spPr>
          <a:xfrm>
            <a:off x="731520" y="4828032"/>
            <a:ext cx="10698480" cy="1261872"/>
          </a:xfrm>
          <a:prstGeom prst="rect">
            <a:avLst/>
          </a:prstGeom>
          <a:solidFill>
            <a:srgbClr val="EC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024128" y="5010912"/>
            <a:ext cx="10149840" cy="868680"/>
          </a:xfrm>
          <a:prstGeom prst="rect">
            <a:avLst/>
          </a:prstGeom>
          <a:noFill/>
        </p:spPr>
        <p:txBody>
          <a:bodyPr wrap="square" lIns="0" tIns="0" rIns="0" bIns="0">
            <a:spAutoFit/>
          </a:bodyPr>
          <a:lstStyle/>
          <a:p>
            <a:pPr algn="l">
              <a:lnSpc>
                <a:spcPct val="140000"/>
              </a:lnSpc>
              <a:spcAft>
                <a:spcPts val="0"/>
              </a:spcAft>
            </a:pPr>
            <a:r>
              <a:rPr sz="1150" b="1">
                <a:solidFill>
                  <a:srgbClr val="4338CA"/>
                </a:solidFill>
                <a:latin typeface="Helvetica Neue"/>
              </a:rPr>
              <a:t>Segunda decisión — cómo instalamos Flyway en el runner</a:t>
            </a:r>
          </a:p>
          <a:p>
            <a:pPr algn="l">
              <a:lnSpc>
                <a:spcPct val="140000"/>
              </a:lnSpc>
              <a:spcAft>
                <a:spcPts val="0"/>
              </a:spcAft>
            </a:pPr>
            <a:r>
              <a:rPr sz="1150" b="0">
                <a:solidFill>
                  <a:srgbClr val="21252D"/>
                </a:solidFill>
                <a:latin typeface="Helvetica Neue"/>
              </a:rPr>
              <a:t>Elegimos descargar la CLI Community con curl y la versión fijada en </a:t>
            </a:r>
            <a:r>
              <a:rPr sz="1100" b="0">
                <a:solidFill>
                  <a:srgbClr val="4338CA"/>
                </a:solidFill>
                <a:latin typeface="Menlo"/>
              </a:rPr>
              <a:t>FLYWAY_VERSION: '10.20.1'</a:t>
            </a:r>
            <a:r>
              <a:rPr sz="1150" b="0">
                <a:solidFill>
                  <a:srgbClr val="21252D"/>
                </a:solidFill>
                <a:latin typeface="Helvetica Neue"/>
              </a:rPr>
              <a:t>. Descartamos una acción de terceros como joshuaavalon/flyway-action: añade un mantenedor externo a la cadena de suministro y deja la versión de Flyway fuera de nuestro control. El costo de nuestra opción son ~7 segundos de descarga por run — barato a cambio de un pipeline reproducible.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8F6"/>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31520" y="475488"/>
            <a:ext cx="10728655" cy="228600"/>
          </a:xfrm>
          <a:prstGeom prst="rect">
            <a:avLst/>
          </a:prstGeom>
          <a:noFill/>
        </p:spPr>
        <p:txBody>
          <a:bodyPr wrap="square" lIns="0" tIns="0" rIns="0" bIns="0">
            <a:spAutoFit/>
          </a:bodyPr>
          <a:lstStyle/>
          <a:p>
            <a:pPr algn="l">
              <a:lnSpc>
                <a:spcPct val="110000"/>
              </a:lnSpc>
              <a:spcAft>
                <a:spcPts val="0"/>
              </a:spcAft>
            </a:pPr>
            <a:r>
              <a:rPr sz="1050" b="1">
                <a:solidFill>
                  <a:srgbClr val="4338CA"/>
                </a:solidFill>
                <a:latin typeface="Helvetica Neue"/>
              </a:rPr>
              <a:t>COLABORACIÓN</a:t>
            </a:r>
          </a:p>
        </p:txBody>
      </p:sp>
      <p:sp>
        <p:nvSpPr>
          <p:cNvPr id="4" name="TextBox 3"/>
          <p:cNvSpPr txBox="1"/>
          <p:nvPr/>
        </p:nvSpPr>
        <p:spPr>
          <a:xfrm>
            <a:off x="731520" y="749808"/>
            <a:ext cx="10728655" cy="548640"/>
          </a:xfrm>
          <a:prstGeom prst="rect">
            <a:avLst/>
          </a:prstGeom>
          <a:noFill/>
        </p:spPr>
        <p:txBody>
          <a:bodyPr wrap="square" lIns="0" tIns="0" rIns="0" bIns="0">
            <a:spAutoFit/>
          </a:bodyPr>
          <a:lstStyle/>
          <a:p>
            <a:pPr algn="l">
              <a:lnSpc>
                <a:spcPct val="110000"/>
              </a:lnSpc>
              <a:spcAft>
                <a:spcPts val="0"/>
              </a:spcAft>
            </a:pPr>
            <a:r>
              <a:rPr sz="3100" b="1">
                <a:solidFill>
                  <a:srgbClr val="21252D"/>
                </a:solidFill>
                <a:latin typeface="Helvetica Neue"/>
              </a:rPr>
              <a:t>División del trabajo</a:t>
            </a:r>
          </a:p>
        </p:txBody>
      </p:sp>
      <p:sp>
        <p:nvSpPr>
          <p:cNvPr id="5" name="TextBox 4"/>
          <p:cNvSpPr txBox="1"/>
          <p:nvPr/>
        </p:nvSpPr>
        <p:spPr>
          <a:xfrm>
            <a:off x="10362895" y="457200"/>
            <a:ext cx="1097280" cy="365760"/>
          </a:xfrm>
          <a:prstGeom prst="rect">
            <a:avLst/>
          </a:prstGeom>
          <a:noFill/>
        </p:spPr>
        <p:txBody>
          <a:bodyPr wrap="square" lIns="0" tIns="0" rIns="0" bIns="0">
            <a:spAutoFit/>
          </a:bodyPr>
          <a:lstStyle/>
          <a:p>
            <a:pPr algn="r">
              <a:lnSpc>
                <a:spcPct val="110000"/>
              </a:lnSpc>
              <a:spcAft>
                <a:spcPts val="0"/>
              </a:spcAft>
            </a:pPr>
            <a:r>
              <a:rPr sz="1300" b="1">
                <a:solidFill>
                  <a:srgbClr val="E3E2DC"/>
                </a:solidFill>
                <a:latin typeface="Helvetica Neue"/>
              </a:rPr>
              <a:t>13</a:t>
            </a:r>
          </a:p>
        </p:txBody>
      </p:sp>
      <p:sp>
        <p:nvSpPr>
          <p:cNvPr id="6" name="Rectangle 5"/>
          <p:cNvSpPr/>
          <p:nvPr/>
        </p:nvSpPr>
        <p:spPr>
          <a:xfrm>
            <a:off x="731520" y="1417320"/>
            <a:ext cx="10728655" cy="11430"/>
          </a:xfrm>
          <a:prstGeom prst="rect">
            <a:avLst/>
          </a:prstGeom>
          <a:solidFill>
            <a:srgbClr val="E3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31520" y="6355080"/>
            <a:ext cx="10728655" cy="228600"/>
          </a:xfrm>
          <a:prstGeom prst="rect">
            <a:avLst/>
          </a:prstGeom>
          <a:noFill/>
        </p:spPr>
        <p:txBody>
          <a:bodyPr wrap="square" lIns="0" tIns="0" rIns="0" bIns="0">
            <a:spAutoFit/>
          </a:bodyPr>
          <a:lstStyle/>
          <a:p>
            <a:pPr algn="l">
              <a:lnSpc>
                <a:spcPct val="110000"/>
              </a:lnSpc>
              <a:spcAft>
                <a:spcPts val="0"/>
              </a:spcAft>
            </a:pPr>
            <a:r>
              <a:rPr sz="950" b="0">
                <a:solidFill>
                  <a:srgbClr val="E3E2DC"/>
                </a:solidFill>
                <a:latin typeface="Helvetica Neue"/>
              </a:rPr>
              <a:t>CI/CD en Base de Datos  ·  SI6010-5979  ·  Torneos deportivos</a:t>
            </a:r>
          </a:p>
        </p:txBody>
      </p:sp>
      <p:sp>
        <p:nvSpPr>
          <p:cNvPr id="8" name="Rectangle 7"/>
          <p:cNvSpPr/>
          <p:nvPr/>
        </p:nvSpPr>
        <p:spPr>
          <a:xfrm>
            <a:off x="731520" y="1828800"/>
            <a:ext cx="3383280" cy="3017520"/>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024128" y="2121408"/>
            <a:ext cx="566928" cy="566928"/>
          </a:xfrm>
          <a:prstGeom prst="ellipse">
            <a:avLst/>
          </a:prstGeom>
          <a:solidFill>
            <a:srgbClr val="ECEA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a:solidFill>
                  <a:srgbClr val="4338CA"/>
                </a:solidFill>
                <a:latin typeface="Helvetica Neue"/>
              </a:rPr>
              <a:t>A</a:t>
            </a:r>
          </a:p>
        </p:txBody>
      </p:sp>
      <p:sp>
        <p:nvSpPr>
          <p:cNvPr id="10" name="TextBox 9"/>
          <p:cNvSpPr txBox="1"/>
          <p:nvPr/>
        </p:nvSpPr>
        <p:spPr>
          <a:xfrm>
            <a:off x="1024128" y="2852928"/>
            <a:ext cx="2834640" cy="274320"/>
          </a:xfrm>
          <a:prstGeom prst="rect">
            <a:avLst/>
          </a:prstGeom>
          <a:noFill/>
        </p:spPr>
        <p:txBody>
          <a:bodyPr wrap="square" lIns="0" tIns="0" rIns="0" bIns="0">
            <a:spAutoFit/>
          </a:bodyPr>
          <a:lstStyle/>
          <a:p>
            <a:pPr algn="l">
              <a:lnSpc>
                <a:spcPct val="110000"/>
              </a:lnSpc>
              <a:spcAft>
                <a:spcPts val="0"/>
              </a:spcAft>
            </a:pPr>
            <a:r>
              <a:rPr sz="1500" b="1">
                <a:solidFill>
                  <a:srgbClr val="21252D"/>
                </a:solidFill>
                <a:latin typeface="Helvetica Neue"/>
              </a:rPr>
              <a:t>Antonio Carmona</a:t>
            </a:r>
          </a:p>
        </p:txBody>
      </p:sp>
      <p:sp>
        <p:nvSpPr>
          <p:cNvPr id="11" name="TextBox 10"/>
          <p:cNvSpPr txBox="1"/>
          <p:nvPr/>
        </p:nvSpPr>
        <p:spPr>
          <a:xfrm>
            <a:off x="1024128" y="3145536"/>
            <a:ext cx="2834640" cy="228600"/>
          </a:xfrm>
          <a:prstGeom prst="rect">
            <a:avLst/>
          </a:prstGeom>
          <a:noFill/>
        </p:spPr>
        <p:txBody>
          <a:bodyPr wrap="square" lIns="0" tIns="0" rIns="0" bIns="0">
            <a:spAutoFit/>
          </a:bodyPr>
          <a:lstStyle/>
          <a:p>
            <a:pPr algn="l">
              <a:lnSpc>
                <a:spcPct val="110000"/>
              </a:lnSpc>
              <a:spcAft>
                <a:spcPts val="0"/>
              </a:spcAft>
            </a:pPr>
            <a:r>
              <a:rPr sz="1050" b="0">
                <a:solidFill>
                  <a:srgbClr val="4338CA"/>
                </a:solidFill>
                <a:latin typeface="Menlo"/>
              </a:rPr>
              <a:t>@acarmonag</a:t>
            </a:r>
          </a:p>
        </p:txBody>
      </p:sp>
      <p:sp>
        <p:nvSpPr>
          <p:cNvPr id="12" name="Rectangle 11"/>
          <p:cNvSpPr/>
          <p:nvPr/>
        </p:nvSpPr>
        <p:spPr>
          <a:xfrm>
            <a:off x="1024128" y="3456432"/>
            <a:ext cx="2798064" cy="11430"/>
          </a:xfrm>
          <a:prstGeom prst="rect">
            <a:avLst/>
          </a:prstGeom>
          <a:solidFill>
            <a:srgbClr val="E3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24128" y="3639312"/>
            <a:ext cx="2834640" cy="1097280"/>
          </a:xfrm>
          <a:prstGeom prst="rect">
            <a:avLst/>
          </a:prstGeom>
          <a:noFill/>
        </p:spPr>
        <p:txBody>
          <a:bodyPr wrap="square" lIns="0" tIns="0" rIns="0" bIns="0">
            <a:spAutoFit/>
          </a:bodyPr>
          <a:lstStyle/>
          <a:p>
            <a:pPr algn="l">
              <a:lnSpc>
                <a:spcPct val="150000"/>
              </a:lnSpc>
              <a:spcAft>
                <a:spcPts val="400"/>
              </a:spcAft>
            </a:pPr>
            <a:r>
              <a:rPr sz="1000" b="0">
                <a:solidFill>
                  <a:srgbClr val="6E747E"/>
                </a:solidFill>
                <a:latin typeface="Menlo"/>
              </a:rPr>
              <a:t>chore: init repo, .gitignore</a:t>
            </a:r>
          </a:p>
          <a:p>
            <a:pPr algn="l">
              <a:lnSpc>
                <a:spcPct val="150000"/>
              </a:lnSpc>
              <a:spcAft>
                <a:spcPts val="400"/>
              </a:spcAft>
            </a:pPr>
            <a:r>
              <a:rPr sz="1000" b="0">
                <a:solidFill>
                  <a:srgbClr val="6E747E"/>
                </a:solidFill>
                <a:latin typeface="Menlo"/>
              </a:rPr>
              <a:t>feat: cleanup + baseline torneo</a:t>
            </a:r>
          </a:p>
          <a:p>
            <a:pPr algn="l">
              <a:lnSpc>
                <a:spcPct val="150000"/>
              </a:lnSpc>
              <a:spcAft>
                <a:spcPts val="400"/>
              </a:spcAft>
            </a:pPr>
            <a:r>
              <a:rPr sz="1000" b="0">
                <a:solidFill>
                  <a:srgbClr val="6E747E"/>
                </a:solidFill>
                <a:latin typeface="Menlo"/>
              </a:rPr>
              <a:t>docs: README + dominio ER</a:t>
            </a:r>
          </a:p>
          <a:p>
            <a:pPr algn="l">
              <a:lnSpc>
                <a:spcPct val="150000"/>
              </a:lnSpc>
              <a:spcAft>
                <a:spcPts val="400"/>
              </a:spcAft>
            </a:pPr>
            <a:r>
              <a:rPr sz="1000" b="0">
                <a:solidFill>
                  <a:srgbClr val="6E747E"/>
                </a:solidFill>
                <a:latin typeface="Menlo"/>
              </a:rPr>
              <a:t>feat/fix: V20260806 referees</a:t>
            </a:r>
          </a:p>
        </p:txBody>
      </p:sp>
      <p:sp>
        <p:nvSpPr>
          <p:cNvPr id="14" name="Rectangle 13"/>
          <p:cNvSpPr/>
          <p:nvPr/>
        </p:nvSpPr>
        <p:spPr>
          <a:xfrm>
            <a:off x="4389120" y="1828800"/>
            <a:ext cx="3383280" cy="3017520"/>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4681728" y="2121408"/>
            <a:ext cx="566928" cy="566928"/>
          </a:xfrm>
          <a:prstGeom prst="ellipse">
            <a:avLst/>
          </a:prstGeom>
          <a:solidFill>
            <a:srgbClr val="ECEA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a:solidFill>
                  <a:srgbClr val="4338CA"/>
                </a:solidFill>
                <a:latin typeface="Helvetica Neue"/>
              </a:rPr>
              <a:t>M</a:t>
            </a:r>
          </a:p>
        </p:txBody>
      </p:sp>
      <p:sp>
        <p:nvSpPr>
          <p:cNvPr id="16" name="TextBox 15"/>
          <p:cNvSpPr txBox="1"/>
          <p:nvPr/>
        </p:nvSpPr>
        <p:spPr>
          <a:xfrm>
            <a:off x="4681728" y="2852928"/>
            <a:ext cx="2834640" cy="274320"/>
          </a:xfrm>
          <a:prstGeom prst="rect">
            <a:avLst/>
          </a:prstGeom>
          <a:noFill/>
        </p:spPr>
        <p:txBody>
          <a:bodyPr wrap="square" lIns="0" tIns="0" rIns="0" bIns="0">
            <a:spAutoFit/>
          </a:bodyPr>
          <a:lstStyle/>
          <a:p>
            <a:pPr algn="l">
              <a:lnSpc>
                <a:spcPct val="110000"/>
              </a:lnSpc>
              <a:spcAft>
                <a:spcPts val="0"/>
              </a:spcAft>
            </a:pPr>
            <a:r>
              <a:rPr sz="1500" b="1">
                <a:solidFill>
                  <a:srgbClr val="21252D"/>
                </a:solidFill>
                <a:latin typeface="Helvetica Neue"/>
              </a:rPr>
              <a:t>Miguel Quijano</a:t>
            </a:r>
          </a:p>
        </p:txBody>
      </p:sp>
      <p:sp>
        <p:nvSpPr>
          <p:cNvPr id="17" name="TextBox 16"/>
          <p:cNvSpPr txBox="1"/>
          <p:nvPr/>
        </p:nvSpPr>
        <p:spPr>
          <a:xfrm>
            <a:off x="4681728" y="3145536"/>
            <a:ext cx="2834640" cy="228600"/>
          </a:xfrm>
          <a:prstGeom prst="rect">
            <a:avLst/>
          </a:prstGeom>
          <a:noFill/>
        </p:spPr>
        <p:txBody>
          <a:bodyPr wrap="square" lIns="0" tIns="0" rIns="0" bIns="0">
            <a:spAutoFit/>
          </a:bodyPr>
          <a:lstStyle/>
          <a:p>
            <a:pPr algn="l">
              <a:lnSpc>
                <a:spcPct val="110000"/>
              </a:lnSpc>
              <a:spcAft>
                <a:spcPts val="0"/>
              </a:spcAft>
            </a:pPr>
            <a:r>
              <a:rPr sz="1050" b="0">
                <a:solidFill>
                  <a:srgbClr val="4338CA"/>
                </a:solidFill>
                <a:latin typeface="Menlo"/>
              </a:rPr>
              <a:t>@mquijanoj09</a:t>
            </a:r>
          </a:p>
        </p:txBody>
      </p:sp>
      <p:sp>
        <p:nvSpPr>
          <p:cNvPr id="18" name="Rectangle 17"/>
          <p:cNvSpPr/>
          <p:nvPr/>
        </p:nvSpPr>
        <p:spPr>
          <a:xfrm>
            <a:off x="4681728" y="3456432"/>
            <a:ext cx="2798064" cy="11430"/>
          </a:xfrm>
          <a:prstGeom prst="rect">
            <a:avLst/>
          </a:prstGeom>
          <a:solidFill>
            <a:srgbClr val="E3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4681728" y="3639312"/>
            <a:ext cx="2834640" cy="1097280"/>
          </a:xfrm>
          <a:prstGeom prst="rect">
            <a:avLst/>
          </a:prstGeom>
          <a:noFill/>
        </p:spPr>
        <p:txBody>
          <a:bodyPr wrap="square" lIns="0" tIns="0" rIns="0" bIns="0">
            <a:spAutoFit/>
          </a:bodyPr>
          <a:lstStyle/>
          <a:p>
            <a:pPr algn="l">
              <a:lnSpc>
                <a:spcPct val="150000"/>
              </a:lnSpc>
              <a:spcAft>
                <a:spcPts val="400"/>
              </a:spcAft>
            </a:pPr>
            <a:r>
              <a:rPr sz="1000" b="0">
                <a:solidFill>
                  <a:srgbClr val="6E747E"/>
                </a:solidFill>
                <a:latin typeface="Menlo"/>
              </a:rPr>
              <a:t>feat: V20260802 matches</a:t>
            </a:r>
          </a:p>
          <a:p>
            <a:pPr algn="l">
              <a:lnSpc>
                <a:spcPct val="150000"/>
              </a:lnSpc>
              <a:spcAft>
                <a:spcPts val="400"/>
              </a:spcAft>
            </a:pPr>
            <a:r>
              <a:rPr sz="1000" b="0">
                <a:solidFill>
                  <a:srgbClr val="6E747E"/>
                </a:solidFill>
                <a:latin typeface="Menlo"/>
              </a:rPr>
              <a:t>feat: V20260803 match_scores</a:t>
            </a:r>
          </a:p>
          <a:p>
            <a:pPr algn="l">
              <a:lnSpc>
                <a:spcPct val="150000"/>
              </a:lnSpc>
              <a:spcAft>
                <a:spcPts val="400"/>
              </a:spcAft>
            </a:pPr>
            <a:r>
              <a:rPr sz="1000" b="0">
                <a:solidFill>
                  <a:srgbClr val="6E747E"/>
                </a:solidFill>
                <a:latin typeface="Menlo"/>
              </a:rPr>
              <a:t>docs: modelo ER + slides</a:t>
            </a:r>
          </a:p>
        </p:txBody>
      </p:sp>
      <p:sp>
        <p:nvSpPr>
          <p:cNvPr id="20" name="Rectangle 19"/>
          <p:cNvSpPr/>
          <p:nvPr/>
        </p:nvSpPr>
        <p:spPr>
          <a:xfrm>
            <a:off x="8046720" y="1828800"/>
            <a:ext cx="3383280" cy="3017520"/>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8339328" y="2121408"/>
            <a:ext cx="566928" cy="566928"/>
          </a:xfrm>
          <a:prstGeom prst="ellipse">
            <a:avLst/>
          </a:prstGeom>
          <a:solidFill>
            <a:srgbClr val="ECEA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a:solidFill>
                  <a:srgbClr val="4338CA"/>
                </a:solidFill>
                <a:latin typeface="Helvetica Neue"/>
              </a:rPr>
              <a:t>An</a:t>
            </a:r>
          </a:p>
        </p:txBody>
      </p:sp>
      <p:sp>
        <p:nvSpPr>
          <p:cNvPr id="22" name="TextBox 21"/>
          <p:cNvSpPr txBox="1"/>
          <p:nvPr/>
        </p:nvSpPr>
        <p:spPr>
          <a:xfrm>
            <a:off x="8339328" y="2852928"/>
            <a:ext cx="2834640" cy="274320"/>
          </a:xfrm>
          <a:prstGeom prst="rect">
            <a:avLst/>
          </a:prstGeom>
          <a:noFill/>
        </p:spPr>
        <p:txBody>
          <a:bodyPr wrap="square" lIns="0" tIns="0" rIns="0" bIns="0">
            <a:spAutoFit/>
          </a:bodyPr>
          <a:lstStyle/>
          <a:p>
            <a:pPr algn="l">
              <a:lnSpc>
                <a:spcPct val="110000"/>
              </a:lnSpc>
              <a:spcAft>
                <a:spcPts val="0"/>
              </a:spcAft>
            </a:pPr>
            <a:r>
              <a:rPr sz="1500" b="1">
                <a:solidFill>
                  <a:srgbClr val="21252D"/>
                </a:solidFill>
                <a:latin typeface="Helvetica Neue"/>
              </a:rPr>
              <a:t>Andrés Prada</a:t>
            </a:r>
          </a:p>
        </p:txBody>
      </p:sp>
      <p:sp>
        <p:nvSpPr>
          <p:cNvPr id="23" name="TextBox 22"/>
          <p:cNvSpPr txBox="1"/>
          <p:nvPr/>
        </p:nvSpPr>
        <p:spPr>
          <a:xfrm>
            <a:off x="8339328" y="3145536"/>
            <a:ext cx="2834640" cy="228600"/>
          </a:xfrm>
          <a:prstGeom prst="rect">
            <a:avLst/>
          </a:prstGeom>
          <a:noFill/>
        </p:spPr>
        <p:txBody>
          <a:bodyPr wrap="square" lIns="0" tIns="0" rIns="0" bIns="0">
            <a:spAutoFit/>
          </a:bodyPr>
          <a:lstStyle/>
          <a:p>
            <a:pPr algn="l">
              <a:lnSpc>
                <a:spcPct val="110000"/>
              </a:lnSpc>
              <a:spcAft>
                <a:spcPts val="0"/>
              </a:spcAft>
            </a:pPr>
            <a:r>
              <a:rPr sz="1050" b="0">
                <a:solidFill>
                  <a:srgbClr val="4338CA"/>
                </a:solidFill>
                <a:latin typeface="Menlo"/>
              </a:rPr>
              <a:t>@Pradita777</a:t>
            </a:r>
          </a:p>
        </p:txBody>
      </p:sp>
      <p:sp>
        <p:nvSpPr>
          <p:cNvPr id="24" name="Rectangle 23"/>
          <p:cNvSpPr/>
          <p:nvPr/>
        </p:nvSpPr>
        <p:spPr>
          <a:xfrm>
            <a:off x="8339328" y="3456432"/>
            <a:ext cx="2798064" cy="11430"/>
          </a:xfrm>
          <a:prstGeom prst="rect">
            <a:avLst/>
          </a:prstGeom>
          <a:solidFill>
            <a:srgbClr val="E3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339328" y="3639312"/>
            <a:ext cx="2834640" cy="1097280"/>
          </a:xfrm>
          <a:prstGeom prst="rect">
            <a:avLst/>
          </a:prstGeom>
          <a:noFill/>
        </p:spPr>
        <p:txBody>
          <a:bodyPr wrap="square" lIns="0" tIns="0" rIns="0" bIns="0">
            <a:spAutoFit/>
          </a:bodyPr>
          <a:lstStyle/>
          <a:p>
            <a:pPr algn="l">
              <a:lnSpc>
                <a:spcPct val="150000"/>
              </a:lnSpc>
              <a:spcAft>
                <a:spcPts val="400"/>
              </a:spcAft>
            </a:pPr>
            <a:r>
              <a:rPr sz="1000" b="0">
                <a:solidFill>
                  <a:srgbClr val="6E747E"/>
                </a:solidFill>
                <a:latin typeface="Menlo"/>
              </a:rPr>
              <a:t>feat: V20260804 constraints</a:t>
            </a:r>
          </a:p>
          <a:p>
            <a:pPr algn="l">
              <a:lnSpc>
                <a:spcPct val="150000"/>
              </a:lnSpc>
              <a:spcAft>
                <a:spcPts val="400"/>
              </a:spcAft>
            </a:pPr>
            <a:r>
              <a:rPr sz="1000" b="0">
                <a:solidFill>
                  <a:srgbClr val="6E747E"/>
                </a:solidFill>
                <a:latin typeface="Menlo"/>
              </a:rPr>
              <a:t>feat: R__ vista standings</a:t>
            </a:r>
          </a:p>
          <a:p>
            <a:pPr algn="l">
              <a:lnSpc>
                <a:spcPct val="150000"/>
              </a:lnSpc>
              <a:spcAft>
                <a:spcPts val="400"/>
              </a:spcAft>
            </a:pPr>
            <a:r>
              <a:rPr sz="1000" b="0">
                <a:solidFill>
                  <a:srgbClr val="6E747E"/>
                </a:solidFill>
                <a:latin typeface="Menlo"/>
              </a:rPr>
              <a:t>ci: workflow GitHub Actions</a:t>
            </a:r>
          </a:p>
          <a:p>
            <a:pPr algn="l">
              <a:lnSpc>
                <a:spcPct val="150000"/>
              </a:lnSpc>
              <a:spcAft>
                <a:spcPts val="400"/>
              </a:spcAft>
            </a:pPr>
            <a:r>
              <a:rPr sz="1000" b="0">
                <a:solidFill>
                  <a:srgbClr val="6E747E"/>
                </a:solidFill>
                <a:latin typeface="Menlo"/>
              </a:rPr>
              <a:t>docs: evidencias de runs</a:t>
            </a:r>
          </a:p>
        </p:txBody>
      </p:sp>
      <p:sp>
        <p:nvSpPr>
          <p:cNvPr id="26" name="Rectangle 25"/>
          <p:cNvSpPr/>
          <p:nvPr/>
        </p:nvSpPr>
        <p:spPr>
          <a:xfrm>
            <a:off x="731520" y="5138928"/>
            <a:ext cx="10698480" cy="777240"/>
          </a:xfrm>
          <a:prstGeom prst="rect">
            <a:avLst/>
          </a:prstGeom>
          <a:solidFill>
            <a:srgbClr val="EC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1024128" y="5349240"/>
            <a:ext cx="10149840" cy="411480"/>
          </a:xfrm>
          <a:prstGeom prst="rect">
            <a:avLst/>
          </a:prstGeom>
          <a:noFill/>
        </p:spPr>
        <p:txBody>
          <a:bodyPr wrap="square" lIns="0" tIns="0" rIns="0" bIns="0">
            <a:spAutoFit/>
          </a:bodyPr>
          <a:lstStyle/>
          <a:p>
            <a:pPr algn="l">
              <a:lnSpc>
                <a:spcPct val="110000"/>
              </a:lnSpc>
              <a:spcAft>
                <a:spcPts val="0"/>
              </a:spcAft>
            </a:pPr>
            <a:r>
              <a:rPr sz="1250" b="1">
                <a:solidFill>
                  <a:srgbClr val="4338CA"/>
                </a:solidFill>
                <a:latin typeface="Helvetica Neue"/>
              </a:rPr>
              <a:t>Los tres integrantes tienen commits en el historial</a:t>
            </a:r>
            <a:r>
              <a:rPr sz="1250" b="0">
                <a:solidFill>
                  <a:srgbClr val="21252D"/>
                </a:solidFill>
                <a:latin typeface="Helvetica Neue"/>
              </a:rPr>
              <a:t>  ·  el trabajo entró por Pull Request, no por push directo a main.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8F6"/>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31520" y="1280160"/>
            <a:ext cx="10728655" cy="274320"/>
          </a:xfrm>
          <a:prstGeom prst="rect">
            <a:avLst/>
          </a:prstGeom>
          <a:noFill/>
        </p:spPr>
        <p:txBody>
          <a:bodyPr wrap="square" lIns="0" tIns="0" rIns="0" bIns="0">
            <a:spAutoFit/>
          </a:bodyPr>
          <a:lstStyle/>
          <a:p>
            <a:pPr algn="ctr">
              <a:lnSpc>
                <a:spcPct val="110000"/>
              </a:lnSpc>
              <a:spcAft>
                <a:spcPts val="0"/>
              </a:spcAft>
            </a:pPr>
            <a:r>
              <a:rPr sz="1100" b="1">
                <a:solidFill>
                  <a:srgbClr val="4338CA"/>
                </a:solidFill>
                <a:latin typeface="Helvetica Neue"/>
              </a:rPr>
              <a:t>REPOSITORIO</a:t>
            </a:r>
          </a:p>
        </p:txBody>
      </p:sp>
      <p:sp>
        <p:nvSpPr>
          <p:cNvPr id="4" name="TextBox 3"/>
          <p:cNvSpPr txBox="1"/>
          <p:nvPr/>
        </p:nvSpPr>
        <p:spPr>
          <a:xfrm>
            <a:off x="731520" y="1645920"/>
            <a:ext cx="10728655" cy="548640"/>
          </a:xfrm>
          <a:prstGeom prst="rect">
            <a:avLst/>
          </a:prstGeom>
          <a:noFill/>
        </p:spPr>
        <p:txBody>
          <a:bodyPr wrap="square" lIns="0" tIns="0" rIns="0" bIns="0">
            <a:spAutoFit/>
          </a:bodyPr>
          <a:lstStyle/>
          <a:p>
            <a:pPr algn="ctr">
              <a:lnSpc>
                <a:spcPct val="110000"/>
              </a:lnSpc>
              <a:spcAft>
                <a:spcPts val="0"/>
              </a:spcAft>
            </a:pPr>
            <a:r>
              <a:rPr sz="3200" b="1">
                <a:solidFill>
                  <a:srgbClr val="21252D"/>
                </a:solidFill>
                <a:latin typeface="Menlo"/>
              </a:rPr>
              <a:t>github.com/acarmonag/cicd-bd</a:t>
            </a:r>
          </a:p>
        </p:txBody>
      </p:sp>
      <p:sp>
        <p:nvSpPr>
          <p:cNvPr id="5" name="Rectangle 4"/>
          <p:cNvSpPr/>
          <p:nvPr/>
        </p:nvSpPr>
        <p:spPr>
          <a:xfrm>
            <a:off x="2113528" y="2693439"/>
            <a:ext cx="2514600" cy="1143000"/>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994503" y="2944368"/>
            <a:ext cx="2514600" cy="320040"/>
          </a:xfrm>
          <a:prstGeom prst="rect">
            <a:avLst/>
          </a:prstGeom>
          <a:noFill/>
        </p:spPr>
        <p:txBody>
          <a:bodyPr wrap="square" lIns="0" tIns="0" rIns="0" bIns="0">
            <a:spAutoFit/>
          </a:bodyPr>
          <a:lstStyle/>
          <a:p>
            <a:pPr algn="ctr">
              <a:lnSpc>
                <a:spcPct val="110000"/>
              </a:lnSpc>
              <a:spcAft>
                <a:spcPts val="0"/>
              </a:spcAft>
            </a:pPr>
            <a:r>
              <a:rPr sz="1700" b="1" dirty="0">
                <a:solidFill>
                  <a:srgbClr val="4338CA"/>
                </a:solidFill>
                <a:latin typeface="Helvetica Neue"/>
              </a:rPr>
              <a:t>8 </a:t>
            </a:r>
            <a:r>
              <a:rPr sz="1700" b="1" dirty="0" err="1">
                <a:solidFill>
                  <a:srgbClr val="4338CA"/>
                </a:solidFill>
                <a:latin typeface="Helvetica Neue"/>
              </a:rPr>
              <a:t>tablas</a:t>
            </a:r>
            <a:endParaRPr sz="1700" b="1" dirty="0">
              <a:solidFill>
                <a:srgbClr val="4338CA"/>
              </a:solidFill>
              <a:latin typeface="Helvetica Neue"/>
            </a:endParaRPr>
          </a:p>
        </p:txBody>
      </p:sp>
      <p:sp>
        <p:nvSpPr>
          <p:cNvPr id="7" name="TextBox 6"/>
          <p:cNvSpPr txBox="1"/>
          <p:nvPr/>
        </p:nvSpPr>
        <p:spPr>
          <a:xfrm>
            <a:off x="2131663" y="3319272"/>
            <a:ext cx="2240280" cy="320040"/>
          </a:xfrm>
          <a:prstGeom prst="rect">
            <a:avLst/>
          </a:prstGeom>
          <a:noFill/>
        </p:spPr>
        <p:txBody>
          <a:bodyPr wrap="square" lIns="0" tIns="0" rIns="0" bIns="0">
            <a:spAutoFit/>
          </a:bodyPr>
          <a:lstStyle/>
          <a:p>
            <a:pPr algn="ctr">
              <a:lnSpc>
                <a:spcPct val="125000"/>
              </a:lnSpc>
              <a:spcAft>
                <a:spcPts val="0"/>
              </a:spcAft>
            </a:pPr>
            <a:r>
              <a:rPr sz="1050" b="0" dirty="0" err="1">
                <a:solidFill>
                  <a:srgbClr val="6E747E"/>
                </a:solidFill>
                <a:latin typeface="Helvetica Neue"/>
              </a:rPr>
              <a:t>modelo</a:t>
            </a:r>
            <a:r>
              <a:rPr sz="1050" b="0" dirty="0">
                <a:solidFill>
                  <a:srgbClr val="6E747E"/>
                </a:solidFill>
                <a:latin typeface="Helvetica Neue"/>
              </a:rPr>
              <a:t> </a:t>
            </a:r>
            <a:r>
              <a:rPr sz="1050" b="0" dirty="0" err="1">
                <a:solidFill>
                  <a:srgbClr val="6E747E"/>
                </a:solidFill>
                <a:latin typeface="Helvetica Neue"/>
              </a:rPr>
              <a:t>propio</a:t>
            </a:r>
            <a:r>
              <a:rPr sz="1050" b="0" dirty="0">
                <a:solidFill>
                  <a:srgbClr val="6E747E"/>
                </a:solidFill>
                <a:latin typeface="Helvetica Neue"/>
              </a:rPr>
              <a:t> de </a:t>
            </a:r>
            <a:r>
              <a:rPr sz="1050" b="0" dirty="0" err="1">
                <a:solidFill>
                  <a:srgbClr val="6E747E"/>
                </a:solidFill>
                <a:latin typeface="Helvetica Neue"/>
              </a:rPr>
              <a:t>torneos</a:t>
            </a:r>
            <a:endParaRPr sz="1050" b="0" dirty="0">
              <a:solidFill>
                <a:srgbClr val="6E747E"/>
              </a:solidFill>
              <a:latin typeface="Helvetica Neue"/>
            </a:endParaRPr>
          </a:p>
        </p:txBody>
      </p:sp>
      <p:sp>
        <p:nvSpPr>
          <p:cNvPr id="8" name="Rectangle 7"/>
          <p:cNvSpPr/>
          <p:nvPr/>
        </p:nvSpPr>
        <p:spPr>
          <a:xfrm>
            <a:off x="4865872" y="2693439"/>
            <a:ext cx="2514600" cy="1143000"/>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806513" y="2960901"/>
            <a:ext cx="2514600" cy="320040"/>
          </a:xfrm>
          <a:prstGeom prst="rect">
            <a:avLst/>
          </a:prstGeom>
          <a:noFill/>
        </p:spPr>
        <p:txBody>
          <a:bodyPr wrap="square" lIns="0" tIns="0" rIns="0" bIns="0">
            <a:spAutoFit/>
          </a:bodyPr>
          <a:lstStyle/>
          <a:p>
            <a:pPr algn="ctr">
              <a:lnSpc>
                <a:spcPct val="110000"/>
              </a:lnSpc>
              <a:spcAft>
                <a:spcPts val="0"/>
              </a:spcAft>
            </a:pPr>
            <a:r>
              <a:rPr sz="1700" b="1" dirty="0">
                <a:solidFill>
                  <a:srgbClr val="4338CA"/>
                </a:solidFill>
                <a:latin typeface="Helvetica Neue"/>
              </a:rPr>
              <a:t>7 </a:t>
            </a:r>
            <a:r>
              <a:rPr sz="1700" b="1" dirty="0" err="1">
                <a:solidFill>
                  <a:srgbClr val="4338CA"/>
                </a:solidFill>
                <a:latin typeface="Helvetica Neue"/>
              </a:rPr>
              <a:t>migraciones</a:t>
            </a:r>
            <a:endParaRPr sz="1700" b="1" dirty="0">
              <a:solidFill>
                <a:srgbClr val="4338CA"/>
              </a:solidFill>
              <a:latin typeface="Helvetica Neue"/>
            </a:endParaRPr>
          </a:p>
        </p:txBody>
      </p:sp>
      <p:sp>
        <p:nvSpPr>
          <p:cNvPr id="10" name="TextBox 9"/>
          <p:cNvSpPr txBox="1"/>
          <p:nvPr/>
        </p:nvSpPr>
        <p:spPr>
          <a:xfrm>
            <a:off x="4943673" y="3335805"/>
            <a:ext cx="2240280" cy="320040"/>
          </a:xfrm>
          <a:prstGeom prst="rect">
            <a:avLst/>
          </a:prstGeom>
          <a:noFill/>
        </p:spPr>
        <p:txBody>
          <a:bodyPr wrap="square" lIns="0" tIns="0" rIns="0" bIns="0">
            <a:spAutoFit/>
          </a:bodyPr>
          <a:lstStyle/>
          <a:p>
            <a:pPr algn="ctr">
              <a:lnSpc>
                <a:spcPct val="125000"/>
              </a:lnSpc>
              <a:spcAft>
                <a:spcPts val="0"/>
              </a:spcAft>
            </a:pPr>
            <a:r>
              <a:rPr sz="1050" b="0">
                <a:solidFill>
                  <a:srgbClr val="6E747E"/>
                </a:solidFill>
                <a:latin typeface="Helvetica Neue"/>
              </a:rPr>
              <a:t>6 versionadas  +  1 repetible</a:t>
            </a:r>
          </a:p>
        </p:txBody>
      </p:sp>
      <p:sp>
        <p:nvSpPr>
          <p:cNvPr id="11" name="Rectangle 10"/>
          <p:cNvSpPr/>
          <p:nvPr/>
        </p:nvSpPr>
        <p:spPr>
          <a:xfrm>
            <a:off x="7499497" y="2701520"/>
            <a:ext cx="2514600" cy="1143000"/>
          </a:xfrm>
          <a:prstGeom prst="rect">
            <a:avLst/>
          </a:prstGeom>
          <a:solidFill>
            <a:srgbClr val="FFFFFF"/>
          </a:solidFill>
          <a:ln w="12700">
            <a:solidFill>
              <a:srgbClr val="E3E2D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398914" y="2960901"/>
            <a:ext cx="2514600" cy="320040"/>
          </a:xfrm>
          <a:prstGeom prst="rect">
            <a:avLst/>
          </a:prstGeom>
          <a:noFill/>
        </p:spPr>
        <p:txBody>
          <a:bodyPr wrap="square" lIns="0" tIns="0" rIns="0" bIns="0">
            <a:spAutoFit/>
          </a:bodyPr>
          <a:lstStyle/>
          <a:p>
            <a:pPr algn="ctr">
              <a:lnSpc>
                <a:spcPct val="110000"/>
              </a:lnSpc>
              <a:spcAft>
                <a:spcPts val="0"/>
              </a:spcAft>
            </a:pPr>
            <a:r>
              <a:rPr sz="1700" b="1" dirty="0">
                <a:solidFill>
                  <a:srgbClr val="4338CA"/>
                </a:solidFill>
                <a:latin typeface="Helvetica Neue"/>
              </a:rPr>
              <a:t>Pipeline dual</a:t>
            </a:r>
          </a:p>
        </p:txBody>
      </p:sp>
      <p:sp>
        <p:nvSpPr>
          <p:cNvPr id="13" name="TextBox 12"/>
          <p:cNvSpPr txBox="1"/>
          <p:nvPr/>
        </p:nvSpPr>
        <p:spPr>
          <a:xfrm>
            <a:off x="7536074" y="3335805"/>
            <a:ext cx="2240280" cy="320040"/>
          </a:xfrm>
          <a:prstGeom prst="rect">
            <a:avLst/>
          </a:prstGeom>
          <a:noFill/>
        </p:spPr>
        <p:txBody>
          <a:bodyPr wrap="square" lIns="0" tIns="0" rIns="0" bIns="0">
            <a:spAutoFit/>
          </a:bodyPr>
          <a:lstStyle/>
          <a:p>
            <a:pPr algn="ctr">
              <a:lnSpc>
                <a:spcPct val="125000"/>
              </a:lnSpc>
              <a:spcAft>
                <a:spcPts val="0"/>
              </a:spcAft>
            </a:pPr>
            <a:r>
              <a:rPr sz="1050" b="0">
                <a:solidFill>
                  <a:srgbClr val="6E747E"/>
                </a:solidFill>
                <a:latin typeface="Helvetica Neue"/>
              </a:rPr>
              <a:t>PR → dev   ·   merge → prod</a:t>
            </a:r>
          </a:p>
        </p:txBody>
      </p:sp>
      <p:sp>
        <p:nvSpPr>
          <p:cNvPr id="17" name="Rectangle 16"/>
          <p:cNvSpPr/>
          <p:nvPr/>
        </p:nvSpPr>
        <p:spPr>
          <a:xfrm>
            <a:off x="5550408" y="4343400"/>
            <a:ext cx="1097280" cy="32004"/>
          </a:xfrm>
          <a:prstGeom prst="rect">
            <a:avLst/>
          </a:prstGeom>
          <a:solidFill>
            <a:srgbClr val="E3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31520" y="4709160"/>
            <a:ext cx="10728655" cy="548640"/>
          </a:xfrm>
          <a:prstGeom prst="rect">
            <a:avLst/>
          </a:prstGeom>
          <a:noFill/>
        </p:spPr>
        <p:txBody>
          <a:bodyPr wrap="square" lIns="0" tIns="0" rIns="0" bIns="0">
            <a:spAutoFit/>
          </a:bodyPr>
          <a:lstStyle/>
          <a:p>
            <a:pPr algn="ctr">
              <a:lnSpc>
                <a:spcPct val="110000"/>
              </a:lnSpc>
              <a:spcAft>
                <a:spcPts val="0"/>
              </a:spcAft>
            </a:pPr>
            <a:r>
              <a:rPr sz="3000" b="1">
                <a:solidFill>
                  <a:srgbClr val="21252D"/>
                </a:solidFill>
                <a:latin typeface="Helvetica Neue"/>
              </a:rPr>
              <a:t>Gracias — ¿preguntas?</a:t>
            </a:r>
          </a:p>
        </p:txBody>
      </p:sp>
      <p:sp>
        <p:nvSpPr>
          <p:cNvPr id="19" name="TextBox 18"/>
          <p:cNvSpPr txBox="1"/>
          <p:nvPr/>
        </p:nvSpPr>
        <p:spPr>
          <a:xfrm>
            <a:off x="731520" y="5989320"/>
            <a:ext cx="10728655" cy="274320"/>
          </a:xfrm>
          <a:prstGeom prst="rect">
            <a:avLst/>
          </a:prstGeom>
          <a:noFill/>
        </p:spPr>
        <p:txBody>
          <a:bodyPr wrap="square" lIns="0" tIns="0" rIns="0" bIns="0">
            <a:spAutoFit/>
          </a:bodyPr>
          <a:lstStyle/>
          <a:p>
            <a:pPr algn="ctr">
              <a:lnSpc>
                <a:spcPct val="110000"/>
              </a:lnSpc>
              <a:spcAft>
                <a:spcPts val="0"/>
              </a:spcAft>
            </a:pPr>
            <a:r>
              <a:rPr sz="1100" b="0">
                <a:solidFill>
                  <a:srgbClr val="E3E2DC"/>
                </a:solidFill>
                <a:latin typeface="Helvetica Neue"/>
              </a:rPr>
              <a:t>Antonio Carmona  ·  Miguel Quijano  ·  Andrés Prada      |      Módulo SI6010-5979 · Capítulo 1 — Fundamentos de DataOps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2122</Words>
  <Application>Microsoft Macintosh PowerPoint</Application>
  <PresentationFormat>Widescreen</PresentationFormat>
  <Paragraphs>305</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Helvetica Neue</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Pablo Quijano</cp:lastModifiedBy>
  <cp:revision>4</cp:revision>
  <dcterms:created xsi:type="dcterms:W3CDTF">2013-01-27T09:14:16Z</dcterms:created>
  <dcterms:modified xsi:type="dcterms:W3CDTF">2026-08-13T23:51:02Z</dcterms:modified>
  <cp:category/>
</cp:coreProperties>
</file>