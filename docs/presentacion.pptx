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747107" y="141732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MOMENTO 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18707" y="1417320"/>
            <a:ext cx="1325880" cy="292608"/>
          </a:xfrm>
          <a:prstGeom prst="roundRect">
            <a:avLst>
              <a:gd name="adj" fmla="val 50000"/>
            </a:avLst>
          </a:prstGeom>
          <a:solidFill>
            <a:srgbClr val="EC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050" b="1">
                <a:solidFill>
                  <a:srgbClr val="4338CA"/>
                </a:solidFill>
                <a:latin typeface="Helvetica Neue"/>
              </a:rPr>
              <a:t>SI6010-5979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4577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5200" b="1">
                <a:solidFill>
                  <a:srgbClr val="21252D"/>
                </a:solidFill>
                <a:latin typeface="Helvetica Neue"/>
              </a:rPr>
              <a:t>CI/CD en Base de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63240"/>
            <a:ext cx="105457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>
                <a:solidFill>
                  <a:srgbClr val="6E747E"/>
                </a:solidFill>
                <a:latin typeface="Helvetica Neue"/>
              </a:rPr>
              <a:t>Esquema como código  ·  Migraciones reproducibles  ·  Pipeline automatizado</a:t>
            </a:r>
          </a:p>
        </p:txBody>
      </p:sp>
      <p:sp>
        <p:nvSpPr>
          <p:cNvPr id="7" name="Rectangle 6"/>
          <p:cNvSpPr/>
          <p:nvPr/>
        </p:nvSpPr>
        <p:spPr>
          <a:xfrm>
            <a:off x="5547207" y="3794760"/>
            <a:ext cx="1097280" cy="32004"/>
          </a:xfrm>
          <a:prstGeom prst="rect">
            <a:avLst/>
          </a:prstGeom>
          <a:solidFill>
            <a:srgbClr val="E3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160520"/>
            <a:ext cx="1054577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21252D"/>
                </a:solidFill>
                <a:latin typeface="Helvetica Neue"/>
              </a:rPr>
              <a:t>Antonio Carmona</a:t>
            </a:r>
            <a:r>
              <a:rPr sz="1700" b="0">
                <a:solidFill>
                  <a:srgbClr val="6E747E"/>
                </a:solidFill>
                <a:latin typeface="Helvetica Neue"/>
              </a:rPr>
              <a:t>      ·      </a:t>
            </a:r>
            <a:r>
              <a:rPr sz="1700" b="1">
                <a:solidFill>
                  <a:srgbClr val="21252D"/>
                </a:solidFill>
                <a:latin typeface="Helvetica Neue"/>
              </a:rPr>
              <a:t>Miguel Quijano</a:t>
            </a:r>
            <a:r>
              <a:rPr sz="1700" b="0">
                <a:solidFill>
                  <a:srgbClr val="6E747E"/>
                </a:solidFill>
                <a:latin typeface="Helvetica Neue"/>
              </a:rPr>
              <a:t>      ·      </a:t>
            </a:r>
            <a:r>
              <a:rPr sz="1700" b="1">
                <a:solidFill>
                  <a:srgbClr val="21252D"/>
                </a:solidFill>
                <a:latin typeface="Helvetica Neue"/>
              </a:rPr>
              <a:t>Andrés Prada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3994" y="502920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0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050" b="1">
                <a:solidFill>
                  <a:srgbClr val="6E747E"/>
                </a:solidFill>
                <a:latin typeface="Helvetica Neue"/>
              </a:rPr>
              <a:t>Neon.tech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82869" y="5029200"/>
            <a:ext cx="651052" cy="292608"/>
          </a:xfrm>
          <a:prstGeom prst="roundRect">
            <a:avLst>
              <a:gd name="adj" fmla="val 50000"/>
            </a:avLst>
          </a:prstGeom>
          <a:solidFill>
            <a:srgbClr val="F0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050" b="1">
                <a:solidFill>
                  <a:srgbClr val="6E747E"/>
                </a:solidFill>
                <a:latin typeface="Helvetica Neue"/>
              </a:rPr>
              <a:t>Flyway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16801" y="5029200"/>
            <a:ext cx="1250899" cy="292608"/>
          </a:xfrm>
          <a:prstGeom prst="roundRect">
            <a:avLst>
              <a:gd name="adj" fmla="val 50000"/>
            </a:avLst>
          </a:prstGeom>
          <a:solidFill>
            <a:srgbClr val="F0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050" b="1">
                <a:solidFill>
                  <a:srgbClr val="6E747E"/>
                </a:solidFill>
                <a:latin typeface="Helvetica Neue"/>
              </a:rPr>
              <a:t>GitHub Actions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E747E"/>
                </a:solidFill>
                <a:latin typeface="Helvetica Neue"/>
              </a:rPr>
              <a:t>Capítulo 1 — Fundamentos de DataOps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338CA"/>
                </a:solidFill>
                <a:latin typeface="Helvetica Neue"/>
              </a:rPr>
              <a:t>CONTEXTO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1252D"/>
                </a:solidFill>
                <a:latin typeface="Helvetica Neue"/>
              </a:rPr>
              <a:t>El problema: DDL manual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89888"/>
            <a:ext cx="685800" cy="41148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6473952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747E"/>
                </a:solidFill>
                <a:latin typeface="Helvetica Neue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E747E"/>
                </a:solidFill>
                <a:latin typeface="Helvetica Neue"/>
              </a:rPr>
              <a:t>CI/CD en Base de Datos · SI6010-5979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783080"/>
            <a:ext cx="51480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783080"/>
            <a:ext cx="64008" cy="1371600"/>
          </a:xfrm>
          <a:prstGeom prst="rect">
            <a:avLst/>
          </a:prstGeom>
          <a:solidFill>
            <a:srgbClr val="B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1783080"/>
            <a:ext cx="4645152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21252D"/>
                </a:solidFill>
                <a:latin typeface="Helvetica Neue"/>
              </a:rPr>
              <a:t>Alguien se conecta con un cliente SQL y ejecuta ALTER TABLE a mano.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783080"/>
            <a:ext cx="51480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64008" cy="1371600"/>
          </a:xfrm>
          <a:prstGeom prst="rect">
            <a:avLst/>
          </a:prstGeom>
          <a:solidFill>
            <a:srgbClr val="B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0528" y="1783080"/>
            <a:ext cx="4645152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21252D"/>
                </a:solidFill>
                <a:latin typeface="Helvetica Neue"/>
              </a:rPr>
              <a:t>Dev y prod tienen esquemas distintos — nadie sabe cuál es el “correcto”.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401568"/>
            <a:ext cx="51480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3401568"/>
            <a:ext cx="64008" cy="1371600"/>
          </a:xfrm>
          <a:prstGeom prst="rect">
            <a:avLst/>
          </a:prstGeom>
          <a:solidFill>
            <a:srgbClr val="B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5568" y="3401568"/>
            <a:ext cx="4645152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21252D"/>
                </a:solidFill>
                <a:latin typeface="Helvetica Neue"/>
              </a:rPr>
              <a:t>No hay historial: ¿quién hizo ese cambio? ¿cuándo? ¿por qué?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401568"/>
            <a:ext cx="51480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3401568"/>
            <a:ext cx="64008" cy="1371600"/>
          </a:xfrm>
          <a:prstGeom prst="rect">
            <a:avLst/>
          </a:prstGeom>
          <a:solidFill>
            <a:srgbClr val="B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3401568"/>
            <a:ext cx="4645152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21252D"/>
                </a:solidFill>
                <a:latin typeface="Helvetica Neue"/>
              </a:rPr>
              <a:t>Reconstruir la base desde cero requiere pasos manuales no documentados.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129784"/>
            <a:ext cx="10545775" cy="868680"/>
          </a:xfrm>
          <a:prstGeom prst="roundRect">
            <a:avLst>
              <a:gd name="adj" fmla="val 6000"/>
            </a:avLst>
          </a:prstGeom>
          <a:solidFill>
            <a:srgbClr val="E2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129784"/>
            <a:ext cx="990569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E8A5F"/>
                </a:solidFill>
                <a:latin typeface="Helvetica Neue"/>
              </a:rPr>
              <a:t>Nuestra respuesta:  </a:t>
            </a:r>
            <a:r>
              <a:rPr sz="1500" b="0">
                <a:solidFill>
                  <a:srgbClr val="21252D"/>
                </a:solidFill>
                <a:latin typeface="Helvetica Neue"/>
              </a:rPr>
              <a:t>tratar el esquema como código — versionado, revisado en PR y desplegado automáticamente.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338CA"/>
                </a:solidFill>
                <a:latin typeface="Helvetica Neue"/>
              </a:rPr>
              <a:t>HERRAMIENTAS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1252D"/>
                </a:solidFill>
                <a:latin typeface="Helvetica Neue"/>
              </a:rPr>
              <a:t>Stack tecnológico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89888"/>
            <a:ext cx="685800" cy="41148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6473952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747E"/>
                </a:solidFill>
                <a:latin typeface="Helvetica Neue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E747E"/>
                </a:solidFill>
                <a:latin typeface="Helvetica Neue"/>
              </a:rPr>
              <a:t>CI/CD en Base de Datos · SI6010-5979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920240"/>
            <a:ext cx="3346704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33467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0">
                <a:solidFill>
                  <a:srgbClr val="21252D"/>
                </a:solidFill>
                <a:latin typeface="Helvetica Neue"/>
              </a:rPr>
              <a:t>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54680"/>
            <a:ext cx="334670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21252D"/>
                </a:solidFill>
                <a:latin typeface="Helvetica Neue"/>
              </a:rPr>
              <a:t>Neon.tech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703320"/>
            <a:ext cx="270662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6E747E"/>
                </a:solidFill>
                <a:latin typeface="Helvetica Neue"/>
              </a:rPr>
              <a:t>PostgreSQL serverless con branching nativo.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6E747E"/>
                </a:solidFill>
                <a:latin typeface="Helvetica Neue"/>
              </a:rPr>
              <a:t/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6E747E"/>
                </a:solidFill>
                <a:latin typeface="Helvetica Neue"/>
              </a:rPr>
              <a:t>Un branch por entorno — aislamiento real sin costo de infraestructura.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2" y="1920240"/>
            <a:ext cx="3346704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6552" y="2331720"/>
            <a:ext cx="33467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0">
                <a:solidFill>
                  <a:srgbClr val="21252D"/>
                </a:solidFill>
                <a:latin typeface="Helvetica Neue"/>
              </a:rPr>
              <a:t>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6552" y="3154680"/>
            <a:ext cx="334670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21252D"/>
                </a:solidFill>
                <a:latin typeface="Helvetica Neue"/>
              </a:rPr>
              <a:t>Flyway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3703320"/>
            <a:ext cx="270662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6E747E"/>
                </a:solidFill>
                <a:latin typeface="Helvetica Neue"/>
              </a:rPr>
              <a:t>Herramienta de migración de esquemas.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6E747E"/>
                </a:solidFill>
                <a:latin typeface="Helvetica Neue"/>
              </a:rPr>
              <a:t/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6E747E"/>
                </a:solidFill>
                <a:latin typeface="Helvetica Neue"/>
              </a:rPr>
              <a:t>Versiona, valida checksums y aplica SQL en orden determinista.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920240"/>
            <a:ext cx="3346704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0144" y="2331720"/>
            <a:ext cx="33467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0">
                <a:solidFill>
                  <a:srgbClr val="21252D"/>
                </a:solidFill>
                <a:latin typeface="Helvetica Neue"/>
              </a:rPr>
              <a:t>⚙️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0144" y="3154680"/>
            <a:ext cx="334670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21252D"/>
                </a:solidFill>
                <a:latin typeface="Helvetica Neue"/>
              </a:rPr>
              <a:t>GitHub Actions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0184" y="3703320"/>
            <a:ext cx="270662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6E747E"/>
                </a:solidFill>
                <a:latin typeface="Helvetica Neue"/>
              </a:rPr>
              <a:t>Pipeline de CI/CD.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6E747E"/>
                </a:solidFill>
                <a:latin typeface="Helvetica Neue"/>
              </a:rPr>
              <a:t/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6E747E"/>
                </a:solidFill>
                <a:latin typeface="Helvetica Neue"/>
              </a:rPr>
              <a:t>Se dispara en PR y en merge — sin intervención manual.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338CA"/>
                </a:solidFill>
                <a:latin typeface="Helvetica Neue"/>
              </a:rPr>
              <a:t>DISEÑO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1252D"/>
                </a:solidFill>
                <a:latin typeface="Helvetica Neue"/>
              </a:rPr>
              <a:t>Arquitectura de entornos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89888"/>
            <a:ext cx="685800" cy="41148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6473952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747E"/>
                </a:solidFill>
                <a:latin typeface="Helvetica Neue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E747E"/>
                </a:solidFill>
                <a:latin typeface="Helvetica Neue"/>
              </a:rPr>
              <a:t>CI/CD en Base de Datos · SI6010-5979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493776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2B5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029968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B5FD9"/>
                </a:solidFill>
                <a:latin typeface="Helvetica Neue"/>
              </a:rPr>
              <a:t>●  </a:t>
            </a:r>
            <a:r>
              <a:rPr sz="1700" b="1">
                <a:solidFill>
                  <a:srgbClr val="21252D"/>
                </a:solidFill>
                <a:latin typeface="Helvetica Neue"/>
              </a:rPr>
              <a:t>Entorno 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468880"/>
            <a:ext cx="42976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E747E"/>
                </a:solidFill>
                <a:latin typeface="Helvetica Neue"/>
              </a:rPr>
              <a:t>Branch Neon: </a:t>
            </a:r>
            <a:r>
              <a:rPr sz="1300" b="0">
                <a:solidFill>
                  <a:srgbClr val="4338CA"/>
                </a:solidFill>
                <a:latin typeface="Menlo"/>
              </a:rPr>
              <a:t>dev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6E747E"/>
                </a:solidFill>
                <a:latin typeface="Helvetica Neue"/>
              </a:rPr>
              <a:t>Se activa en cada </a:t>
            </a:r>
            <a:r>
              <a:rPr sz="1300" b="1">
                <a:solidFill>
                  <a:srgbClr val="21252D"/>
                </a:solidFill>
                <a:latin typeface="Helvetica Neue"/>
              </a:rPr>
              <a:t>Pull Request</a:t>
            </a:r>
            <a:r>
              <a:rPr sz="1300" b="0">
                <a:solidFill>
                  <a:srgbClr val="6E747E"/>
                </a:solidFill>
                <a:latin typeface="Helvetica Neue"/>
              </a:rPr>
              <a:t> hacia main.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6E747E"/>
                </a:solidFill>
                <a:latin typeface="Helvetica Neue"/>
              </a:rPr>
              <a:t>Valida y migra antes de tocar producción.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49039"/>
            <a:ext cx="493776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E8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950208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0E8A5F"/>
                </a:solidFill>
                <a:latin typeface="Helvetica Neue"/>
              </a:rPr>
              <a:t>●  </a:t>
            </a:r>
            <a:r>
              <a:rPr sz="1700" b="1">
                <a:solidFill>
                  <a:srgbClr val="21252D"/>
                </a:solidFill>
                <a:latin typeface="Helvetica Neue"/>
              </a:rPr>
              <a:t>Entorno PROD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389120"/>
            <a:ext cx="42976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E747E"/>
                </a:solidFill>
                <a:latin typeface="Helvetica Neue"/>
              </a:rPr>
              <a:t>Branch Neon: </a:t>
            </a:r>
            <a:r>
              <a:rPr sz="1300" b="0">
                <a:solidFill>
                  <a:srgbClr val="4338CA"/>
                </a:solidFill>
                <a:latin typeface="Menlo"/>
              </a:rPr>
              <a:t>main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6E747E"/>
                </a:solidFill>
                <a:latin typeface="Helvetica Neue"/>
              </a:rPr>
              <a:t>Se activa en cada </a:t>
            </a:r>
            <a:r>
              <a:rPr sz="1300" b="1">
                <a:solidFill>
                  <a:srgbClr val="21252D"/>
                </a:solidFill>
                <a:latin typeface="Helvetica Neue"/>
              </a:rPr>
              <a:t>merge a main</a:t>
            </a:r>
            <a:r>
              <a:rPr sz="1300" b="0">
                <a:solidFill>
                  <a:srgbClr val="6E747E"/>
                </a:solidFill>
                <a:latin typeface="Helvetica Neue"/>
              </a:rPr>
              <a:t>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6E747E"/>
                </a:solidFill>
                <a:latin typeface="Helvetica Neue"/>
              </a:rPr>
              <a:t>Solo recibe cambios ya validados en DEV.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828800"/>
            <a:ext cx="5242255" cy="3611880"/>
          </a:xfrm>
          <a:prstGeom prst="roundRect">
            <a:avLst>
              <a:gd name="adj" fmla="val 6000"/>
            </a:avLst>
          </a:prstGeom>
          <a:solidFill>
            <a:srgbClr val="2428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057400"/>
            <a:ext cx="4510735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D8DCE4"/>
                </a:solidFill>
                <a:latin typeface="Menlo"/>
              </a:rPr>
              <a:t>Repositorio GitHub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D8DCE4"/>
                </a:solidFill>
                <a:latin typeface="Menlo"/>
              </a:rPr>
              <a:t>│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D8DCE4"/>
                </a:solidFill>
                <a:latin typeface="Menlo"/>
              </a:rPr>
              <a:t>├── PR abierto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D8DCE4"/>
                </a:solidFill>
                <a:latin typeface="Menlo"/>
              </a:rPr>
              <a:t>│     └── workflow → DEV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D8DCE4"/>
                </a:solidFill>
                <a:latin typeface="Menlo"/>
              </a:rPr>
              <a:t>│           ├── flyway validate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D8DCE4"/>
                </a:solidFill>
                <a:latin typeface="Menlo"/>
              </a:rPr>
              <a:t>│           ├── flyway info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D8DCE4"/>
                </a:solidFill>
                <a:latin typeface="Menlo"/>
              </a:rPr>
              <a:t>│           └── flyway migrate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D8DCE4"/>
                </a:solidFill>
                <a:latin typeface="Menlo"/>
              </a:rPr>
              <a:t>│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D8DCE4"/>
                </a:solidFill>
                <a:latin typeface="Menlo"/>
              </a:rPr>
              <a:t>└── merge a main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D8DCE4"/>
                </a:solidFill>
                <a:latin typeface="Menlo"/>
              </a:rPr>
              <a:t>      └── workflow → PROD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D8DCE4"/>
                </a:solidFill>
                <a:latin typeface="Menlo"/>
              </a:rPr>
              <a:t>            ├── flyway validate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D8DCE4"/>
                </a:solidFill>
                <a:latin typeface="Menlo"/>
              </a:rPr>
              <a:t>            ├── flyway info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D8DCE4"/>
                </a:solidFill>
                <a:latin typeface="Menlo"/>
              </a:rPr>
              <a:t>            └── flyway migrate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338CA"/>
                </a:solidFill>
                <a:latin typeface="Helvetica Neue"/>
              </a:rPr>
              <a:t>ESQUEMA COMO CÓDIGO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1252D"/>
                </a:solidFill>
                <a:latin typeface="Helvetica Neue"/>
              </a:rPr>
              <a:t>Nuestras migraciones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89888"/>
            <a:ext cx="685800" cy="41148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6473952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747E"/>
                </a:solidFill>
                <a:latin typeface="Helvetica Neue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E747E"/>
                </a:solidFill>
                <a:latin typeface="Helvetica Neue"/>
              </a:rPr>
              <a:t>CI/CD en Base de Datos · SI6010-5979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783080"/>
            <a:ext cx="10545775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3200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4338CA"/>
                </a:solidFill>
                <a:latin typeface="Menlo"/>
              </a:rPr>
              <a:t>V1__baseline_parch_posey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1783080"/>
            <a:ext cx="5486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1252D"/>
                </a:solidFill>
                <a:latin typeface="Helvetica Neue"/>
              </a:rPr>
              <a:t>Esquema base completo: 5 tablas + índices iniciales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368382" y="1947672"/>
            <a:ext cx="726033" cy="292608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Antonio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551176"/>
            <a:ext cx="10545775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551176"/>
            <a:ext cx="3200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4338CA"/>
                </a:solidFill>
                <a:latin typeface="Menlo"/>
              </a:rPr>
              <a:t>V2__add_customer_tier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551176"/>
            <a:ext cx="5486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1252D"/>
                </a:solidFill>
                <a:latin typeface="Helvetica Neue"/>
              </a:rPr>
              <a:t>ALTER TABLE accounts ADD COLUMN tier, con CHECK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443363" y="2715768"/>
            <a:ext cx="651052" cy="292608"/>
          </a:xfrm>
          <a:prstGeom prst="roundRect">
            <a:avLst>
              <a:gd name="adj" fmla="val 50000"/>
            </a:avLst>
          </a:prstGeom>
          <a:solidFill>
            <a:srgbClr val="2B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Miguel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319272"/>
            <a:ext cx="10545775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319272"/>
            <a:ext cx="3200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4338CA"/>
                </a:solidFill>
                <a:latin typeface="Menlo"/>
              </a:rPr>
              <a:t>V3__add_product_catalog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3319272"/>
            <a:ext cx="5486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1252D"/>
                </a:solidFill>
                <a:latin typeface="Helvetica Neue"/>
              </a:rPr>
              <a:t>Nueva tabla products con SKU, categoría y precio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43363" y="3483864"/>
            <a:ext cx="651052" cy="292608"/>
          </a:xfrm>
          <a:prstGeom prst="roundRect">
            <a:avLst>
              <a:gd name="adj" fmla="val 50000"/>
            </a:avLst>
          </a:prstGeom>
          <a:solidFill>
            <a:srgbClr val="2B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Miguel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087368"/>
            <a:ext cx="10545775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087368"/>
            <a:ext cx="3200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4338CA"/>
                </a:solidFill>
                <a:latin typeface="Menlo"/>
              </a:rPr>
              <a:t>V4__add_audit_indexes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4087368"/>
            <a:ext cx="5486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1252D"/>
                </a:solidFill>
                <a:latin typeface="Helvetica Neue"/>
              </a:rPr>
              <a:t>Índices de rendimiento + constraints de integridad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43363" y="4251960"/>
            <a:ext cx="651052" cy="292608"/>
          </a:xfrm>
          <a:prstGeom prst="roundRect">
            <a:avLst>
              <a:gd name="adj" fmla="val 50000"/>
            </a:avLst>
          </a:prstGeom>
          <a:solidFill>
            <a:srgbClr val="0E8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Andrés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855464"/>
            <a:ext cx="10545775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855464"/>
            <a:ext cx="3200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4338CA"/>
                </a:solidFill>
                <a:latin typeface="Menlo"/>
              </a:rPr>
              <a:t>R__vw_sales_summary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855464"/>
            <a:ext cx="5486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1252D"/>
                </a:solidFill>
                <a:latin typeface="Helvetica Neue"/>
              </a:rPr>
              <a:t>Vista analítica repetible — CREATE OR REPLACE VIEW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443363" y="5020056"/>
            <a:ext cx="651052" cy="292608"/>
          </a:xfrm>
          <a:prstGeom prst="roundRect">
            <a:avLst>
              <a:gd name="adj" fmla="val 50000"/>
            </a:avLst>
          </a:prstGeom>
          <a:solidFill>
            <a:srgbClr val="0E8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Andrés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733288"/>
            <a:ext cx="105457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1252D"/>
                </a:solidFill>
                <a:latin typeface="Helvetica Neue"/>
              </a:rPr>
              <a:t>Convención Flyway:   </a:t>
            </a:r>
            <a:r>
              <a:rPr sz="1200" b="0">
                <a:solidFill>
                  <a:srgbClr val="4338CA"/>
                </a:solidFill>
                <a:latin typeface="Menlo"/>
              </a:rPr>
              <a:t>V{N}__{descripcion}.sql</a:t>
            </a:r>
            <a:r>
              <a:rPr sz="1200" b="0">
                <a:solidFill>
                  <a:srgbClr val="6E747E"/>
                </a:solidFill>
                <a:latin typeface="Helvetica Neue"/>
              </a:rPr>
              <a:t>  versionada e irreversible      ·      </a:t>
            </a:r>
            <a:r>
              <a:rPr sz="1200" b="0">
                <a:solidFill>
                  <a:srgbClr val="4338CA"/>
                </a:solidFill>
                <a:latin typeface="Menlo"/>
              </a:rPr>
              <a:t>R__{nombre}.sql</a:t>
            </a:r>
            <a:r>
              <a:rPr sz="1200" b="0">
                <a:solidFill>
                  <a:srgbClr val="6E747E"/>
                </a:solidFill>
                <a:latin typeface="Helvetica Neue"/>
              </a:rPr>
              <a:t>  repetible e idempotente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338CA"/>
                </a:solidFill>
                <a:latin typeface="Helvetica Neue"/>
              </a:rPr>
              <a:t>AUTOMATIZACIÓN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1252D"/>
                </a:solidFill>
                <a:latin typeface="Helvetica Neue"/>
              </a:rPr>
              <a:t>Pipeline en acción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89888"/>
            <a:ext cx="685800" cy="41148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6473952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747E"/>
                </a:solidFill>
                <a:latin typeface="Helvetica Neue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E747E"/>
                </a:solidFill>
                <a:latin typeface="Helvetica Neue"/>
              </a:rPr>
              <a:t>CI/CD en Base de Datos · SI6010-5979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1252D"/>
                </a:solidFill>
                <a:latin typeface="Helvetica Neue"/>
              </a:rPr>
              <a:t>Pull Request  →  DEV</a:t>
            </a:r>
          </a:p>
        </p:txBody>
      </p:sp>
      <p:sp>
        <p:nvSpPr>
          <p:cNvPr id="8" name="Pentagon 7"/>
          <p:cNvSpPr/>
          <p:nvPr/>
        </p:nvSpPr>
        <p:spPr>
          <a:xfrm>
            <a:off x="822960" y="2194560"/>
            <a:ext cx="2313980" cy="822960"/>
          </a:xfrm>
          <a:prstGeom prst="homePlate">
            <a:avLst/>
          </a:prstGeom>
          <a:solidFill>
            <a:srgbClr val="F0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45720"/>
          <a:lstStyle/>
          <a:p>
            <a:pPr algn="ctr"/>
            <a:r>
              <a:rPr sz="1250" b="1">
                <a:solidFill>
                  <a:srgbClr val="21252D"/>
                </a:solidFill>
                <a:latin typeface="Helvetica Neue"/>
              </a:rPr>
              <a:t>nueva migración</a:t>
            </a:r>
          </a:p>
        </p:txBody>
      </p:sp>
      <p:sp>
        <p:nvSpPr>
          <p:cNvPr id="9" name="Chevron 8"/>
          <p:cNvSpPr/>
          <p:nvPr/>
        </p:nvSpPr>
        <p:spPr>
          <a:xfrm>
            <a:off x="2880908" y="2194560"/>
            <a:ext cx="2313980" cy="822960"/>
          </a:xfrm>
          <a:prstGeom prst="chevron">
            <a:avLst/>
          </a:prstGeom>
          <a:solidFill>
            <a:srgbClr val="F0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45720"/>
          <a:lstStyle/>
          <a:p>
            <a:pPr algn="ctr"/>
            <a:r>
              <a:rPr sz="1250" b="1">
                <a:solidFill>
                  <a:srgbClr val="21252D"/>
                </a:solidFill>
                <a:latin typeface="Helvetica Neue"/>
              </a:rPr>
              <a:t>PR a main</a:t>
            </a:r>
          </a:p>
        </p:txBody>
      </p:sp>
      <p:sp>
        <p:nvSpPr>
          <p:cNvPr id="10" name="Chevron 9"/>
          <p:cNvSpPr/>
          <p:nvPr/>
        </p:nvSpPr>
        <p:spPr>
          <a:xfrm>
            <a:off x="4938856" y="2194560"/>
            <a:ext cx="2313980" cy="822960"/>
          </a:xfrm>
          <a:prstGeom prst="chevron">
            <a:avLst/>
          </a:prstGeom>
          <a:solidFill>
            <a:srgbClr val="E6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45720"/>
          <a:lstStyle/>
          <a:p>
            <a:pPr algn="ctr"/>
            <a:r>
              <a:rPr sz="1250" b="1">
                <a:solidFill>
                  <a:srgbClr val="2B5FD9"/>
                </a:solidFill>
                <a:latin typeface="Helvetica Neue"/>
              </a:rPr>
              <a:t>validate</a:t>
            </a:r>
          </a:p>
        </p:txBody>
      </p:sp>
      <p:sp>
        <p:nvSpPr>
          <p:cNvPr id="11" name="Chevron 10"/>
          <p:cNvSpPr/>
          <p:nvPr/>
        </p:nvSpPr>
        <p:spPr>
          <a:xfrm>
            <a:off x="6996804" y="2194560"/>
            <a:ext cx="2313980" cy="822960"/>
          </a:xfrm>
          <a:prstGeom prst="chevron">
            <a:avLst/>
          </a:prstGeom>
          <a:solidFill>
            <a:srgbClr val="E6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45720"/>
          <a:lstStyle/>
          <a:p>
            <a:pPr algn="ctr"/>
            <a:r>
              <a:rPr sz="1250" b="1">
                <a:solidFill>
                  <a:srgbClr val="2B5FD9"/>
                </a:solidFill>
                <a:latin typeface="Helvetica Neue"/>
              </a:rPr>
              <a:t>info</a:t>
            </a:r>
          </a:p>
        </p:txBody>
      </p:sp>
      <p:sp>
        <p:nvSpPr>
          <p:cNvPr id="12" name="Chevron 11"/>
          <p:cNvSpPr/>
          <p:nvPr/>
        </p:nvSpPr>
        <p:spPr>
          <a:xfrm>
            <a:off x="9054752" y="2194560"/>
            <a:ext cx="2313980" cy="822960"/>
          </a:xfrm>
          <a:prstGeom prst="chevron">
            <a:avLst/>
          </a:prstGeom>
          <a:solidFill>
            <a:srgbClr val="2B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45720"/>
          <a:lstStyle/>
          <a:p>
            <a:pPr algn="ctr"/>
            <a:r>
              <a:rPr sz="1250" b="1">
                <a:solidFill>
                  <a:srgbClr val="FFFFFF"/>
                </a:solidFill>
                <a:latin typeface="Helvetica Neue"/>
              </a:rPr>
              <a:t>migrate DEV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4290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1252D"/>
                </a:solidFill>
                <a:latin typeface="Helvetica Neue"/>
              </a:rPr>
              <a:t>Merge  →  PROD</a:t>
            </a:r>
          </a:p>
        </p:txBody>
      </p:sp>
      <p:sp>
        <p:nvSpPr>
          <p:cNvPr id="14" name="Pentagon 13"/>
          <p:cNvSpPr/>
          <p:nvPr/>
        </p:nvSpPr>
        <p:spPr>
          <a:xfrm>
            <a:off x="822960" y="3840480"/>
            <a:ext cx="2828467" cy="822960"/>
          </a:xfrm>
          <a:prstGeom prst="homePlate">
            <a:avLst/>
          </a:prstGeom>
          <a:solidFill>
            <a:srgbClr val="F0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45720"/>
          <a:lstStyle/>
          <a:p>
            <a:pPr algn="ctr"/>
            <a:r>
              <a:rPr sz="1250" b="1">
                <a:solidFill>
                  <a:srgbClr val="21252D"/>
                </a:solidFill>
                <a:latin typeface="Helvetica Neue"/>
              </a:rPr>
              <a:t>merge a main</a:t>
            </a:r>
          </a:p>
        </p:txBody>
      </p:sp>
      <p:sp>
        <p:nvSpPr>
          <p:cNvPr id="15" name="Chevron 14"/>
          <p:cNvSpPr/>
          <p:nvPr/>
        </p:nvSpPr>
        <p:spPr>
          <a:xfrm>
            <a:off x="3395395" y="3840480"/>
            <a:ext cx="2828467" cy="822960"/>
          </a:xfrm>
          <a:prstGeom prst="chevron">
            <a:avLst/>
          </a:prstGeom>
          <a:solidFill>
            <a:srgbClr val="E2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45720"/>
          <a:lstStyle/>
          <a:p>
            <a:pPr algn="ctr"/>
            <a:r>
              <a:rPr sz="1250" b="1">
                <a:solidFill>
                  <a:srgbClr val="0E8A5F"/>
                </a:solidFill>
                <a:latin typeface="Helvetica Neue"/>
              </a:rPr>
              <a:t>validate</a:t>
            </a:r>
          </a:p>
        </p:txBody>
      </p:sp>
      <p:sp>
        <p:nvSpPr>
          <p:cNvPr id="16" name="Chevron 15"/>
          <p:cNvSpPr/>
          <p:nvPr/>
        </p:nvSpPr>
        <p:spPr>
          <a:xfrm>
            <a:off x="5967830" y="3840480"/>
            <a:ext cx="2828467" cy="822960"/>
          </a:xfrm>
          <a:prstGeom prst="chevron">
            <a:avLst/>
          </a:prstGeom>
          <a:solidFill>
            <a:srgbClr val="E2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45720"/>
          <a:lstStyle/>
          <a:p>
            <a:pPr algn="ctr"/>
            <a:r>
              <a:rPr sz="1250" b="1">
                <a:solidFill>
                  <a:srgbClr val="0E8A5F"/>
                </a:solidFill>
                <a:latin typeface="Helvetica Neue"/>
              </a:rPr>
              <a:t>info</a:t>
            </a:r>
          </a:p>
        </p:txBody>
      </p:sp>
      <p:sp>
        <p:nvSpPr>
          <p:cNvPr id="17" name="Chevron 16"/>
          <p:cNvSpPr/>
          <p:nvPr/>
        </p:nvSpPr>
        <p:spPr>
          <a:xfrm>
            <a:off x="8540265" y="3840480"/>
            <a:ext cx="2828467" cy="822960"/>
          </a:xfrm>
          <a:prstGeom prst="chevron">
            <a:avLst/>
          </a:prstGeom>
          <a:solidFill>
            <a:srgbClr val="0E8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45720"/>
          <a:lstStyle/>
          <a:p>
            <a:pPr algn="ctr"/>
            <a:r>
              <a:rPr sz="1250" b="1">
                <a:solidFill>
                  <a:srgbClr val="FFFFFF"/>
                </a:solidFill>
                <a:latin typeface="Helvetica Neue"/>
              </a:rPr>
              <a:t>migrate PROD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57800"/>
            <a:ext cx="10545775" cy="868680"/>
          </a:xfrm>
          <a:prstGeom prst="roundRect">
            <a:avLst>
              <a:gd name="adj" fmla="val 6000"/>
            </a:avLst>
          </a:prstGeom>
          <a:solidFill>
            <a:srgbClr val="EC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5257800"/>
            <a:ext cx="990569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4338CA"/>
                </a:solidFill>
                <a:latin typeface="Menlo"/>
              </a:rPr>
              <a:t>flyway validate</a:t>
            </a:r>
            <a:r>
              <a:rPr sz="1350" b="0">
                <a:solidFill>
                  <a:srgbClr val="21252D"/>
                </a:solidFill>
                <a:latin typeface="Helvetica Neue"/>
              </a:rPr>
              <a:t> verifica checksums antes de tocar la BD — si una migración ya aplicada fue modificada, el pipeline falla antes de hacer daño.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338CA"/>
                </a:solidFill>
                <a:latin typeface="Helvetica Neue"/>
              </a:rPr>
              <a:t>SEGURIDAD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1252D"/>
                </a:solidFill>
                <a:latin typeface="Helvetica Neue"/>
              </a:rPr>
              <a:t>Gestión de secretos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89888"/>
            <a:ext cx="685800" cy="41148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6473952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747E"/>
                </a:solidFill>
                <a:latin typeface="Helvetica Neue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E747E"/>
                </a:solidFill>
                <a:latin typeface="Helvetica Neue"/>
              </a:rPr>
              <a:t>CI/CD en Base de Datos · SI6010-5979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21252D"/>
                </a:solidFill>
                <a:latin typeface="Helvetica Neue"/>
              </a:rPr>
              <a:t>Cero credenciales en el repositorio. Todo vía </a:t>
            </a:r>
            <a:r>
              <a:rPr sz="1500" b="1">
                <a:solidFill>
                  <a:srgbClr val="21252D"/>
                </a:solidFill>
                <a:latin typeface="Helvetica Neue"/>
              </a:rPr>
              <a:t>GitHub Secrets</a:t>
            </a:r>
            <a:r>
              <a:rPr sz="1500" b="0">
                <a:solidFill>
                  <a:srgbClr val="21252D"/>
                </a:solidFill>
                <a:latin typeface="Helvetica Neue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240280"/>
            <a:ext cx="10545775" cy="475488"/>
          </a:xfrm>
          <a:prstGeom prst="roundRect">
            <a:avLst>
              <a:gd name="adj" fmla="val 12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240280"/>
            <a:ext cx="3657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Helvetica Neue"/>
              </a:rPr>
              <a:t>SECRET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2240280"/>
            <a:ext cx="5486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Helvetica Neue"/>
              </a:rPr>
              <a:t>DESCRIPCIÓN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770632"/>
            <a:ext cx="10545775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770632"/>
            <a:ext cx="4114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338CA"/>
                </a:solidFill>
                <a:latin typeface="Menlo"/>
              </a:rPr>
              <a:t>FLYWAY_URL_DEV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2770632"/>
            <a:ext cx="5669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E747E"/>
                </a:solidFill>
                <a:latin typeface="Helvetica Neue"/>
              </a:rPr>
              <a:t>jdbc:postgresql://&lt;host&gt;/neondb?sslmode=require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300984"/>
            <a:ext cx="10545775" cy="475488"/>
          </a:xfrm>
          <a:prstGeom prst="roundRect">
            <a:avLst>
              <a:gd name="adj" fmla="val 12000"/>
            </a:avLst>
          </a:prstGeom>
          <a:solidFill>
            <a:srgbClr val="F0F0EC"/>
          </a:solidFill>
          <a:ln w="9525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3300984"/>
            <a:ext cx="4114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338CA"/>
                </a:solidFill>
                <a:latin typeface="Menlo"/>
              </a:rPr>
              <a:t>FLYWAY_USER_DEV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3300984"/>
            <a:ext cx="5669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E747E"/>
                </a:solidFill>
                <a:latin typeface="Helvetica Neue"/>
              </a:rPr>
              <a:t>usuario del branch dev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831336"/>
            <a:ext cx="10545775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3831336"/>
            <a:ext cx="4114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338CA"/>
                </a:solidFill>
                <a:latin typeface="Menlo"/>
              </a:rPr>
              <a:t>FLYWAY_PASSWORD_DEV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3831336"/>
            <a:ext cx="5669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E747E"/>
                </a:solidFill>
                <a:latin typeface="Helvetica Neue"/>
              </a:rPr>
              <a:t>contraseña del branch dev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361688"/>
            <a:ext cx="10545775" cy="475488"/>
          </a:xfrm>
          <a:prstGeom prst="roundRect">
            <a:avLst>
              <a:gd name="adj" fmla="val 12000"/>
            </a:avLst>
          </a:prstGeom>
          <a:solidFill>
            <a:srgbClr val="F0F0EC"/>
          </a:solidFill>
          <a:ln w="9525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361688"/>
            <a:ext cx="4114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338CA"/>
                </a:solidFill>
                <a:latin typeface="Menlo"/>
              </a:rPr>
              <a:t>FLYWAY_URL_PROD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4361688"/>
            <a:ext cx="5669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E747E"/>
                </a:solidFill>
                <a:latin typeface="Helvetica Neue"/>
              </a:rPr>
              <a:t>jdbc:postgresql://&lt;host&gt;/neondb?sslmode=require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892040"/>
            <a:ext cx="10545775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4892040"/>
            <a:ext cx="4114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338CA"/>
                </a:solidFill>
                <a:latin typeface="Menlo"/>
              </a:rPr>
              <a:t>FLYWAY_USER_PROD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94960" y="4892040"/>
            <a:ext cx="5669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E747E"/>
                </a:solidFill>
                <a:latin typeface="Helvetica Neue"/>
              </a:rPr>
              <a:t>usuario del branch main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5422392"/>
            <a:ext cx="10545775" cy="475488"/>
          </a:xfrm>
          <a:prstGeom prst="roundRect">
            <a:avLst>
              <a:gd name="adj" fmla="val 12000"/>
            </a:avLst>
          </a:prstGeom>
          <a:solidFill>
            <a:srgbClr val="F0F0EC"/>
          </a:solidFill>
          <a:ln w="9525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5422392"/>
            <a:ext cx="4114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338CA"/>
                </a:solidFill>
                <a:latin typeface="Menlo"/>
              </a:rPr>
              <a:t>FLYWAY_PASSWORD_PROD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94960" y="5422392"/>
            <a:ext cx="5669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E747E"/>
                </a:solidFill>
                <a:latin typeface="Helvetica Neue"/>
              </a:rPr>
              <a:t>contraseña del branch main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6062472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338CA"/>
                </a:solidFill>
                <a:latin typeface="Menlo"/>
              </a:rPr>
              <a:t>.gitignore</a:t>
            </a:r>
            <a:r>
              <a:rPr sz="1200" b="0">
                <a:solidFill>
                  <a:srgbClr val="6E747E"/>
                </a:solidFill>
                <a:latin typeface="Helvetica Neue"/>
              </a:rPr>
              <a:t>  cubre  </a:t>
            </a:r>
            <a:r>
              <a:rPr sz="1200" b="0">
                <a:solidFill>
                  <a:srgbClr val="4338CA"/>
                </a:solidFill>
                <a:latin typeface="Menlo"/>
              </a:rPr>
              <a:t>flyway.conf</a:t>
            </a:r>
            <a:r>
              <a:rPr sz="1200" b="0">
                <a:solidFill>
                  <a:srgbClr val="6E747E"/>
                </a:solidFill>
                <a:latin typeface="Helvetica Neue"/>
              </a:rPr>
              <a:t>,  </a:t>
            </a:r>
            <a:r>
              <a:rPr sz="1200" b="0">
                <a:solidFill>
                  <a:srgbClr val="4338CA"/>
                </a:solidFill>
                <a:latin typeface="Menlo"/>
              </a:rPr>
              <a:t>.env</a:t>
            </a:r>
            <a:r>
              <a:rPr sz="1200" b="0">
                <a:solidFill>
                  <a:srgbClr val="6E747E"/>
                </a:solidFill>
                <a:latin typeface="Helvetica Neue"/>
              </a:rPr>
              <a:t>  y variantes — verificado desde el primer commit.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338CA"/>
                </a:solidFill>
                <a:latin typeface="Helvetica Neue"/>
              </a:rPr>
              <a:t>TRADE-OFFS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1252D"/>
                </a:solidFill>
                <a:latin typeface="Helvetica Neue"/>
              </a:rPr>
              <a:t>Decisión técnica clave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89888"/>
            <a:ext cx="685800" cy="41148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6473952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747E"/>
                </a:solidFill>
                <a:latin typeface="Helvetica Neue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E747E"/>
                </a:solidFill>
                <a:latin typeface="Helvetica Neue"/>
              </a:rPr>
              <a:t>CI/CD en Base de Datos · SI6010-5979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74519"/>
            <a:ext cx="5148072" cy="3566160"/>
          </a:xfrm>
          <a:prstGeom prst="roundRect">
            <a:avLst>
              <a:gd name="adj" fmla="val 6000"/>
            </a:avLst>
          </a:prstGeom>
          <a:solidFill>
            <a:srgbClr val="E2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194560"/>
            <a:ext cx="44165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E8A5F"/>
                </a:solidFill>
                <a:latin typeface="Helvetica Neue"/>
              </a:rPr>
              <a:t>✓  Nuestra elección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743200"/>
            <a:ext cx="4416552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1252D"/>
                </a:solidFill>
                <a:latin typeface="Helvetica Neue"/>
              </a:rPr>
              <a:t>Flyway Community</a:t>
            </a:r>
            <a:r>
              <a:rPr sz="1350" b="0">
                <a:solidFill>
                  <a:srgbClr val="21252D"/>
                </a:solidFill>
                <a:latin typeface="Helvetica Neue"/>
              </a:rPr>
              <a:t> — CLI descargada en cada run del workflow.</a:t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21252D"/>
                </a:solidFill>
                <a:latin typeface="Helvetica Neue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21252D"/>
                </a:solidFill>
                <a:latin typeface="Helvetica Neue"/>
              </a:rPr>
              <a:t>Sin plugins de Maven/Gradle. Sin dependencias de JVM en el repo.</a:t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21252D"/>
                </a:solidFill>
                <a:latin typeface="Helvetica Neue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21252D"/>
                </a:solidFill>
                <a:latin typeface="Helvetica Neue"/>
              </a:rPr>
              <a:t>El job instala Flyway con </a:t>
            </a:r>
            <a:r>
              <a:rPr sz="1350" b="0">
                <a:solidFill>
                  <a:srgbClr val="4338CA"/>
                </a:solidFill>
                <a:latin typeface="Menlo"/>
              </a:rPr>
              <a:t>curl</a:t>
            </a:r>
            <a:r>
              <a:rPr sz="1350" b="0">
                <a:solidFill>
                  <a:srgbClr val="21252D"/>
                </a:solidFill>
                <a:latin typeface="Helvetica Neue"/>
              </a:rPr>
              <a:t> en ~15 segundos.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874519"/>
            <a:ext cx="5148072" cy="3566160"/>
          </a:xfrm>
          <a:prstGeom prst="roundRect">
            <a:avLst>
              <a:gd name="adj" fmla="val 6000"/>
            </a:avLst>
          </a:prstGeom>
          <a:solidFill>
            <a:srgbClr val="FA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194560"/>
            <a:ext cx="44165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BF4444"/>
                </a:solidFill>
                <a:latin typeface="Helvetica Neue"/>
              </a:rPr>
              <a:t>✗  Alternativa descartada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743200"/>
            <a:ext cx="4416552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1252D"/>
                </a:solidFill>
                <a:latin typeface="Helvetica Neue"/>
              </a:rPr>
              <a:t>Acción de terceros</a:t>
            </a:r>
            <a:r>
              <a:rPr sz="1350" b="0">
                <a:solidFill>
                  <a:srgbClr val="21252D"/>
                </a:solidFill>
                <a:latin typeface="Helvetica Neue"/>
              </a:rPr>
              <a:t> — </a:t>
            </a:r>
            <a:r>
              <a:rPr sz="1250" b="0">
                <a:solidFill>
                  <a:srgbClr val="21252D"/>
                </a:solidFill>
                <a:latin typeface="Menlo"/>
              </a:rPr>
              <a:t>joshuaavalon/flyway-action</a:t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21252D"/>
                </a:solidFill>
                <a:latin typeface="Helvetica Neue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21252D"/>
                </a:solidFill>
                <a:latin typeface="Helvetica Neue"/>
              </a:rPr>
              <a:t>Dependencia de un mantenedor externo. Versión de Flyway fuera de nuestro control.</a:t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21252D"/>
                </a:solidFill>
                <a:latin typeface="Helvetica Neue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21252D"/>
                </a:solidFill>
                <a:latin typeface="Helvetica Neue"/>
              </a:rPr>
              <a:t>Riesgo de supply-chain en una evaluación académica.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338CA"/>
                </a:solidFill>
                <a:latin typeface="Helvetica Neue"/>
              </a:rPr>
              <a:t>COLABORACIÓN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1252D"/>
                </a:solidFill>
                <a:latin typeface="Helvetica Neue"/>
              </a:rPr>
              <a:t>División del trabajo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89888"/>
            <a:ext cx="685800" cy="41148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6473952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747E"/>
                </a:solidFill>
                <a:latin typeface="Helvetica Neue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E747E"/>
                </a:solidFill>
                <a:latin typeface="Helvetica Neue"/>
              </a:rPr>
              <a:t>CI/CD en Base de Datos · SI6010-5979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3346704" cy="37490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061972" y="2240280"/>
            <a:ext cx="868680" cy="868680"/>
          </a:xfrm>
          <a:prstGeom prst="ellipse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Helvetica Neue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91840"/>
            <a:ext cx="33467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21252D"/>
                </a:solidFill>
                <a:latin typeface="Helvetica Neue"/>
              </a:rPr>
              <a:t>Antonio Carmona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75888"/>
            <a:ext cx="334670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6E747E"/>
                </a:solidFill>
                <a:latin typeface="Menlo"/>
              </a:rPr>
              <a:t>@acarmonag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206240"/>
            <a:ext cx="33467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250" b="0">
                <a:solidFill>
                  <a:srgbClr val="4338CA"/>
                </a:solidFill>
                <a:latin typeface="Menlo"/>
              </a:rPr>
              <a:t>chore: init repo</a:t>
            </a:r>
          </a:p>
          <a:p>
            <a:pPr algn="ctr">
              <a:lnSpc>
                <a:spcPct val="145000"/>
              </a:lnSpc>
            </a:pPr>
            <a:r>
              <a:rPr sz="1250" b="0">
                <a:solidFill>
                  <a:srgbClr val="4338CA"/>
                </a:solidFill>
                <a:latin typeface="Menlo"/>
              </a:rPr>
              <a:t>feat: V1 baseline</a:t>
            </a:r>
          </a:p>
          <a:p>
            <a:pPr algn="ctr">
              <a:lnSpc>
                <a:spcPct val="145000"/>
              </a:lnSpc>
            </a:pPr>
            <a:r>
              <a:rPr sz="1250" b="0">
                <a:solidFill>
                  <a:srgbClr val="4338CA"/>
                </a:solidFill>
                <a:latin typeface="Menlo"/>
              </a:rPr>
              <a:t>docs: README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6552" y="1828800"/>
            <a:ext cx="3346704" cy="37490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655564" y="2240280"/>
            <a:ext cx="868680" cy="868680"/>
          </a:xfrm>
          <a:prstGeom prst="ellipse">
            <a:avLst/>
          </a:prstGeom>
          <a:solidFill>
            <a:srgbClr val="2B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Helvetica Neue"/>
              </a:rPr>
              <a:t>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6552" y="3291840"/>
            <a:ext cx="33467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21252D"/>
                </a:solidFill>
                <a:latin typeface="Helvetica Neue"/>
              </a:rPr>
              <a:t>Miguel Quijano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6552" y="3675888"/>
            <a:ext cx="334670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6E747E"/>
                </a:solidFill>
                <a:latin typeface="Menlo"/>
              </a:rPr>
              <a:t>@mquijanoj09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6552" y="4206240"/>
            <a:ext cx="33467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250" b="0">
                <a:solidFill>
                  <a:srgbClr val="2B5FD9"/>
                </a:solidFill>
                <a:latin typeface="Menlo"/>
              </a:rPr>
              <a:t>feat: V2 columna tier</a:t>
            </a:r>
          </a:p>
          <a:p>
            <a:pPr algn="ctr">
              <a:lnSpc>
                <a:spcPct val="145000"/>
              </a:lnSpc>
            </a:pPr>
            <a:r>
              <a:rPr sz="1250" b="0">
                <a:solidFill>
                  <a:srgbClr val="2B5FD9"/>
                </a:solidFill>
                <a:latin typeface="Menlo"/>
              </a:rPr>
              <a:t>feat: V3 tabla products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0144" y="1828800"/>
            <a:ext cx="3346704" cy="37490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49156" y="2240280"/>
            <a:ext cx="868680" cy="868680"/>
          </a:xfrm>
          <a:prstGeom prst="ellipse">
            <a:avLst/>
          </a:prstGeom>
          <a:solidFill>
            <a:srgbClr val="0E8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Helvetica Neue"/>
              </a:rPr>
              <a:t>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0144" y="3291840"/>
            <a:ext cx="33467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21252D"/>
                </a:solidFill>
                <a:latin typeface="Helvetica Neue"/>
              </a:rPr>
              <a:t>Andrés Prada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0144" y="3675888"/>
            <a:ext cx="334670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6E747E"/>
                </a:solidFill>
                <a:latin typeface="Menlo"/>
              </a:rPr>
              <a:t>@Pradita777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10144" y="4206240"/>
            <a:ext cx="33467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250" b="0">
                <a:solidFill>
                  <a:srgbClr val="0E8A5F"/>
                </a:solidFill>
                <a:latin typeface="Menlo"/>
              </a:rPr>
              <a:t>feat: V4 índices</a:t>
            </a:r>
          </a:p>
          <a:p>
            <a:pPr algn="ctr">
              <a:lnSpc>
                <a:spcPct val="145000"/>
              </a:lnSpc>
            </a:pPr>
            <a:r>
              <a:rPr sz="1250" b="0">
                <a:solidFill>
                  <a:srgbClr val="0E8A5F"/>
                </a:solidFill>
                <a:latin typeface="Menlo"/>
              </a:rPr>
              <a:t>feat: R__ vista</a:t>
            </a:r>
          </a:p>
          <a:p>
            <a:pPr algn="ctr">
              <a:lnSpc>
                <a:spcPct val="145000"/>
              </a:lnSpc>
            </a:pPr>
            <a:r>
              <a:rPr sz="1250" b="0">
                <a:solidFill>
                  <a:srgbClr val="0E8A5F"/>
                </a:solidFill>
                <a:latin typeface="Menlo"/>
              </a:rPr>
              <a:t>ci: workflow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338CA"/>
                </a:solidFill>
                <a:latin typeface="Helvetica Neue"/>
              </a:rPr>
              <a:t>SUSTENTACIÓN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1252D"/>
                </a:solidFill>
                <a:latin typeface="Helvetica Neue"/>
              </a:rPr>
              <a:t>Preguntas frecuentes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89888"/>
            <a:ext cx="685800" cy="41148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6473952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747E"/>
                </a:solidFill>
                <a:latin typeface="Helvetica Neue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E747E"/>
                </a:solidFill>
                <a:latin typeface="Helvetica Neue"/>
              </a:rPr>
              <a:t>CI/CD en Base de Datos · SI6010-5979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737360"/>
            <a:ext cx="10545775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737360"/>
            <a:ext cx="64008" cy="1024128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1865376"/>
            <a:ext cx="99056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4338CA"/>
                </a:solidFill>
                <a:latin typeface="Helvetica Neue"/>
              </a:rPr>
              <a:t>¿Por qué Flyway no permite modificar una migración ya aplicada?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194560"/>
            <a:ext cx="99056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6E747E"/>
                </a:solidFill>
                <a:latin typeface="Helvetica Neue"/>
              </a:rPr>
              <a:t>Guarda el checksum de cada archivo en flyway_schema_history. Si el archivo cambia, el checksum no coincide y validate falla antes de migrate.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907792"/>
            <a:ext cx="10545775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2907792"/>
            <a:ext cx="64008" cy="1024128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035808"/>
            <a:ext cx="99056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4338CA"/>
                </a:solidFill>
                <a:latin typeface="Helvetica Neue"/>
              </a:rPr>
              <a:t>¿Cuándo usar R__ en vez de V__?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364992"/>
            <a:ext cx="99056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6E747E"/>
                </a:solidFill>
                <a:latin typeface="Helvetica Neue"/>
              </a:rPr>
              <a:t>Objetos idempotentes que se redefinen completos: vistas, funciones, procedimientos. Nunca para DDL estructural (tablas, columnas).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078224"/>
            <a:ext cx="10545775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4078224"/>
            <a:ext cx="64008" cy="1024128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206240"/>
            <a:ext cx="99056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4338CA"/>
                </a:solidFill>
                <a:latin typeface="Helvetica Neue"/>
              </a:rPr>
              <a:t>¿Qué pasa si migrate falla a mitad?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535424"/>
            <a:ext cx="99056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6E747E"/>
                </a:solidFill>
                <a:latin typeface="Helvetica Neue"/>
              </a:rPr>
              <a:t>Cada migración corre en una transacción: si falla, se revierte esa migración y las anteriores quedan intactas. El step flyway info con if: always() muestra el estado final.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248656"/>
            <a:ext cx="10545775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5248656"/>
            <a:ext cx="64008" cy="1024128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5376672"/>
            <a:ext cx="99056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4338CA"/>
                </a:solidFill>
                <a:latin typeface="Helvetica Neue"/>
              </a:rPr>
              <a:t>¿Dos personas crean V5__ al mismo tiempo?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5705856"/>
            <a:ext cx="99056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6E747E"/>
                </a:solidFill>
                <a:latin typeface="Helvetica Neue"/>
              </a:rPr>
              <a:t>Flyway detecta la versión duplicada en validate y falla. Se previene con convención de equipo y revisión del PR antes del merge.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6E747E"/>
                </a:solidFill>
                <a:latin typeface="Helvetica Neue"/>
              </a:rPr>
              <a:t>REPOSITORIO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457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4338CA"/>
                </a:solidFill>
                <a:latin typeface="Menlo"/>
              </a:rPr>
              <a:t>github.com/acarmonag/cicd-bd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834640"/>
            <a:ext cx="3346704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246120"/>
            <a:ext cx="334670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21252D"/>
                </a:solidFill>
                <a:latin typeface="Helvetica Neue"/>
              </a:rPr>
              <a:t>5 migraciones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33467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6E747E"/>
                </a:solidFill>
                <a:latin typeface="Helvetica Neue"/>
              </a:rPr>
              <a:t>V1 → V4  +  R__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6552" y="2834640"/>
            <a:ext cx="3346704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16552" y="3246120"/>
            <a:ext cx="334670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21252D"/>
                </a:solidFill>
                <a:latin typeface="Helvetica Neue"/>
              </a:rPr>
              <a:t>Pipeline 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16552" y="3794760"/>
            <a:ext cx="33467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6E747E"/>
                </a:solidFill>
                <a:latin typeface="Helvetica Neue"/>
              </a:rPr>
              <a:t>PR → dev   ·   merge → prod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2834640"/>
            <a:ext cx="3346704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10144" y="3246120"/>
            <a:ext cx="334670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21252D"/>
                </a:solidFill>
                <a:latin typeface="Helvetica Neue"/>
              </a:rPr>
              <a:t>Cero secretos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0144" y="3794760"/>
            <a:ext cx="33467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6E747E"/>
                </a:solidFill>
                <a:latin typeface="Helvetica Neue"/>
              </a:rPr>
              <a:t>en el repositorio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12064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21252D"/>
                </a:solidFill>
                <a:latin typeface="Helvetica Neue"/>
              </a:rPr>
              <a:t>Gracias — ¿preguntas?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943600"/>
            <a:ext cx="105457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E747E"/>
                </a:solidFill>
                <a:latin typeface="Helvetica Neue"/>
              </a:rPr>
              <a:t>Módulo SI6010-5979 · Capítulo 1 — Fundamentos de DataOps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